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a5c55e9ffe44f26" /><Relationship Type="http://schemas.openxmlformats.org/officeDocument/2006/relationships/extended-properties" Target="/docProps/app.xml" Id="R31836c4f35274214" /><Relationship Type="http://schemas.openxmlformats.org/officeDocument/2006/relationships/officeDocument" Target="/ppt/presentation.xml" Id="Rd4b4f202e5d74172" /></Relationships>
</file>

<file path=ppt/presentation.xml><?xml version="1.0" encoding="utf-8"?>
<p:presentation xmlns:p="http://schemas.openxmlformats.org/presentationml/2006/main">
  <p:sldMasterIdLst>
    <p:sldMasterId xmlns:r="http://schemas.openxmlformats.org/officeDocument/2006/relationships" id="2147483648" r:id="Rdcb2cd7acc3b4fd6"/>
  </p:sldMasterIdLst>
  <p:notesMasterIdLst>
    <p:notesMasterId xmlns:r="http://schemas.openxmlformats.org/officeDocument/2006/relationships" r:id="Rf4969d72563a4494"/>
  </p:notesMasterIdLst>
  <p:sldIdLst>
    <p:sldId xmlns:r="http://schemas.openxmlformats.org/officeDocument/2006/relationships" id="256" r:id="Rc796b8a6f3634735"/>
    <p:sldId xmlns:r="http://schemas.openxmlformats.org/officeDocument/2006/relationships" id="257" r:id="Rdacfcbb35b3c495c"/>
    <p:sldId xmlns:r="http://schemas.openxmlformats.org/officeDocument/2006/relationships" id="258" r:id="Rc5750ab389ff4bc9"/>
    <p:sldId xmlns:r="http://schemas.openxmlformats.org/officeDocument/2006/relationships" id="259" r:id="Rf9a8be4611264f6a"/>
    <p:sldId xmlns:r="http://schemas.openxmlformats.org/officeDocument/2006/relationships" id="260" r:id="Ra9c291d9fb884ed2"/>
    <p:sldId xmlns:r="http://schemas.openxmlformats.org/officeDocument/2006/relationships" id="261" r:id="R71eb5ac1907047bb"/>
    <p:sldId xmlns:r="http://schemas.openxmlformats.org/officeDocument/2006/relationships" id="262" r:id="R3ce8ed420d504edb"/>
    <p:sldId xmlns:r="http://schemas.openxmlformats.org/officeDocument/2006/relationships" id="263" r:id="Rebb7932c5f084f48"/>
    <p:sldId xmlns:r="http://schemas.openxmlformats.org/officeDocument/2006/relationships" id="264" r:id="R1d7e41a9c0b94e76"/>
    <p:sldId xmlns:r="http://schemas.openxmlformats.org/officeDocument/2006/relationships" id="265" r:id="R0fbc1550ac714e5f"/>
    <p:sldId xmlns:r="http://schemas.openxmlformats.org/officeDocument/2006/relationships" id="266" r:id="R130349b8fe3e49ed"/>
    <p:sldId xmlns:r="http://schemas.openxmlformats.org/officeDocument/2006/relationships" id="267" r:id="R6bc074b3e1d64523"/>
    <p:sldId xmlns:r="http://schemas.openxmlformats.org/officeDocument/2006/relationships" id="268" r:id="Reb0f5026c0034bd4"/>
    <p:sldId xmlns:r="http://schemas.openxmlformats.org/officeDocument/2006/relationships" id="269" r:id="R561871c612ac4d3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9d70e0045246c7" /><Relationship Type="http://schemas.openxmlformats.org/officeDocument/2006/relationships/slideMaster" Target="/ppt/slideMasters/slideMaster1.xml" Id="Rdcb2cd7acc3b4fd6" /><Relationship Type="http://schemas.openxmlformats.org/officeDocument/2006/relationships/notesMaster" Target="/ppt/notesMasters/notesMaster1.xml" Id="Rf4969d72563a4494" /><Relationship Type="http://schemas.openxmlformats.org/officeDocument/2006/relationships/presProps" Target="/ppt/presProps.xml" Id="R8bf4d38ff1464a3f" /><Relationship Type="http://schemas.openxmlformats.org/officeDocument/2006/relationships/tableStyles" Target="/ppt/tableStyles.xml" Id="R54e82d5b62cd4e1d" /><Relationship Type="http://schemas.openxmlformats.org/officeDocument/2006/relationships/slide" Target="/ppt/slides/slide1.xml" Id="Rc796b8a6f3634735" /><Relationship Type="http://schemas.openxmlformats.org/officeDocument/2006/relationships/slide" Target="/ppt/slides/slide2.xml" Id="Rdacfcbb35b3c495c" /><Relationship Type="http://schemas.openxmlformats.org/officeDocument/2006/relationships/slide" Target="/ppt/slides/slide3.xml" Id="Rc5750ab389ff4bc9" /><Relationship Type="http://schemas.openxmlformats.org/officeDocument/2006/relationships/slide" Target="/ppt/slides/slide4.xml" Id="Rf9a8be4611264f6a" /><Relationship Type="http://schemas.openxmlformats.org/officeDocument/2006/relationships/slide" Target="/ppt/slides/slide5.xml" Id="Ra9c291d9fb884ed2" /><Relationship Type="http://schemas.openxmlformats.org/officeDocument/2006/relationships/slide" Target="/ppt/slides/slide6.xml" Id="R71eb5ac1907047bb" /><Relationship Type="http://schemas.openxmlformats.org/officeDocument/2006/relationships/slide" Target="/ppt/slides/slide7.xml" Id="R3ce8ed420d504edb" /><Relationship Type="http://schemas.openxmlformats.org/officeDocument/2006/relationships/slide" Target="/ppt/slides/slide8.xml" Id="Rebb7932c5f084f48" /><Relationship Type="http://schemas.openxmlformats.org/officeDocument/2006/relationships/slide" Target="/ppt/slides/slide9.xml" Id="R1d7e41a9c0b94e76" /><Relationship Type="http://schemas.openxmlformats.org/officeDocument/2006/relationships/slide" Target="/ppt/slides/slide10.xml" Id="R0fbc1550ac714e5f" /><Relationship Type="http://schemas.openxmlformats.org/officeDocument/2006/relationships/slide" Target="/ppt/slides/slide11.xml" Id="R130349b8fe3e49ed" /><Relationship Type="http://schemas.openxmlformats.org/officeDocument/2006/relationships/slide" Target="/ppt/slides/slide12.xml" Id="R6bc074b3e1d64523" /><Relationship Type="http://schemas.openxmlformats.org/officeDocument/2006/relationships/slide" Target="/ppt/slides/slide13.xml" Id="Reb0f5026c0034bd4" /><Relationship Type="http://schemas.openxmlformats.org/officeDocument/2006/relationships/slide" Target="/ppt/slides/slide14.xml" Id="R561871c612ac4d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7065a3c49744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d64624636a4c12" /><Relationship Type="http://schemas.openxmlformats.org/officeDocument/2006/relationships/notesMaster" Target="/ppt/notesMasters/notesMaster1.xml" Id="R8a9064534a8147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31a300c4da41a3" /><Relationship Type="http://schemas.openxmlformats.org/officeDocument/2006/relationships/notesMaster" Target="/ppt/notesMasters/notesMaster1.xml" Id="Raf35be3738f245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7f2ac8567034f00" /><Relationship Type="http://schemas.openxmlformats.org/officeDocument/2006/relationships/notesMaster" Target="/ppt/notesMasters/notesMaster1.xml" Id="R82200892381645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3961086b614796" /><Relationship Type="http://schemas.openxmlformats.org/officeDocument/2006/relationships/notesMaster" Target="/ppt/notesMasters/notesMaster1.xml" Id="R0a3eab1a0f224b9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36194471db4329" /><Relationship Type="http://schemas.openxmlformats.org/officeDocument/2006/relationships/notesMaster" Target="/ppt/notesMasters/notesMaster1.xml" Id="Rd1feed904eea4b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a7016d67fb1496b" /><Relationship Type="http://schemas.openxmlformats.org/officeDocument/2006/relationships/notesMaster" Target="/ppt/notesMasters/notesMaster1.xml" Id="R3d8f1bd1b28749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c57657c7d22c462b" /><Relationship Type="http://schemas.openxmlformats.org/officeDocument/2006/relationships/notesMaster" Target="/ppt/notesMasters/notesMaster1.xml" Id="Rae97e91a40754d07" /></Relationships>
</file>

<file path=ppt/notesSlides/_rels/notesSlide8.xml.rels>&#65279;<?xml version="1.0" encoding="utf-8"?><Relationships xmlns="http://schemas.openxmlformats.org/package/2006/relationships"><Relationship Type="http://schemas.openxmlformats.org/officeDocument/2006/relationships/slide" Target="/ppt/slides/slide8.xml" Id="Rea338f07f1ff4b69" /><Relationship Type="http://schemas.openxmlformats.org/officeDocument/2006/relationships/notesMaster" Target="/ppt/notesMasters/notesMaster1.xml" Id="R014a8ff0d6ec44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b56d924fddc04ac8" /><Relationship Type="http://schemas.openxmlformats.org/officeDocument/2006/relationships/notesMaster" Target="/ppt/notesMasters/notesMaster1.xml" Id="Ree0d5429d774475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dbd3a8cefc416d" /><Relationship Type="http://schemas.openxmlformats.org/officeDocument/2006/relationships/notesMaster" Target="/ppt/notesMasters/notesMaster1.xml" Id="Ra1629cd1792f410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44ea2c2c76b4222" /><Relationship Type="http://schemas.openxmlformats.org/officeDocument/2006/relationships/notesMaster" Target="/ppt/notesMasters/notesMaster1.xml" Id="R50f5afeb554347a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bedf57bfe04409c" /><Relationship Type="http://schemas.openxmlformats.org/officeDocument/2006/relationships/notesMaster" Target="/ppt/notesMasters/notesMaster1.xml" Id="Rad4cdd24693a428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02073e76d804751" /><Relationship Type="http://schemas.openxmlformats.org/officeDocument/2006/relationships/notesMaster" Target="/ppt/notesMasters/notesMaster1.xml" Id="R2aee8cd18a4b44b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cd084c157024cdb" /><Relationship Type="http://schemas.openxmlformats.org/officeDocument/2006/relationships/notesMaster" Target="/ppt/notesMasters/notesMaster1.xml" Id="R9cb0bc3270ee40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Authors: Tanvi Bandebuche and Maheen Meshram. Emails: tanvi.bandebuche.btech2023@sitnagpur.siu.edu.in and maheen.meshram.btech2023@sitnagpur.siu.edu.in. The title and study match the six-page IEEE report. This presentation reports internal academic evaluation, not clinical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ECGs may contain overlapping diagnostic labels. Source: Wagner et al., Scientific Data 2020, https://doi.org/10.1038/s41597-020-0495-6. Explain that five independent sigmoid scores allow more than one label. Research question: can a compact CNN balance predictive performance and CPU inference cost under a controlled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Strodthoff et al., IEEE JBHI 2021, https://doi.org/10.1109/JBHI.2020.3022989. Mehari and Strodthoff 2022, https://doi.org/10.1016/j.compbiomed.2021.105114. Strodthoff et al. 2023, https://doi.org/10.1038/s41597-023-02153-8. Liu et al. 2024 MERL, https://proceedings.mlr.press/v235/liu24bg.html. van de Leur et al. 2022, https://doi.org/10.1093/ehjdh/ztac038. The report cites 18 sources, including 15 research papers from 2022 onward. Our baselines compare architecture families rather than reproduce published checkpoints.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PTB-XL v1.0.3 release, https://doi.org/10.13026/kfzx-aw45. Project evidence: results/data-audit.json and results/data-provenance.json. 21,799 source records minus 411 without mapped diagnostic categories leaves 21,388. Official stratified folds 1–8 train, 9 validation, 10 test. Label mapping uses diagnostic-code presence rather than a likelihood threshold. No patient overlap or exact waveform duplicates across partitions.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code: ecg_project/data.py and ecg_project/experiment.py. Evidence: results/data-provenance.json, results/data-audit.json, results/training-manifest.json, results/frozen-selection.json and results/test-access-log.json. Training data alone determine normalization and class weights. Validation data determine checkpoints and thresholds. All selections freeze before the first test inference. No test result triggered retraining.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ecg_project/models.py, CompactCNN. Every convolution block uses batch normalization and ReLU. Kernels are 15, 9 and 5. Stride is 2 in all three blocks, with symmetric padding. Each model receives normalized waveform tensors of shape batch × 12 × 1000. The head uses a 64-unit dense layer, ReLU, dropout 0.2 and five output logits. Sigmoid probabilities are independent. Exact trainable count: 221,573.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ecg_project/experiment.py and configs/protocol.json. Normalization uses per-lead means and standard deviations from training data, epsilon 1e-6. Weighted binary cross entropy uses the training negative-to-positive ratio per category. Actual implementation uses BCEWithLogitsLoss for numerical stability. AdamW optimizes logits. Sigmoid scores are uncalibrated. Validation F1 selects thresholds from 0.05 to 0.95 in steps of 0.01, ties favor larger threshold. Source report equations 1–5 define the notation.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configs/protocol.json, results/training-manifest.json, ecg_project/models.py, results/all-runs.csv. Compact CNN, 1D ResNet, InceptionTime CPU variant and the unweighted compact CNN each use seeds 42, 123, 2026: 12 neural runs total. Each run stops after 12–18 epochs under the fixed rule. The logistic baseline uses 96 waveform features and validation-selected C=0.1. CPU: Intel Core Ultra 5 245K, 14 cores, 32 GB RAM, four PyTorch threads per process, up to three training processes. Python 3.12.14 and PyTorch 2.14.1+cpu on Windows.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results/aggregate-results.json and results/logistic-test-results.json. Neural results are means ± sample standard deviation over seeds 42, 123, 2026. Logistic regression is one fitted baseline. AP is scikit-learn average precision. Macro metrics weight the five categories equally. The held-out fold contains 2,158 recordings from 1,877 patients. Differences are descriptive and do not establish statistical superiority.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results/aggregate-results.json and results/runs/*/test-results.json. Values average each checkpoint median across three seeds. Batch size one, four CPU threads, 50 warmups, 500 timed forward calls per checkpoint. Timing excludes disk access, preprocessing and explanation generation. These are observed CPU timings, not clinical workflow latency. Compact CNN has 221,573 parameters, ResNet 244,005, InceptionTime variant 115,729.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results/per-class-results.csv and results/runs/compact_cnn_seed42/test-results.json. Detailed checkpoint is compact_cnn_seed42, selected by validation AUROC among weighted seed-42 candidates before test access. Patient-bootstrap 1,000 resamples gives test macro AUROC 0.9178, 95% CI [0.9099, 0.9253]. These describe one checkpoint and not seed averages. HYP test support 262, recall 0.6145 and F1 0.5919. Threshold tuning yields macro F1 0.7360 versus 0.7199 at fixed 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results/occlusion-analysis.json and results/figures/occlusion_MI_true_positive.png. Prespecified MI true positive ECG 162, score 0.860490143 against threshold 0.45. Mask all leads in a 200 ms window, stride 100 ms, replace by normalized zero or per-record lead median. Spearman correlation between temporal baseline responses is 0.833543599. Positive score change means removal reduced the category score. Ten prespecified TP/FN cases cover all five categories. No clinician validated these highlighted regions.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results/aggregate-results.json, results/evidence-verification.json, Healthcare_ECG_Colab.ipynb, README.md and the IEEE report. Internal evaluation on one historical dataset. No external hospital test, prospective study, probability calibration, subgroup fairness assessment or clinician explanation review. The notebook recomputes saved metrics without retraining. Future work: external validation, calibration, subgroup analysis and expert-reviewed explanations. GitHub repository publication is still pending and no repository URL is invented.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IEEE report contains 18 references, including 15 research papers from 2022 onward. Report numbering is retained below. [1] https://doi.org/10.1038/s41597-020-0495-6 [2] https://doi.org/10.1109/JBHI.2020.3022989 [3] https://doi.org/10.1016/j.compbiomed.2021.105114 [6] https://doi.org/10.1093/ehjdh/ztac038 [8] https://doi.org/10.1038/s41597-023-02153-8 [15] https://proceedings.mlr.press/v235/liu24bg.html [17] https://doi.org/10.18653/v1/2025.findings-emnlp.385 [18] https://doi.org/10.13026/kfzx-aw45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792f87a53949f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63054889350462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80501aa9592403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303044fcb0d45c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5de470c27714a6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e9fb112ac9f4c3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05AF2C-9D3A-4326-8F55-98EC4761951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94B395C-0D51-45D8-B6F7-F2E9FE5119F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A1352BB-AEB9-4261-B3A3-984607AD6C3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3E7C97-0855-4F6F-9EFD-2E7AD207ED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54F9223-0CEB-48EF-B821-36E12C731D1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3CBDF17-7B89-4C45-AABC-547EA51D16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48C4EC4-D52B-49D0-B480-024C5B4AB2A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7D1D6D8-5C62-443D-88C8-F313FAEC374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9C4B0F-D75A-4DFF-975E-F01026E2916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F0A61A-CF06-4262-8931-5088E8B0BE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5fae921a1b4b32" /><Relationship Type="http://schemas.openxmlformats.org/officeDocument/2006/relationships/slideLayout" Target="/ppt/slideLayouts/slideLayout1.xml" Id="Rb96853e569254d90" /><Relationship Type="http://schemas.openxmlformats.org/officeDocument/2006/relationships/slideLayout" Target="/ppt/slideLayouts/slideLayout2.xml" Id="R3dcb47034fb54c1d" /><Relationship Type="http://schemas.openxmlformats.org/officeDocument/2006/relationships/slideLayout" Target="/ppt/slideLayouts/slideLayout3.xml" Id="R60b4cee3eccc47dc" /><Relationship Type="http://schemas.openxmlformats.org/officeDocument/2006/relationships/slideLayout" Target="/ppt/slideLayouts/slideLayout4.xml" Id="R5974a5ed8c324966" /><Relationship Type="http://schemas.openxmlformats.org/officeDocument/2006/relationships/slideLayout" Target="/ppt/slideLayouts/slideLayout5.xml" Id="R62fc873fa7624754" /><Relationship Type="http://schemas.openxmlformats.org/officeDocument/2006/relationships/slideLayout" Target="/ppt/slideLayouts/slideLayout6.xml" Id="Re5ee17188c2646a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6853e569254d90"/>
    <p:sldLayoutId xmlns:r="http://schemas.openxmlformats.org/officeDocument/2006/relationships" id="2147483650" r:id="R3dcb47034fb54c1d"/>
    <p:sldLayoutId xmlns:r="http://schemas.openxmlformats.org/officeDocument/2006/relationships" id="2147483651" r:id="R60b4cee3eccc47dc"/>
    <p:sldLayoutId xmlns:r="http://schemas.openxmlformats.org/officeDocument/2006/relationships" id="2147483652" r:id="R5974a5ed8c324966"/>
    <p:sldLayoutId xmlns:r="http://schemas.openxmlformats.org/officeDocument/2006/relationships" id="2147483653" r:id="R62fc873fa7624754"/>
    <p:sldLayoutId xmlns:r="http://schemas.openxmlformats.org/officeDocument/2006/relationships" id="2147483654" r:id="Re5ee17188c2646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9f82a16b2cb497e" /><Relationship Type="http://schemas.openxmlformats.org/officeDocument/2006/relationships/notesSlide" Target="/ppt/notesSlides/notesSlide1.xml" Id="R77b57f709d924b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b62896f13d54bba" /><Relationship Type="http://schemas.openxmlformats.org/officeDocument/2006/relationships/notesSlide" Target="/ppt/notesSlides/notesSlide2.xml" Id="R734635571d4041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75909e95b14420a" /><Relationship Type="http://schemas.openxmlformats.org/officeDocument/2006/relationships/notesSlide" Target="/ppt/notesSlides/notesSlide3.xml" Id="R15d13f59731748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fddbe20ac1c47b2" /><Relationship Type="http://schemas.openxmlformats.org/officeDocument/2006/relationships/notesSlide" Target="/ppt/notesSlides/notesSlide4.xml" Id="R90686b5107eb404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164dff61dcd4c6d" /><Relationship Type="http://schemas.openxmlformats.org/officeDocument/2006/relationships/notesSlide" Target="/ppt/notesSlides/notesSlide5.xml" Id="R2de3a823275a4c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1630a83fb1c46a3" /><Relationship Type="http://schemas.openxmlformats.org/officeDocument/2006/relationships/notesSlide" Target="/ppt/notesSlides/notesSlide6.xml" Id="Rf4139cac7c96467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fee6f01018a4896" /><Relationship Type="http://schemas.openxmlformats.org/officeDocument/2006/relationships/notesSlide" Target="/ppt/notesSlides/notesSlide7.xml" Id="R14884f6912b146d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aaccd39769e4122" /><Relationship Type="http://schemas.openxmlformats.org/officeDocument/2006/relationships/notesSlide" Target="/ppt/notesSlides/notesSlide8.xml" Id="Ra638817da4da4b9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e73ded9796746c8" /><Relationship Type="http://schemas.openxmlformats.org/officeDocument/2006/relationships/notesSlide" Target="/ppt/notesSlides/notesSlide9.xml" Id="R48666b2fbd7b49b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ca8695a0c7b4f3d" /><Relationship Type="http://schemas.openxmlformats.org/officeDocument/2006/relationships/chart" Target="/ppt/slides/charts/chart1.xml" Id="Raafb61484aa040a7" /><Relationship Type="http://schemas.openxmlformats.org/officeDocument/2006/relationships/notesSlide" Target="/ppt/notesSlides/notesSlide10.xml" Id="Rad283a3e4c97442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13995790b88405c" /><Relationship Type="http://schemas.openxmlformats.org/officeDocument/2006/relationships/image" Target="/ppt/media/image.png" Id="R07680940b5dc40d6" /><Relationship Type="http://schemas.openxmlformats.org/officeDocument/2006/relationships/notesSlide" Target="/ppt/notesSlides/notesSlide11.xml" Id="R2b9adae4c53843e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9a2f3253489489e" /><Relationship Type="http://schemas.openxmlformats.org/officeDocument/2006/relationships/image" Target="/ppt/media/image2.png" Id="Rc0cc37bf7dbd4d03" /><Relationship Type="http://schemas.openxmlformats.org/officeDocument/2006/relationships/notesSlide" Target="/ppt/notesSlides/notesSlide12.xml" Id="R8a1c25c651ed419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a6954ecb8fd4832" /><Relationship Type="http://schemas.openxmlformats.org/officeDocument/2006/relationships/notesSlide" Target="/ppt/notesSlides/notesSlide13.xml" Id="R82acc6399e074ec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98b19ac3daa4092" /><Relationship Type="http://schemas.openxmlformats.org/officeDocument/2006/relationships/notesSlide" Target="/ppt/notesSlides/notesSlide14.xml" Id="Rcce9a53143584a3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a:solidFill>
                  <a:srgbClr val="152D3A"/>
                </a:solidFill>
                <a:latin typeface="Arial"/>
                <a:ea typeface="Arial"/>
                <a:cs typeface="Arial"/>
              </a:rPr>
              <a:t>Median forward latency in milliseconds</a:t>
            </a:r>
          </a:p>
        </c:rich>
      </c:tx>
      <c:overlay val="0"/>
      <c:txPr>
        <a:bodyPr xmlns:a="http://schemas.openxmlformats.org/drawingml/2006/main" anchorCtr="1"/>
        <a:lstStyle xmlns:a="http://schemas.openxmlformats.org/drawingml/2006/main"/>
        <a:p xmlns:a="http://schemas.openxmlformats.org/drawingml/2006/main">
          <a:pPr>
            <a:defRPr sz="1875">
              <a:solidFill>
                <a:srgbClr val="152D3A"/>
              </a:solidFill>
              <a:latin typeface="Arial"/>
              <a:ea typeface="Arial"/>
              <a:cs typeface="Arial"/>
            </a:defRPr>
          </a:pPr>
        </a:p>
      </c:txPr>
    </c:title>
    <c:plotArea>
      <c:barChart>
        <c:barDir val="col"/>
        <c:varyColors val="0"/>
        <c:ser>
          <c:idx val="0"/>
          <c:order val="0"/>
          <c:tx>
            <c:v>Latency (ms)</c:v>
          </c:tx>
          <c:spPr>
            <a:solidFill xmlns:a="http://schemas.openxmlformats.org/drawingml/2006/main">
              <a:srgbClr val="087E8B"/>
            </a:solidFill>
          </c:spPr>
          <c:invertIfNegative val="0"/>
          <c:cat>
            <c:strRef>
              <c:f>'Chart Data'!$A$2:$A$4</c:f>
              <c:strCache>
                <c:ptCount val="3"/>
                <c:pt idx="0">
                  <c:v>Compact CNN</c:v>
                </c:pt>
                <c:pt idx="1">
                  <c:v>1D ResNet</c:v>
                </c:pt>
                <c:pt idx="2">
                  <c:v>InceptionTime</c:v>
                </c:pt>
              </c:strCache>
            </c:strRef>
          </c:cat>
          <c:val>
            <c:numRef>
              <c:f>'Chart Data'!$B$2:$B$4</c:f>
              <c:numCache>
                <c:formatCode>0.0</c:formatCode>
                <c:ptCount val="3"/>
                <c:pt idx="0">
                  <c:v>0.63945</c:v>
                </c:pt>
                <c:pt idx="1">
                  <c:v>0.88745</c:v>
                </c:pt>
                <c:pt idx="2">
                  <c:v>1.573483</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5DFE4"/>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0.3"/>
      </c:valAx>
      <c:spPr>
        <a:solidFill xmlns:a="http://schemas.openxmlformats.org/drawingml/2006/main">
          <a:srgbClr val="F8FAFB"/>
        </a:solidFill>
      </c:spPr>
    </c:plotArea>
    <c:plotVisOnly val="1"/>
  </c:chart>
  <c:spPr>
    <a:solidFill xmlns:a="http://schemas.openxmlformats.org/drawingml/2006/main">
      <a:srgbClr val="F8FAFB"/>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2D3A"/>
        </a:solidFill>
      </p:bgPr>
    </p:bg>
    <p:spTree>
      <p:nvGrpSpPr>
        <p:cNvPr id="1" name=""/>
        <p:cNvGrpSpPr/>
        <p:nvPr/>
      </p:nvGrpSpPr>
      <p:grpSpPr>
        <a:xfrm xmlns:a="http://schemas.openxmlformats.org/drawingml/2006/main"/>
      </p:grpSpPr>
      <p:sp>
        <p:nvSpPr>
          <p:cNvPr id="6" name="CA3 MINI PROJECT">
            <a:extLst xmlns:a="http://schemas.openxmlformats.org/drawingml/2006/main">
              <a:ext uri="{FF2B5EF4-FFF2-40B4-BE49-F238E27FC236}">
                <a16:creationId xmlns:a16="http://schemas.microsoft.com/office/drawing/2014/main" id="{53D61060-56DE-43E2-8BF6-E96F14628F34}"/>
              </a:ext>
            </a:extLst>
          </p:cNvPr>
          <p:cNvSpPr>
            <a:spLocks xmlns:a="http://schemas.openxmlformats.org/drawingml/2006/main" noGrp="1"/>
          </p:cNvSpPr>
          <p:nvPr/>
        </p:nvSpPr>
        <p:spPr>
          <a:xfrm xmlns:a="http://schemas.openxmlformats.org/drawingml/2006/main">
            <a:off x="647700" y="5143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87D9DD"/>
                </a:solidFill>
                <a:latin typeface="Arial"/>
                <a:ea typeface="Arial"/>
                <a:cs typeface="Arial"/>
              </a:defRPr>
            </a:defPPr>
            <a:lvl1pPr>
              <a:defRPr sz="1425" b="1">
                <a:solidFill>
                  <a:srgbClr val="87D9DD"/>
                </a:solidFill>
                <a:latin typeface="Arial"/>
                <a:ea typeface="Arial"/>
                <a:cs typeface="Arial"/>
              </a:defRPr>
            </a:lvl1pPr>
            <a:lvl2pPr>
              <a:defRPr sz="1425" b="1">
                <a:solidFill>
                  <a:srgbClr val="87D9DD"/>
                </a:solidFill>
                <a:latin typeface="Arial"/>
                <a:ea typeface="Arial"/>
                <a:cs typeface="Arial"/>
              </a:defRPr>
            </a:lvl2pPr>
            <a:lvl3pPr>
              <a:defRPr sz="1425" b="1">
                <a:solidFill>
                  <a:srgbClr val="87D9DD"/>
                </a:solidFill>
                <a:latin typeface="Arial"/>
                <a:ea typeface="Arial"/>
                <a:cs typeface="Arial"/>
              </a:defRPr>
            </a:lvl3pPr>
            <a:lvl4pPr>
              <a:defRPr sz="1425" b="1">
                <a:solidFill>
                  <a:srgbClr val="87D9DD"/>
                </a:solidFill>
                <a:latin typeface="Arial"/>
                <a:ea typeface="Arial"/>
                <a:cs typeface="Arial"/>
              </a:defRPr>
            </a:lvl4pPr>
            <a:lvl5pPr>
              <a:defRPr sz="1425" b="1">
                <a:solidFill>
                  <a:srgbClr val="87D9DD"/>
                </a:solidFill>
                <a:latin typeface="Arial"/>
                <a:ea typeface="Arial"/>
                <a:cs typeface="Arial"/>
              </a:defRPr>
            </a:lvl5pPr>
            <a:lvl6pPr>
              <a:defRPr sz="1425" b="1">
                <a:solidFill>
                  <a:srgbClr val="87D9DD"/>
                </a:solidFill>
                <a:latin typeface="Arial"/>
                <a:ea typeface="Arial"/>
                <a:cs typeface="Arial"/>
              </a:defRPr>
            </a:lvl6pPr>
            <a:lvl7pPr>
              <a:defRPr sz="1425" b="1">
                <a:solidFill>
                  <a:srgbClr val="87D9DD"/>
                </a:solidFill>
                <a:latin typeface="Arial"/>
                <a:ea typeface="Arial"/>
                <a:cs typeface="Arial"/>
              </a:defRPr>
            </a:lvl7pPr>
            <a:lvl8pPr>
              <a:defRPr sz="1425" b="1">
                <a:solidFill>
                  <a:srgbClr val="87D9DD"/>
                </a:solidFill>
                <a:latin typeface="Arial"/>
                <a:ea typeface="Arial"/>
                <a:cs typeface="Arial"/>
              </a:defRPr>
            </a:lvl8pPr>
            <a:lvl9pPr>
              <a:defRPr sz="1425" b="1">
                <a:solidFill>
                  <a:srgbClr val="87D9DD"/>
                </a:solidFill>
                <a:latin typeface="Arial"/>
                <a:ea typeface="Arial"/>
                <a:cs typeface="Arial"/>
              </a:defRPr>
            </a:lvl9pPr>
          </a:lstStyle>
          <a:p xmlns:a="http://schemas.openxmlformats.org/drawingml/2006/main">
            <a:pPr>
              <a:defRPr sz="1425" b="1">
                <a:solidFill>
                  <a:srgbClr val="87D9DD"/>
                </a:solidFill>
                <a:latin typeface="Arial"/>
                <a:ea typeface="Arial"/>
                <a:cs typeface="Arial"/>
              </a:defRPr>
            </a:pPr>
            <a:r>
              <a:rPr sz="1425" b="1">
                <a:solidFill>
                  <a:srgbClr val="87D9DD"/>
                </a:solidFill>
                <a:latin typeface="Arial"/>
                <a:ea typeface="Arial"/>
                <a:cs typeface="Arial"/>
              </a:rPr>
              <a:t>CA3 MINI PROJECT</a:t>
            </a:r>
          </a:p>
        </p:txBody>
      </p:sp>
      <p:sp>
        <p:nvSpPr>
          <p:cNvPr id="2" name="Explainable Multi Label Classification&#10;of Car">
            <a:extLst xmlns:a="http://schemas.openxmlformats.org/drawingml/2006/main">
              <a:ext uri="{FF2B5EF4-FFF2-40B4-BE49-F238E27FC236}">
                <a16:creationId xmlns:a16="http://schemas.microsoft.com/office/drawing/2014/main" id="{1831B174-27AF-4DBA-AB3B-B6D2693104B3}"/>
              </a:ext>
            </a:extLst>
          </p:cNvPr>
          <p:cNvSpPr>
            <a:spLocks xmlns:a="http://schemas.openxmlformats.org/drawingml/2006/main" noGrp="1"/>
          </p:cNvSpPr>
          <p:nvPr/>
        </p:nvSpPr>
        <p:spPr>
          <a:xfrm xmlns:a="http://schemas.openxmlformats.org/drawingml/2006/main">
            <a:off x="647700" y="1295400"/>
            <a:ext cx="10858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1">
                <a:solidFill>
                  <a:srgbClr val="FFFFFF"/>
                </a:solidFill>
                <a:latin typeface="Arial"/>
                <a:ea typeface="Arial"/>
                <a:cs typeface="Arial"/>
              </a:defRPr>
            </a:defPPr>
            <a:lvl1pPr>
              <a:defRPr sz="4125" b="1">
                <a:solidFill>
                  <a:srgbClr val="FFFFFF"/>
                </a:solidFill>
                <a:latin typeface="Arial"/>
                <a:ea typeface="Arial"/>
                <a:cs typeface="Arial"/>
              </a:defRPr>
            </a:lvl1pPr>
            <a:lvl2pPr>
              <a:defRPr sz="4125" b="1">
                <a:solidFill>
                  <a:srgbClr val="FFFFFF"/>
                </a:solidFill>
                <a:latin typeface="Arial"/>
                <a:ea typeface="Arial"/>
                <a:cs typeface="Arial"/>
              </a:defRPr>
            </a:lvl2pPr>
            <a:lvl3pPr>
              <a:defRPr sz="4125" b="1">
                <a:solidFill>
                  <a:srgbClr val="FFFFFF"/>
                </a:solidFill>
                <a:latin typeface="Arial"/>
                <a:ea typeface="Arial"/>
                <a:cs typeface="Arial"/>
              </a:defRPr>
            </a:lvl3pPr>
            <a:lvl4pPr>
              <a:defRPr sz="4125" b="1">
                <a:solidFill>
                  <a:srgbClr val="FFFFFF"/>
                </a:solidFill>
                <a:latin typeface="Arial"/>
                <a:ea typeface="Arial"/>
                <a:cs typeface="Arial"/>
              </a:defRPr>
            </a:lvl4pPr>
            <a:lvl5pPr>
              <a:defRPr sz="4125" b="1">
                <a:solidFill>
                  <a:srgbClr val="FFFFFF"/>
                </a:solidFill>
                <a:latin typeface="Arial"/>
                <a:ea typeface="Arial"/>
                <a:cs typeface="Arial"/>
              </a:defRPr>
            </a:lvl5pPr>
            <a:lvl6pPr>
              <a:defRPr sz="4125" b="1">
                <a:solidFill>
                  <a:srgbClr val="FFFFFF"/>
                </a:solidFill>
                <a:latin typeface="Arial"/>
                <a:ea typeface="Arial"/>
                <a:cs typeface="Arial"/>
              </a:defRPr>
            </a:lvl6pPr>
            <a:lvl7pPr>
              <a:defRPr sz="4125" b="1">
                <a:solidFill>
                  <a:srgbClr val="FFFFFF"/>
                </a:solidFill>
                <a:latin typeface="Arial"/>
                <a:ea typeface="Arial"/>
                <a:cs typeface="Arial"/>
              </a:defRPr>
            </a:lvl7pPr>
            <a:lvl8pPr>
              <a:defRPr sz="4125" b="1">
                <a:solidFill>
                  <a:srgbClr val="FFFFFF"/>
                </a:solidFill>
                <a:latin typeface="Arial"/>
                <a:ea typeface="Arial"/>
                <a:cs typeface="Arial"/>
              </a:defRPr>
            </a:lvl8pPr>
            <a:lvl9pPr>
              <a:defRPr sz="4125" b="1">
                <a:solidFill>
                  <a:srgbClr val="FFFFFF"/>
                </a:solidFill>
                <a:latin typeface="Arial"/>
                <a:ea typeface="Arial"/>
                <a:cs typeface="Arial"/>
              </a:defRPr>
            </a:lvl9pPr>
          </a:lstStyle>
          <a:p xmlns:a="http://schemas.openxmlformats.org/drawingml/2006/main">
            <a:pPr>
              <a:defRPr sz="4125" b="1">
                <a:solidFill>
                  <a:srgbClr val="FFFFFF"/>
                </a:solidFill>
                <a:latin typeface="Arial"/>
                <a:ea typeface="Arial"/>
                <a:cs typeface="Arial"/>
              </a:defRPr>
            </a:pPr>
            <a:r>
              <a:rPr sz="4125" b="1">
                <a:solidFill>
                  <a:srgbClr val="FFFFFF"/>
                </a:solidFill>
                <a:latin typeface="Arial"/>
                <a:ea typeface="Arial"/>
                <a:cs typeface="Arial"/>
              </a:rPr>
              <a:t>Explainable Multi Label Classification</a:t>
            </a:r>
          </a:p>
          <a:p xmlns:a="http://schemas.openxmlformats.org/drawingml/2006/main">
            <a:pPr>
              <a:defRPr sz="4125" b="1">
                <a:solidFill>
                  <a:srgbClr val="FFFFFF"/>
                </a:solidFill>
                <a:latin typeface="Arial"/>
                <a:ea typeface="Arial"/>
                <a:cs typeface="Arial"/>
              </a:defRPr>
            </a:pPr>
            <a:r>
              <a:rPr sz="4125" b="1">
                <a:solidFill>
                  <a:srgbClr val="FFFFFF"/>
                </a:solidFill>
                <a:latin typeface="Arial"/>
                <a:ea typeface="Arial"/>
                <a:cs typeface="Arial"/>
              </a:rPr>
              <a:t>of Cardiac Abnormalities</a:t>
            </a:r>
          </a:p>
          <a:p xmlns:a="http://schemas.openxmlformats.org/drawingml/2006/main">
            <a:pPr>
              <a:defRPr sz="4125" b="1">
                <a:solidFill>
                  <a:srgbClr val="FFFFFF"/>
                </a:solidFill>
                <a:latin typeface="Arial"/>
                <a:ea typeface="Arial"/>
                <a:cs typeface="Arial"/>
              </a:defRPr>
            </a:pPr>
            <a:r>
              <a:rPr sz="4125" b="1">
                <a:solidFill>
                  <a:srgbClr val="FFFFFF"/>
                </a:solidFill>
                <a:latin typeface="Arial"/>
                <a:ea typeface="Arial"/>
                <a:cs typeface="Arial"/>
              </a:rPr>
              <a:t>from Electrocardiograms</a:t>
            </a:r>
          </a:p>
        </p:txBody>
      </p:sp>
      <p:sp>
        <p:nvSpPr>
          <p:cNvPr id="3" name="Using Lightweight Deep Learning">
            <a:extLst xmlns:a="http://schemas.openxmlformats.org/drawingml/2006/main">
              <a:ext uri="{FF2B5EF4-FFF2-40B4-BE49-F238E27FC236}">
                <a16:creationId xmlns:a16="http://schemas.microsoft.com/office/drawing/2014/main" id="{06EC3380-D103-4842-9EFE-F8981C248107}"/>
              </a:ext>
            </a:extLst>
          </p:cNvPr>
          <p:cNvSpPr>
            <a:spLocks xmlns:a="http://schemas.openxmlformats.org/drawingml/2006/main" noGrp="1"/>
          </p:cNvSpPr>
          <p:nvPr/>
        </p:nvSpPr>
        <p:spPr>
          <a:xfrm xmlns:a="http://schemas.openxmlformats.org/drawingml/2006/main">
            <a:off x="647700" y="35337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87D9DD"/>
                </a:solidFill>
                <a:latin typeface="Arial"/>
                <a:ea typeface="Arial"/>
                <a:cs typeface="Arial"/>
              </a:defRPr>
            </a:defPPr>
            <a:lvl1pPr>
              <a:defRPr sz="2325" b="0">
                <a:solidFill>
                  <a:srgbClr val="87D9DD"/>
                </a:solidFill>
                <a:latin typeface="Arial"/>
                <a:ea typeface="Arial"/>
                <a:cs typeface="Arial"/>
              </a:defRPr>
            </a:lvl1pPr>
            <a:lvl2pPr>
              <a:defRPr sz="2325" b="0">
                <a:solidFill>
                  <a:srgbClr val="87D9DD"/>
                </a:solidFill>
                <a:latin typeface="Arial"/>
                <a:ea typeface="Arial"/>
                <a:cs typeface="Arial"/>
              </a:defRPr>
            </a:lvl2pPr>
            <a:lvl3pPr>
              <a:defRPr sz="2325" b="0">
                <a:solidFill>
                  <a:srgbClr val="87D9DD"/>
                </a:solidFill>
                <a:latin typeface="Arial"/>
                <a:ea typeface="Arial"/>
                <a:cs typeface="Arial"/>
              </a:defRPr>
            </a:lvl3pPr>
            <a:lvl4pPr>
              <a:defRPr sz="2325" b="0">
                <a:solidFill>
                  <a:srgbClr val="87D9DD"/>
                </a:solidFill>
                <a:latin typeface="Arial"/>
                <a:ea typeface="Arial"/>
                <a:cs typeface="Arial"/>
              </a:defRPr>
            </a:lvl4pPr>
            <a:lvl5pPr>
              <a:defRPr sz="2325" b="0">
                <a:solidFill>
                  <a:srgbClr val="87D9DD"/>
                </a:solidFill>
                <a:latin typeface="Arial"/>
                <a:ea typeface="Arial"/>
                <a:cs typeface="Arial"/>
              </a:defRPr>
            </a:lvl5pPr>
            <a:lvl6pPr>
              <a:defRPr sz="2325" b="0">
                <a:solidFill>
                  <a:srgbClr val="87D9DD"/>
                </a:solidFill>
                <a:latin typeface="Arial"/>
                <a:ea typeface="Arial"/>
                <a:cs typeface="Arial"/>
              </a:defRPr>
            </a:lvl6pPr>
            <a:lvl7pPr>
              <a:defRPr sz="2325" b="0">
                <a:solidFill>
                  <a:srgbClr val="87D9DD"/>
                </a:solidFill>
                <a:latin typeface="Arial"/>
                <a:ea typeface="Arial"/>
                <a:cs typeface="Arial"/>
              </a:defRPr>
            </a:lvl7pPr>
            <a:lvl8pPr>
              <a:defRPr sz="2325" b="0">
                <a:solidFill>
                  <a:srgbClr val="87D9DD"/>
                </a:solidFill>
                <a:latin typeface="Arial"/>
                <a:ea typeface="Arial"/>
                <a:cs typeface="Arial"/>
              </a:defRPr>
            </a:lvl8pPr>
            <a:lvl9pPr>
              <a:defRPr sz="2325" b="0">
                <a:solidFill>
                  <a:srgbClr val="87D9DD"/>
                </a:solidFill>
                <a:latin typeface="Arial"/>
                <a:ea typeface="Arial"/>
                <a:cs typeface="Arial"/>
              </a:defRPr>
            </a:lvl9pPr>
          </a:lstStyle>
          <a:p xmlns:a="http://schemas.openxmlformats.org/drawingml/2006/main">
            <a:pPr>
              <a:defRPr sz="2325" b="0">
                <a:solidFill>
                  <a:srgbClr val="87D9DD"/>
                </a:solidFill>
                <a:latin typeface="Arial"/>
                <a:ea typeface="Arial"/>
                <a:cs typeface="Arial"/>
              </a:defRPr>
            </a:pPr>
            <a:r>
              <a:rPr sz="2325" b="0">
                <a:solidFill>
                  <a:srgbClr val="87D9DD"/>
                </a:solidFill>
                <a:latin typeface="Arial"/>
                <a:ea typeface="Arial"/>
                <a:cs typeface="Arial"/>
              </a:rPr>
              <a:t>Using Lightweight Deep Learning</a:t>
            </a:r>
          </a:p>
        </p:txBody>
      </p:sp>
      <p:sp>
        <p:nvSpPr>
          <p:cNvPr id="4" name="Tanvi Bandebuche and Maheen Meshram">
            <a:extLst xmlns:a="http://schemas.openxmlformats.org/drawingml/2006/main">
              <a:ext uri="{FF2B5EF4-FFF2-40B4-BE49-F238E27FC236}">
                <a16:creationId xmlns:a16="http://schemas.microsoft.com/office/drawing/2014/main" id="{D98979F1-78F8-4F35-B1B3-63C41377DF5C}"/>
              </a:ext>
            </a:extLst>
          </p:cNvPr>
          <p:cNvSpPr>
            <a:spLocks xmlns:a="http://schemas.openxmlformats.org/drawingml/2006/main" noGrp="1"/>
          </p:cNvSpPr>
          <p:nvPr/>
        </p:nvSpPr>
        <p:spPr>
          <a:xfrm xmlns:a="http://schemas.openxmlformats.org/drawingml/2006/main">
            <a:off x="647700" y="47339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FFFFFF"/>
                </a:solidFill>
                <a:latin typeface="Arial"/>
                <a:ea typeface="Arial"/>
                <a:cs typeface="Arial"/>
              </a:defRPr>
            </a:defPPr>
            <a:lvl1pPr>
              <a:defRPr sz="2100" b="1">
                <a:solidFill>
                  <a:srgbClr val="FFFFFF"/>
                </a:solidFill>
                <a:latin typeface="Arial"/>
                <a:ea typeface="Arial"/>
                <a:cs typeface="Arial"/>
              </a:defRPr>
            </a:lvl1pPr>
            <a:lvl2pPr>
              <a:defRPr sz="2100" b="1">
                <a:solidFill>
                  <a:srgbClr val="FFFFFF"/>
                </a:solidFill>
                <a:latin typeface="Arial"/>
                <a:ea typeface="Arial"/>
                <a:cs typeface="Arial"/>
              </a:defRPr>
            </a:lvl2pPr>
            <a:lvl3pPr>
              <a:defRPr sz="2100" b="1">
                <a:solidFill>
                  <a:srgbClr val="FFFFFF"/>
                </a:solidFill>
                <a:latin typeface="Arial"/>
                <a:ea typeface="Arial"/>
                <a:cs typeface="Arial"/>
              </a:defRPr>
            </a:lvl3pPr>
            <a:lvl4pPr>
              <a:defRPr sz="2100" b="1">
                <a:solidFill>
                  <a:srgbClr val="FFFFFF"/>
                </a:solidFill>
                <a:latin typeface="Arial"/>
                <a:ea typeface="Arial"/>
                <a:cs typeface="Arial"/>
              </a:defRPr>
            </a:lvl4pPr>
            <a:lvl5pPr>
              <a:defRPr sz="2100" b="1">
                <a:solidFill>
                  <a:srgbClr val="FFFFFF"/>
                </a:solidFill>
                <a:latin typeface="Arial"/>
                <a:ea typeface="Arial"/>
                <a:cs typeface="Arial"/>
              </a:defRPr>
            </a:lvl5pPr>
            <a:lvl6pPr>
              <a:defRPr sz="2100" b="1">
                <a:solidFill>
                  <a:srgbClr val="FFFFFF"/>
                </a:solidFill>
                <a:latin typeface="Arial"/>
                <a:ea typeface="Arial"/>
                <a:cs typeface="Arial"/>
              </a:defRPr>
            </a:lvl6pPr>
            <a:lvl7pPr>
              <a:defRPr sz="2100" b="1">
                <a:solidFill>
                  <a:srgbClr val="FFFFFF"/>
                </a:solidFill>
                <a:latin typeface="Arial"/>
                <a:ea typeface="Arial"/>
                <a:cs typeface="Arial"/>
              </a:defRPr>
            </a:lvl7pPr>
            <a:lvl8pPr>
              <a:defRPr sz="2100" b="1">
                <a:solidFill>
                  <a:srgbClr val="FFFFFF"/>
                </a:solidFill>
                <a:latin typeface="Arial"/>
                <a:ea typeface="Arial"/>
                <a:cs typeface="Arial"/>
              </a:defRPr>
            </a:lvl8pPr>
            <a:lvl9pPr>
              <a:defRPr sz="2100" b="1">
                <a:solidFill>
                  <a:srgbClr val="FFFFFF"/>
                </a:solidFill>
                <a:latin typeface="Arial"/>
                <a:ea typeface="Arial"/>
                <a:cs typeface="Arial"/>
              </a:defRPr>
            </a:lvl9pPr>
          </a:lstStyle>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Tanvi Bandebuche and Maheen Meshram</a:t>
            </a:r>
          </a:p>
        </p:txBody>
      </p:sp>
      <p:sp>
        <p:nvSpPr>
          <p:cNvPr id="5" name="Computer Science and Engineering&#10;Symbiosis In">
            <a:extLst xmlns:a="http://schemas.openxmlformats.org/drawingml/2006/main">
              <a:ext uri="{FF2B5EF4-FFF2-40B4-BE49-F238E27FC236}">
                <a16:creationId xmlns:a16="http://schemas.microsoft.com/office/drawing/2014/main" id="{182D7EE7-1886-442D-9D8C-67BD96AB5930}"/>
              </a:ext>
            </a:extLst>
          </p:cNvPr>
          <p:cNvSpPr>
            <a:spLocks xmlns:a="http://schemas.openxmlformats.org/drawingml/2006/main" noGrp="1"/>
          </p:cNvSpPr>
          <p:nvPr/>
        </p:nvSpPr>
        <p:spPr>
          <a:xfrm xmlns:a="http://schemas.openxmlformats.org/drawingml/2006/main">
            <a:off x="647700" y="525780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D9E5EA"/>
                </a:solidFill>
                <a:latin typeface="Arial"/>
                <a:ea typeface="Arial"/>
                <a:cs typeface="Arial"/>
              </a:defRPr>
            </a:defPPr>
            <a:lvl1pPr>
              <a:defRPr sz="1800" b="0">
                <a:solidFill>
                  <a:srgbClr val="D9E5EA"/>
                </a:solidFill>
                <a:latin typeface="Arial"/>
                <a:ea typeface="Arial"/>
                <a:cs typeface="Arial"/>
              </a:defRPr>
            </a:lvl1pPr>
            <a:lvl2pPr>
              <a:defRPr sz="1800" b="0">
                <a:solidFill>
                  <a:srgbClr val="D9E5EA"/>
                </a:solidFill>
                <a:latin typeface="Arial"/>
                <a:ea typeface="Arial"/>
                <a:cs typeface="Arial"/>
              </a:defRPr>
            </a:lvl2pPr>
            <a:lvl3pPr>
              <a:defRPr sz="1800" b="0">
                <a:solidFill>
                  <a:srgbClr val="D9E5EA"/>
                </a:solidFill>
                <a:latin typeface="Arial"/>
                <a:ea typeface="Arial"/>
                <a:cs typeface="Arial"/>
              </a:defRPr>
            </a:lvl3pPr>
            <a:lvl4pPr>
              <a:defRPr sz="1800" b="0">
                <a:solidFill>
                  <a:srgbClr val="D9E5EA"/>
                </a:solidFill>
                <a:latin typeface="Arial"/>
                <a:ea typeface="Arial"/>
                <a:cs typeface="Arial"/>
              </a:defRPr>
            </a:lvl4pPr>
            <a:lvl5pPr>
              <a:defRPr sz="1800" b="0">
                <a:solidFill>
                  <a:srgbClr val="D9E5EA"/>
                </a:solidFill>
                <a:latin typeface="Arial"/>
                <a:ea typeface="Arial"/>
                <a:cs typeface="Arial"/>
              </a:defRPr>
            </a:lvl5pPr>
            <a:lvl6pPr>
              <a:defRPr sz="1800" b="0">
                <a:solidFill>
                  <a:srgbClr val="D9E5EA"/>
                </a:solidFill>
                <a:latin typeface="Arial"/>
                <a:ea typeface="Arial"/>
                <a:cs typeface="Arial"/>
              </a:defRPr>
            </a:lvl6pPr>
            <a:lvl7pPr>
              <a:defRPr sz="1800" b="0">
                <a:solidFill>
                  <a:srgbClr val="D9E5EA"/>
                </a:solidFill>
                <a:latin typeface="Arial"/>
                <a:ea typeface="Arial"/>
                <a:cs typeface="Arial"/>
              </a:defRPr>
            </a:lvl7pPr>
            <a:lvl8pPr>
              <a:defRPr sz="1800" b="0">
                <a:solidFill>
                  <a:srgbClr val="D9E5EA"/>
                </a:solidFill>
                <a:latin typeface="Arial"/>
                <a:ea typeface="Arial"/>
                <a:cs typeface="Arial"/>
              </a:defRPr>
            </a:lvl8pPr>
            <a:lvl9pPr>
              <a:defRPr sz="1800" b="0">
                <a:solidFill>
                  <a:srgbClr val="D9E5EA"/>
                </a:solidFill>
                <a:latin typeface="Arial"/>
                <a:ea typeface="Arial"/>
                <a:cs typeface="Arial"/>
              </a:defRPr>
            </a:lvl9pPr>
          </a:lstStyle>
          <a:p xmlns:a="http://schemas.openxmlformats.org/drawingml/2006/main">
            <a:pPr>
              <a:defRPr sz="1800" b="0">
                <a:solidFill>
                  <a:srgbClr val="D9E5EA"/>
                </a:solidFill>
                <a:latin typeface="Arial"/>
                <a:ea typeface="Arial"/>
                <a:cs typeface="Arial"/>
              </a:defRPr>
            </a:pPr>
            <a:r>
              <a:rPr sz="1800" b="0">
                <a:solidFill>
                  <a:srgbClr val="D9E5EA"/>
                </a:solidFill>
                <a:latin typeface="Arial"/>
                <a:ea typeface="Arial"/>
                <a:cs typeface="Arial"/>
              </a:rPr>
              <a:t>Computer Science and Engineering</a:t>
            </a:r>
          </a:p>
          <a:p xmlns:a="http://schemas.openxmlformats.org/drawingml/2006/main">
            <a:pPr>
              <a:defRPr sz="1800" b="0">
                <a:solidFill>
                  <a:srgbClr val="D9E5EA"/>
                </a:solidFill>
                <a:latin typeface="Arial"/>
                <a:ea typeface="Arial"/>
                <a:cs typeface="Arial"/>
              </a:defRPr>
            </a:pPr>
            <a:r>
              <a:rPr sz="1800" b="0">
                <a:solidFill>
                  <a:srgbClr val="D9E5EA"/>
                </a:solidFill>
                <a:latin typeface="Arial"/>
                <a:ea typeface="Arial"/>
                <a:cs typeface="Arial"/>
              </a:rPr>
              <a:t>Symbiosis Institute Of Technology, Nagpur, India</a:t>
            </a:r>
          </a:p>
        </p:txBody>
      </p:sp>
    </p:spTree>
    <p:extLst>
      <p:ext uri="{BB962C8B-B14F-4D97-AF65-F5344CB8AC3E}">
        <p14:creationId xmlns:p14="http://schemas.microsoft.com/office/powerpoint/2010/main" val="853755781"/>
      </p:ext>
    </p:extLst>
  </p:cSld>
</p:sld>
</file>

<file path=ppt/slides/slide2.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11" name="Problem and project objectives">
            <a:extLst xmlns:a="http://schemas.openxmlformats.org/drawingml/2006/main">
              <a:ext uri="{FF2B5EF4-FFF2-40B4-BE49-F238E27FC236}">
                <a16:creationId xmlns:a16="http://schemas.microsoft.com/office/drawing/2014/main" id="{947CE543-0BB3-40A8-B7A1-E75ADCD90F15}"/>
              </a:ext>
            </a:extLst>
          </p:cNvPr>
          <p:cNvSpPr>
            <a:spLocks xmlns:a="http://schemas.openxmlformats.org/drawingml/2006/main" noGrp="1"/>
          </p:cNvSpPr>
          <p:nvPr/>
        </p:nvSpPr>
        <p:spPr>
          <a:xfrm xmlns:a="http://schemas.openxmlformats.org/drawingml/2006/main">
            <a:off x="609600" y="40005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D3A"/>
                </a:solidFill>
                <a:latin typeface="Arial"/>
                <a:ea typeface="Arial"/>
                <a:cs typeface="Arial"/>
              </a:defRPr>
            </a:defPPr>
            <a:lvl1pPr>
              <a:defRPr sz="3150" b="1">
                <a:solidFill>
                  <a:srgbClr val="152D3A"/>
                </a:solidFill>
                <a:latin typeface="Arial"/>
                <a:ea typeface="Arial"/>
                <a:cs typeface="Arial"/>
              </a:defRPr>
            </a:lvl1pPr>
            <a:lvl2pPr>
              <a:defRPr sz="3150" b="1">
                <a:solidFill>
                  <a:srgbClr val="152D3A"/>
                </a:solidFill>
                <a:latin typeface="Arial"/>
                <a:ea typeface="Arial"/>
                <a:cs typeface="Arial"/>
              </a:defRPr>
            </a:lvl2pPr>
            <a:lvl3pPr>
              <a:defRPr sz="3150" b="1">
                <a:solidFill>
                  <a:srgbClr val="152D3A"/>
                </a:solidFill>
                <a:latin typeface="Arial"/>
                <a:ea typeface="Arial"/>
                <a:cs typeface="Arial"/>
              </a:defRPr>
            </a:lvl3pPr>
            <a:lvl4pPr>
              <a:defRPr sz="3150" b="1">
                <a:solidFill>
                  <a:srgbClr val="152D3A"/>
                </a:solidFill>
                <a:latin typeface="Arial"/>
                <a:ea typeface="Arial"/>
                <a:cs typeface="Arial"/>
              </a:defRPr>
            </a:lvl4pPr>
            <a:lvl5pPr>
              <a:defRPr sz="3150" b="1">
                <a:solidFill>
                  <a:srgbClr val="152D3A"/>
                </a:solidFill>
                <a:latin typeface="Arial"/>
                <a:ea typeface="Arial"/>
                <a:cs typeface="Arial"/>
              </a:defRPr>
            </a:lvl5pPr>
            <a:lvl6pPr>
              <a:defRPr sz="3150" b="1">
                <a:solidFill>
                  <a:srgbClr val="152D3A"/>
                </a:solidFill>
                <a:latin typeface="Arial"/>
                <a:ea typeface="Arial"/>
                <a:cs typeface="Arial"/>
              </a:defRPr>
            </a:lvl6pPr>
            <a:lvl7pPr>
              <a:defRPr sz="3150" b="1">
                <a:solidFill>
                  <a:srgbClr val="152D3A"/>
                </a:solidFill>
                <a:latin typeface="Arial"/>
                <a:ea typeface="Arial"/>
                <a:cs typeface="Arial"/>
              </a:defRPr>
            </a:lvl7pPr>
            <a:lvl8pPr>
              <a:defRPr sz="3150" b="1">
                <a:solidFill>
                  <a:srgbClr val="152D3A"/>
                </a:solidFill>
                <a:latin typeface="Arial"/>
                <a:ea typeface="Arial"/>
                <a:cs typeface="Arial"/>
              </a:defRPr>
            </a:lvl8pPr>
            <a:lvl9pPr>
              <a:defRPr sz="3150" b="1">
                <a:solidFill>
                  <a:srgbClr val="152D3A"/>
                </a:solidFill>
                <a:latin typeface="Arial"/>
                <a:ea typeface="Arial"/>
                <a:cs typeface="Arial"/>
              </a:defRPr>
            </a:lvl9pPr>
          </a:lstStyle>
          <a:p xmlns:a="http://schemas.openxmlformats.org/drawingml/2006/main">
            <a:pPr>
              <a:defRPr sz="3150" b="1">
                <a:solidFill>
                  <a:srgbClr val="152D3A"/>
                </a:solidFill>
                <a:latin typeface="Arial"/>
                <a:ea typeface="Arial"/>
                <a:cs typeface="Arial"/>
              </a:defRPr>
            </a:pPr>
            <a:r>
              <a:rPr sz="3150" b="1">
                <a:solidFill>
                  <a:srgbClr val="152D3A"/>
                </a:solidFill>
                <a:latin typeface="Arial"/>
                <a:ea typeface="Arial"/>
                <a:cs typeface="Arial"/>
              </a:rPr>
              <a:t>Problem and project objectives</a:t>
            </a:r>
          </a:p>
        </p:txBody>
      </p:sp>
      <p:sp>
        <p:nvSpPr>
          <p:cNvPr id="2" name="02">
            <a:extLst xmlns:a="http://schemas.openxmlformats.org/drawingml/2006/main">
              <a:ext uri="{FF2B5EF4-FFF2-40B4-BE49-F238E27FC236}">
                <a16:creationId xmlns:a16="http://schemas.microsoft.com/office/drawing/2014/main" id="{874C12AA-CFB9-4B82-89E1-4EEFF8A625E4}"/>
              </a:ext>
            </a:extLst>
          </p:cNvPr>
          <p:cNvSpPr>
            <a:spLocks xmlns:a="http://schemas.openxmlformats.org/drawingml/2006/main" noGrp="1"/>
          </p:cNvSpPr>
          <p:nvPr/>
        </p:nvSpPr>
        <p:spPr>
          <a:xfrm xmlns:a="http://schemas.openxmlformats.org/drawingml/2006/main">
            <a:off x="11144250" y="63817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775"/>
                </a:solidFill>
                <a:latin typeface="Arial"/>
                <a:ea typeface="Arial"/>
                <a:cs typeface="Arial"/>
              </a:defRPr>
            </a:defPPr>
            <a:lvl1pPr>
              <a:defRPr sz="1200" b="0">
                <a:solidFill>
                  <a:srgbClr val="536775"/>
                </a:solidFill>
                <a:latin typeface="Arial"/>
                <a:ea typeface="Arial"/>
                <a:cs typeface="Arial"/>
              </a:defRPr>
            </a:lvl1pPr>
            <a:lvl2pPr>
              <a:defRPr sz="1200" b="0">
                <a:solidFill>
                  <a:srgbClr val="536775"/>
                </a:solidFill>
                <a:latin typeface="Arial"/>
                <a:ea typeface="Arial"/>
                <a:cs typeface="Arial"/>
              </a:defRPr>
            </a:lvl2pPr>
            <a:lvl3pPr>
              <a:defRPr sz="1200" b="0">
                <a:solidFill>
                  <a:srgbClr val="536775"/>
                </a:solidFill>
                <a:latin typeface="Arial"/>
                <a:ea typeface="Arial"/>
                <a:cs typeface="Arial"/>
              </a:defRPr>
            </a:lvl3pPr>
            <a:lvl4pPr>
              <a:defRPr sz="1200" b="0">
                <a:solidFill>
                  <a:srgbClr val="536775"/>
                </a:solidFill>
                <a:latin typeface="Arial"/>
                <a:ea typeface="Arial"/>
                <a:cs typeface="Arial"/>
              </a:defRPr>
            </a:lvl4pPr>
            <a:lvl5pPr>
              <a:defRPr sz="1200" b="0">
                <a:solidFill>
                  <a:srgbClr val="536775"/>
                </a:solidFill>
                <a:latin typeface="Arial"/>
                <a:ea typeface="Arial"/>
                <a:cs typeface="Arial"/>
              </a:defRPr>
            </a:lvl5pPr>
            <a:lvl6pPr>
              <a:defRPr sz="1200" b="0">
                <a:solidFill>
                  <a:srgbClr val="536775"/>
                </a:solidFill>
                <a:latin typeface="Arial"/>
                <a:ea typeface="Arial"/>
                <a:cs typeface="Arial"/>
              </a:defRPr>
            </a:lvl6pPr>
            <a:lvl7pPr>
              <a:defRPr sz="1200" b="0">
                <a:solidFill>
                  <a:srgbClr val="536775"/>
                </a:solidFill>
                <a:latin typeface="Arial"/>
                <a:ea typeface="Arial"/>
                <a:cs typeface="Arial"/>
              </a:defRPr>
            </a:lvl7pPr>
            <a:lvl8pPr>
              <a:defRPr sz="1200" b="0">
                <a:solidFill>
                  <a:srgbClr val="536775"/>
                </a:solidFill>
                <a:latin typeface="Arial"/>
                <a:ea typeface="Arial"/>
                <a:cs typeface="Arial"/>
              </a:defRPr>
            </a:lvl8pPr>
            <a:lvl9pPr>
              <a:defRPr sz="1200" b="0">
                <a:solidFill>
                  <a:srgbClr val="536775"/>
                </a:solidFill>
                <a:latin typeface="Arial"/>
                <a:ea typeface="Arial"/>
                <a:cs typeface="Arial"/>
              </a:defRPr>
            </a:lvl9pPr>
          </a:lstStyle>
          <a:p xmlns:a="http://schemas.openxmlformats.org/drawingml/2006/main">
            <a:pPr>
              <a:defRPr sz="1200" b="0">
                <a:solidFill>
                  <a:srgbClr val="536775"/>
                </a:solidFill>
                <a:latin typeface="Arial"/>
                <a:ea typeface="Arial"/>
                <a:cs typeface="Arial"/>
              </a:defRPr>
            </a:pPr>
            <a:r>
              <a:rPr sz="1200" b="0">
                <a:solidFill>
                  <a:srgbClr val="536775"/>
                </a:solidFill>
                <a:latin typeface="Arial"/>
                <a:ea typeface="Arial"/>
                <a:cs typeface="Arial"/>
              </a:rPr>
              <a:t>02</a:t>
            </a:r>
          </a:p>
        </p:txBody>
      </p:sp>
      <p:sp>
        <p:nvSpPr>
          <p:cNvPr id="3" name="One ECG can carry several diagnostic labels.">
            <a:extLst xmlns:a="http://schemas.openxmlformats.org/drawingml/2006/main">
              <a:ext uri="{FF2B5EF4-FFF2-40B4-BE49-F238E27FC236}">
                <a16:creationId xmlns:a16="http://schemas.microsoft.com/office/drawing/2014/main" id="{470084FF-9424-4A9C-B822-BD8EA650AB20}"/>
              </a:ext>
            </a:extLst>
          </p:cNvPr>
          <p:cNvSpPr>
            <a:spLocks xmlns:a="http://schemas.openxmlformats.org/drawingml/2006/main" noGrp="1"/>
          </p:cNvSpPr>
          <p:nvPr/>
        </p:nvSpPr>
        <p:spPr>
          <a:xfrm xmlns:a="http://schemas.openxmlformats.org/drawingml/2006/main">
            <a:off x="609600" y="1352550"/>
            <a:ext cx="1076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087E8B"/>
                </a:solidFill>
                <a:latin typeface="Arial"/>
                <a:ea typeface="Arial"/>
                <a:cs typeface="Arial"/>
              </a:defRPr>
            </a:defPPr>
            <a:lvl1pPr>
              <a:defRPr sz="2625" b="1">
                <a:solidFill>
                  <a:srgbClr val="087E8B"/>
                </a:solidFill>
                <a:latin typeface="Arial"/>
                <a:ea typeface="Arial"/>
                <a:cs typeface="Arial"/>
              </a:defRPr>
            </a:lvl1pPr>
            <a:lvl2pPr>
              <a:defRPr sz="2625" b="1">
                <a:solidFill>
                  <a:srgbClr val="087E8B"/>
                </a:solidFill>
                <a:latin typeface="Arial"/>
                <a:ea typeface="Arial"/>
                <a:cs typeface="Arial"/>
              </a:defRPr>
            </a:lvl2pPr>
            <a:lvl3pPr>
              <a:defRPr sz="2625" b="1">
                <a:solidFill>
                  <a:srgbClr val="087E8B"/>
                </a:solidFill>
                <a:latin typeface="Arial"/>
                <a:ea typeface="Arial"/>
                <a:cs typeface="Arial"/>
              </a:defRPr>
            </a:lvl3pPr>
            <a:lvl4pPr>
              <a:defRPr sz="2625" b="1">
                <a:solidFill>
                  <a:srgbClr val="087E8B"/>
                </a:solidFill>
                <a:latin typeface="Arial"/>
                <a:ea typeface="Arial"/>
                <a:cs typeface="Arial"/>
              </a:defRPr>
            </a:lvl4pPr>
            <a:lvl5pPr>
              <a:defRPr sz="2625" b="1">
                <a:solidFill>
                  <a:srgbClr val="087E8B"/>
                </a:solidFill>
                <a:latin typeface="Arial"/>
                <a:ea typeface="Arial"/>
                <a:cs typeface="Arial"/>
              </a:defRPr>
            </a:lvl5pPr>
            <a:lvl6pPr>
              <a:defRPr sz="2625" b="1">
                <a:solidFill>
                  <a:srgbClr val="087E8B"/>
                </a:solidFill>
                <a:latin typeface="Arial"/>
                <a:ea typeface="Arial"/>
                <a:cs typeface="Arial"/>
              </a:defRPr>
            </a:lvl6pPr>
            <a:lvl7pPr>
              <a:defRPr sz="2625" b="1">
                <a:solidFill>
                  <a:srgbClr val="087E8B"/>
                </a:solidFill>
                <a:latin typeface="Arial"/>
                <a:ea typeface="Arial"/>
                <a:cs typeface="Arial"/>
              </a:defRPr>
            </a:lvl7pPr>
            <a:lvl8pPr>
              <a:defRPr sz="2625" b="1">
                <a:solidFill>
                  <a:srgbClr val="087E8B"/>
                </a:solidFill>
                <a:latin typeface="Arial"/>
                <a:ea typeface="Arial"/>
                <a:cs typeface="Arial"/>
              </a:defRPr>
            </a:lvl8pPr>
            <a:lvl9pPr>
              <a:defRPr sz="2625" b="1">
                <a:solidFill>
                  <a:srgbClr val="087E8B"/>
                </a:solidFill>
                <a:latin typeface="Arial"/>
                <a:ea typeface="Arial"/>
                <a:cs typeface="Arial"/>
              </a:defRPr>
            </a:lvl9pPr>
          </a:lstStyle>
          <a:p xmlns:a="http://schemas.openxmlformats.org/drawingml/2006/main">
            <a:pPr>
              <a:defRPr sz="2625" b="1">
                <a:solidFill>
                  <a:srgbClr val="087E8B"/>
                </a:solidFill>
                <a:latin typeface="Arial"/>
                <a:ea typeface="Arial"/>
                <a:cs typeface="Arial"/>
              </a:defRPr>
            </a:pPr>
            <a:r>
              <a:rPr sz="2625" b="1">
                <a:solidFill>
                  <a:srgbClr val="087E8B"/>
                </a:solidFill>
                <a:latin typeface="Arial"/>
                <a:ea typeface="Arial"/>
                <a:cs typeface="Arial"/>
              </a:rPr>
              <a:t>One ECG can carry several diagnostic labels.</a:t>
            </a:r>
          </a:p>
        </p:txBody>
      </p:sp>
      <p:sp>
        <p:nvSpPr>
          <p:cNvPr id="4" name="01">
            <a:extLst xmlns:a="http://schemas.openxmlformats.org/drawingml/2006/main">
              <a:ext uri="{FF2B5EF4-FFF2-40B4-BE49-F238E27FC236}">
                <a16:creationId xmlns:a16="http://schemas.microsoft.com/office/drawing/2014/main" id="{F86A13A0-F4B2-46CA-AAA7-2F809838E181}"/>
              </a:ext>
            </a:extLst>
          </p:cNvPr>
          <p:cNvSpPr>
            <a:spLocks xmlns:a="http://schemas.openxmlformats.org/drawingml/2006/main" noGrp="1"/>
          </p:cNvSpPr>
          <p:nvPr/>
        </p:nvSpPr>
        <p:spPr>
          <a:xfrm xmlns:a="http://schemas.openxmlformats.org/drawingml/2006/main">
            <a:off x="609600" y="2400300"/>
            <a:ext cx="438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xmlns:a="http://schemas.openxmlformats.org/drawingml/2006/main">
            <a:pPr>
              <a:defRPr sz="1800" b="1">
                <a:solidFill>
                  <a:srgbClr val="087E8B"/>
                </a:solidFill>
                <a:latin typeface="Arial"/>
                <a:ea typeface="Arial"/>
                <a:cs typeface="Arial"/>
              </a:defRPr>
            </a:pPr>
            <a:r>
              <a:rPr sz="1800" b="1">
                <a:solidFill>
                  <a:srgbClr val="087E8B"/>
                </a:solidFill>
                <a:latin typeface="Arial"/>
                <a:ea typeface="Arial"/>
                <a:cs typeface="Arial"/>
              </a:rPr>
              <a:t>01</a:t>
            </a:r>
          </a:p>
        </p:txBody>
      </p:sp>
      <p:sp>
        <p:nvSpPr>
          <p:cNvPr id="5" name="Classify five diagnostic categories from a 10">
            <a:extLst xmlns:a="http://schemas.openxmlformats.org/drawingml/2006/main">
              <a:ext uri="{FF2B5EF4-FFF2-40B4-BE49-F238E27FC236}">
                <a16:creationId xmlns:a16="http://schemas.microsoft.com/office/drawing/2014/main" id="{9EC42F7B-BA52-4064-922B-56F04824A37F}"/>
              </a:ext>
            </a:extLst>
          </p:cNvPr>
          <p:cNvSpPr>
            <a:spLocks xmlns:a="http://schemas.openxmlformats.org/drawingml/2006/main" noGrp="1"/>
          </p:cNvSpPr>
          <p:nvPr/>
        </p:nvSpPr>
        <p:spPr>
          <a:xfrm xmlns:a="http://schemas.openxmlformats.org/drawingml/2006/main">
            <a:off x="1228725" y="2400300"/>
            <a:ext cx="10048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D3A"/>
                </a:solidFill>
                <a:latin typeface="Arial"/>
                <a:ea typeface="Arial"/>
                <a:cs typeface="Arial"/>
              </a:defRPr>
            </a:defPPr>
            <a:lvl1pPr>
              <a:defRPr sz="2175" b="0">
                <a:solidFill>
                  <a:srgbClr val="152D3A"/>
                </a:solidFill>
                <a:latin typeface="Arial"/>
                <a:ea typeface="Arial"/>
                <a:cs typeface="Arial"/>
              </a:defRPr>
            </a:lvl1pPr>
            <a:lvl2pPr>
              <a:defRPr sz="2175" b="0">
                <a:solidFill>
                  <a:srgbClr val="152D3A"/>
                </a:solidFill>
                <a:latin typeface="Arial"/>
                <a:ea typeface="Arial"/>
                <a:cs typeface="Arial"/>
              </a:defRPr>
            </a:lvl2pPr>
            <a:lvl3pPr>
              <a:defRPr sz="2175" b="0">
                <a:solidFill>
                  <a:srgbClr val="152D3A"/>
                </a:solidFill>
                <a:latin typeface="Arial"/>
                <a:ea typeface="Arial"/>
                <a:cs typeface="Arial"/>
              </a:defRPr>
            </a:lvl3pPr>
            <a:lvl4pPr>
              <a:defRPr sz="2175" b="0">
                <a:solidFill>
                  <a:srgbClr val="152D3A"/>
                </a:solidFill>
                <a:latin typeface="Arial"/>
                <a:ea typeface="Arial"/>
                <a:cs typeface="Arial"/>
              </a:defRPr>
            </a:lvl4pPr>
            <a:lvl5pPr>
              <a:defRPr sz="2175" b="0">
                <a:solidFill>
                  <a:srgbClr val="152D3A"/>
                </a:solidFill>
                <a:latin typeface="Arial"/>
                <a:ea typeface="Arial"/>
                <a:cs typeface="Arial"/>
              </a:defRPr>
            </a:lvl5pPr>
            <a:lvl6pPr>
              <a:defRPr sz="2175" b="0">
                <a:solidFill>
                  <a:srgbClr val="152D3A"/>
                </a:solidFill>
                <a:latin typeface="Arial"/>
                <a:ea typeface="Arial"/>
                <a:cs typeface="Arial"/>
              </a:defRPr>
            </a:lvl6pPr>
            <a:lvl7pPr>
              <a:defRPr sz="2175" b="0">
                <a:solidFill>
                  <a:srgbClr val="152D3A"/>
                </a:solidFill>
                <a:latin typeface="Arial"/>
                <a:ea typeface="Arial"/>
                <a:cs typeface="Arial"/>
              </a:defRPr>
            </a:lvl7pPr>
            <a:lvl8pPr>
              <a:defRPr sz="2175" b="0">
                <a:solidFill>
                  <a:srgbClr val="152D3A"/>
                </a:solidFill>
                <a:latin typeface="Arial"/>
                <a:ea typeface="Arial"/>
                <a:cs typeface="Arial"/>
              </a:defRPr>
            </a:lvl8pPr>
            <a:lvl9pPr>
              <a:defRPr sz="2175" b="0">
                <a:solidFill>
                  <a:srgbClr val="152D3A"/>
                </a:solidFill>
                <a:latin typeface="Arial"/>
                <a:ea typeface="Arial"/>
                <a:cs typeface="Arial"/>
              </a:defRPr>
            </a:lvl9pPr>
          </a:lstStyle>
          <a:p xmlns:a="http://schemas.openxmlformats.org/drawingml/2006/main">
            <a:pPr>
              <a:defRPr sz="2175" b="0">
                <a:solidFill>
                  <a:srgbClr val="152D3A"/>
                </a:solidFill>
                <a:latin typeface="Arial"/>
                <a:ea typeface="Arial"/>
                <a:cs typeface="Arial"/>
              </a:defRPr>
            </a:pPr>
            <a:r>
              <a:rPr sz="2175" b="0">
                <a:solidFill>
                  <a:srgbClr val="152D3A"/>
                </a:solidFill>
                <a:latin typeface="Arial"/>
                <a:ea typeface="Arial"/>
                <a:cs typeface="Arial"/>
              </a:rPr>
              <a:t>Classify five diagnostic categories from a 10-second, 12-lead ECG.</a:t>
            </a:r>
          </a:p>
        </p:txBody>
      </p:sp>
      <p:sp>
        <p:nvSpPr>
          <p:cNvPr id="6" name="02">
            <a:extLst xmlns:a="http://schemas.openxmlformats.org/drawingml/2006/main">
              <a:ext uri="{FF2B5EF4-FFF2-40B4-BE49-F238E27FC236}">
                <a16:creationId xmlns:a16="http://schemas.microsoft.com/office/drawing/2014/main" id="{B25C3E90-C1EF-41B3-8126-EFDE8D3F3D1A}"/>
              </a:ext>
            </a:extLst>
          </p:cNvPr>
          <p:cNvSpPr>
            <a:spLocks xmlns:a="http://schemas.openxmlformats.org/drawingml/2006/main" noGrp="1"/>
          </p:cNvSpPr>
          <p:nvPr/>
        </p:nvSpPr>
        <p:spPr>
          <a:xfrm xmlns:a="http://schemas.openxmlformats.org/drawingml/2006/main">
            <a:off x="609600" y="3476625"/>
            <a:ext cx="438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xmlns:a="http://schemas.openxmlformats.org/drawingml/2006/main">
            <a:pPr>
              <a:defRPr sz="1800" b="1">
                <a:solidFill>
                  <a:srgbClr val="087E8B"/>
                </a:solidFill>
                <a:latin typeface="Arial"/>
                <a:ea typeface="Arial"/>
                <a:cs typeface="Arial"/>
              </a:defRPr>
            </a:pPr>
            <a:r>
              <a:rPr sz="1800" b="1">
                <a:solidFill>
                  <a:srgbClr val="087E8B"/>
                </a:solidFill>
                <a:latin typeface="Arial"/>
                <a:ea typeface="Arial"/>
                <a:cs typeface="Arial"/>
              </a:rPr>
              <a:t>02</a:t>
            </a:r>
          </a:p>
        </p:txBody>
      </p:sp>
      <p:sp>
        <p:nvSpPr>
          <p:cNvPr id="7" name="Compare a compact CNN with residual, inceptio">
            <a:extLst xmlns:a="http://schemas.openxmlformats.org/drawingml/2006/main">
              <a:ext uri="{FF2B5EF4-FFF2-40B4-BE49-F238E27FC236}">
                <a16:creationId xmlns:a16="http://schemas.microsoft.com/office/drawing/2014/main" id="{277A4790-77F0-4D33-A975-47489C5191DD}"/>
              </a:ext>
            </a:extLst>
          </p:cNvPr>
          <p:cNvSpPr>
            <a:spLocks xmlns:a="http://schemas.openxmlformats.org/drawingml/2006/main" noGrp="1"/>
          </p:cNvSpPr>
          <p:nvPr/>
        </p:nvSpPr>
        <p:spPr>
          <a:xfrm xmlns:a="http://schemas.openxmlformats.org/drawingml/2006/main">
            <a:off x="1228725" y="3476625"/>
            <a:ext cx="10048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D3A"/>
                </a:solidFill>
                <a:latin typeface="Arial"/>
                <a:ea typeface="Arial"/>
                <a:cs typeface="Arial"/>
              </a:defRPr>
            </a:defPPr>
            <a:lvl1pPr>
              <a:defRPr sz="2175" b="0">
                <a:solidFill>
                  <a:srgbClr val="152D3A"/>
                </a:solidFill>
                <a:latin typeface="Arial"/>
                <a:ea typeface="Arial"/>
                <a:cs typeface="Arial"/>
              </a:defRPr>
            </a:lvl1pPr>
            <a:lvl2pPr>
              <a:defRPr sz="2175" b="0">
                <a:solidFill>
                  <a:srgbClr val="152D3A"/>
                </a:solidFill>
                <a:latin typeface="Arial"/>
                <a:ea typeface="Arial"/>
                <a:cs typeface="Arial"/>
              </a:defRPr>
            </a:lvl2pPr>
            <a:lvl3pPr>
              <a:defRPr sz="2175" b="0">
                <a:solidFill>
                  <a:srgbClr val="152D3A"/>
                </a:solidFill>
                <a:latin typeface="Arial"/>
                <a:ea typeface="Arial"/>
                <a:cs typeface="Arial"/>
              </a:defRPr>
            </a:lvl3pPr>
            <a:lvl4pPr>
              <a:defRPr sz="2175" b="0">
                <a:solidFill>
                  <a:srgbClr val="152D3A"/>
                </a:solidFill>
                <a:latin typeface="Arial"/>
                <a:ea typeface="Arial"/>
                <a:cs typeface="Arial"/>
              </a:defRPr>
            </a:lvl4pPr>
            <a:lvl5pPr>
              <a:defRPr sz="2175" b="0">
                <a:solidFill>
                  <a:srgbClr val="152D3A"/>
                </a:solidFill>
                <a:latin typeface="Arial"/>
                <a:ea typeface="Arial"/>
                <a:cs typeface="Arial"/>
              </a:defRPr>
            </a:lvl5pPr>
            <a:lvl6pPr>
              <a:defRPr sz="2175" b="0">
                <a:solidFill>
                  <a:srgbClr val="152D3A"/>
                </a:solidFill>
                <a:latin typeface="Arial"/>
                <a:ea typeface="Arial"/>
                <a:cs typeface="Arial"/>
              </a:defRPr>
            </a:lvl6pPr>
            <a:lvl7pPr>
              <a:defRPr sz="2175" b="0">
                <a:solidFill>
                  <a:srgbClr val="152D3A"/>
                </a:solidFill>
                <a:latin typeface="Arial"/>
                <a:ea typeface="Arial"/>
                <a:cs typeface="Arial"/>
              </a:defRPr>
            </a:lvl7pPr>
            <a:lvl8pPr>
              <a:defRPr sz="2175" b="0">
                <a:solidFill>
                  <a:srgbClr val="152D3A"/>
                </a:solidFill>
                <a:latin typeface="Arial"/>
                <a:ea typeface="Arial"/>
                <a:cs typeface="Arial"/>
              </a:defRPr>
            </a:lvl8pPr>
            <a:lvl9pPr>
              <a:defRPr sz="2175" b="0">
                <a:solidFill>
                  <a:srgbClr val="152D3A"/>
                </a:solidFill>
                <a:latin typeface="Arial"/>
                <a:ea typeface="Arial"/>
                <a:cs typeface="Arial"/>
              </a:defRPr>
            </a:lvl9pPr>
          </a:lstStyle>
          <a:p xmlns:a="http://schemas.openxmlformats.org/drawingml/2006/main">
            <a:pPr>
              <a:defRPr sz="2175" b="0">
                <a:solidFill>
                  <a:srgbClr val="152D3A"/>
                </a:solidFill>
                <a:latin typeface="Arial"/>
                <a:ea typeface="Arial"/>
                <a:cs typeface="Arial"/>
              </a:defRPr>
            </a:pPr>
            <a:r>
              <a:rPr sz="2175" b="0">
                <a:solidFill>
                  <a:srgbClr val="152D3A"/>
                </a:solidFill>
                <a:latin typeface="Arial"/>
                <a:ea typeface="Arial"/>
                <a:cs typeface="Arial"/>
              </a:rPr>
              <a:t>Compare a compact CNN with residual, inception, and logistic baselines.</a:t>
            </a:r>
          </a:p>
        </p:txBody>
      </p:sp>
      <p:sp>
        <p:nvSpPr>
          <p:cNvPr id="8" name="03">
            <a:extLst xmlns:a="http://schemas.openxmlformats.org/drawingml/2006/main">
              <a:ext uri="{FF2B5EF4-FFF2-40B4-BE49-F238E27FC236}">
                <a16:creationId xmlns:a16="http://schemas.microsoft.com/office/drawing/2014/main" id="{7CA2285D-80FC-4D6D-8608-88390E786D96}"/>
              </a:ext>
            </a:extLst>
          </p:cNvPr>
          <p:cNvSpPr>
            <a:spLocks xmlns:a="http://schemas.openxmlformats.org/drawingml/2006/main" noGrp="1"/>
          </p:cNvSpPr>
          <p:nvPr/>
        </p:nvSpPr>
        <p:spPr>
          <a:xfrm xmlns:a="http://schemas.openxmlformats.org/drawingml/2006/main">
            <a:off x="609600" y="4552950"/>
            <a:ext cx="438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xmlns:a="http://schemas.openxmlformats.org/drawingml/2006/main">
            <a:pPr>
              <a:defRPr sz="1800" b="1">
                <a:solidFill>
                  <a:srgbClr val="087E8B"/>
                </a:solidFill>
                <a:latin typeface="Arial"/>
                <a:ea typeface="Arial"/>
                <a:cs typeface="Arial"/>
              </a:defRPr>
            </a:pPr>
            <a:r>
              <a:rPr sz="1800" b="1">
                <a:solidFill>
                  <a:srgbClr val="087E8B"/>
                </a:solidFill>
                <a:latin typeface="Arial"/>
                <a:ea typeface="Arial"/>
                <a:cs typeface="Arial"/>
              </a:rPr>
              <a:t>03</a:t>
            </a:r>
          </a:p>
        </p:txBody>
      </p:sp>
      <p:sp>
        <p:nvSpPr>
          <p:cNvPr id="9" name="Measure held-out performance, CPU latency, an">
            <a:extLst xmlns:a="http://schemas.openxmlformats.org/drawingml/2006/main">
              <a:ext uri="{FF2B5EF4-FFF2-40B4-BE49-F238E27FC236}">
                <a16:creationId xmlns:a16="http://schemas.microsoft.com/office/drawing/2014/main" id="{10F388E0-09AA-4152-901A-5B4110D71AAD}"/>
              </a:ext>
            </a:extLst>
          </p:cNvPr>
          <p:cNvSpPr>
            <a:spLocks xmlns:a="http://schemas.openxmlformats.org/drawingml/2006/main" noGrp="1"/>
          </p:cNvSpPr>
          <p:nvPr/>
        </p:nvSpPr>
        <p:spPr>
          <a:xfrm xmlns:a="http://schemas.openxmlformats.org/drawingml/2006/main">
            <a:off x="1228725" y="4552950"/>
            <a:ext cx="10048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D3A"/>
                </a:solidFill>
                <a:latin typeface="Arial"/>
                <a:ea typeface="Arial"/>
                <a:cs typeface="Arial"/>
              </a:defRPr>
            </a:defPPr>
            <a:lvl1pPr>
              <a:defRPr sz="2175" b="0">
                <a:solidFill>
                  <a:srgbClr val="152D3A"/>
                </a:solidFill>
                <a:latin typeface="Arial"/>
                <a:ea typeface="Arial"/>
                <a:cs typeface="Arial"/>
              </a:defRPr>
            </a:lvl1pPr>
            <a:lvl2pPr>
              <a:defRPr sz="2175" b="0">
                <a:solidFill>
                  <a:srgbClr val="152D3A"/>
                </a:solidFill>
                <a:latin typeface="Arial"/>
                <a:ea typeface="Arial"/>
                <a:cs typeface="Arial"/>
              </a:defRPr>
            </a:lvl2pPr>
            <a:lvl3pPr>
              <a:defRPr sz="2175" b="0">
                <a:solidFill>
                  <a:srgbClr val="152D3A"/>
                </a:solidFill>
                <a:latin typeface="Arial"/>
                <a:ea typeface="Arial"/>
                <a:cs typeface="Arial"/>
              </a:defRPr>
            </a:lvl3pPr>
            <a:lvl4pPr>
              <a:defRPr sz="2175" b="0">
                <a:solidFill>
                  <a:srgbClr val="152D3A"/>
                </a:solidFill>
                <a:latin typeface="Arial"/>
                <a:ea typeface="Arial"/>
                <a:cs typeface="Arial"/>
              </a:defRPr>
            </a:lvl4pPr>
            <a:lvl5pPr>
              <a:defRPr sz="2175" b="0">
                <a:solidFill>
                  <a:srgbClr val="152D3A"/>
                </a:solidFill>
                <a:latin typeface="Arial"/>
                <a:ea typeface="Arial"/>
                <a:cs typeface="Arial"/>
              </a:defRPr>
            </a:lvl5pPr>
            <a:lvl6pPr>
              <a:defRPr sz="2175" b="0">
                <a:solidFill>
                  <a:srgbClr val="152D3A"/>
                </a:solidFill>
                <a:latin typeface="Arial"/>
                <a:ea typeface="Arial"/>
                <a:cs typeface="Arial"/>
              </a:defRPr>
            </a:lvl6pPr>
            <a:lvl7pPr>
              <a:defRPr sz="2175" b="0">
                <a:solidFill>
                  <a:srgbClr val="152D3A"/>
                </a:solidFill>
                <a:latin typeface="Arial"/>
                <a:ea typeface="Arial"/>
                <a:cs typeface="Arial"/>
              </a:defRPr>
            </a:lvl7pPr>
            <a:lvl8pPr>
              <a:defRPr sz="2175" b="0">
                <a:solidFill>
                  <a:srgbClr val="152D3A"/>
                </a:solidFill>
                <a:latin typeface="Arial"/>
                <a:ea typeface="Arial"/>
                <a:cs typeface="Arial"/>
              </a:defRPr>
            </a:lvl8pPr>
            <a:lvl9pPr>
              <a:defRPr sz="2175" b="0">
                <a:solidFill>
                  <a:srgbClr val="152D3A"/>
                </a:solidFill>
                <a:latin typeface="Arial"/>
                <a:ea typeface="Arial"/>
                <a:cs typeface="Arial"/>
              </a:defRPr>
            </a:lvl9pPr>
          </a:lstStyle>
          <a:p xmlns:a="http://schemas.openxmlformats.org/drawingml/2006/main">
            <a:pPr>
              <a:defRPr sz="2175" b="0">
                <a:solidFill>
                  <a:srgbClr val="152D3A"/>
                </a:solidFill>
                <a:latin typeface="Arial"/>
                <a:ea typeface="Arial"/>
                <a:cs typeface="Arial"/>
              </a:defRPr>
            </a:pPr>
            <a:r>
              <a:rPr sz="2175" b="0">
                <a:solidFill>
                  <a:srgbClr val="152D3A"/>
                </a:solidFill>
                <a:latin typeface="Arial"/>
                <a:ea typeface="Arial"/>
                <a:cs typeface="Arial"/>
              </a:rPr>
              <a:t>Measure held-out performance, CPU latency, and model sensitivity.</a:t>
            </a:r>
          </a:p>
        </p:txBody>
      </p:sp>
      <p:sp>
        <p:nvSpPr>
          <p:cNvPr id="10" name="NORM: normal ECG   MI: myocardial infarction ">
            <a:extLst xmlns:a="http://schemas.openxmlformats.org/drawingml/2006/main">
              <a:ext uri="{FF2B5EF4-FFF2-40B4-BE49-F238E27FC236}">
                <a16:creationId xmlns:a16="http://schemas.microsoft.com/office/drawing/2014/main" id="{DC928215-0C3C-4054-B1BA-C9A248BC39F8}"/>
              </a:ext>
            </a:extLst>
          </p:cNvPr>
          <p:cNvSpPr>
            <a:spLocks xmlns:a="http://schemas.openxmlformats.org/drawingml/2006/main" noGrp="1"/>
          </p:cNvSpPr>
          <p:nvPr/>
        </p:nvSpPr>
        <p:spPr>
          <a:xfrm xmlns:a="http://schemas.openxmlformats.org/drawingml/2006/main">
            <a:off x="609600" y="59912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775"/>
                </a:solidFill>
                <a:latin typeface="Arial"/>
                <a:ea typeface="Arial"/>
                <a:cs typeface="Arial"/>
              </a:defRPr>
            </a:defPPr>
            <a:lvl1pPr>
              <a:defRPr sz="1275" b="0">
                <a:solidFill>
                  <a:srgbClr val="536775"/>
                </a:solidFill>
                <a:latin typeface="Arial"/>
                <a:ea typeface="Arial"/>
                <a:cs typeface="Arial"/>
              </a:defRPr>
            </a:lvl1pPr>
            <a:lvl2pPr>
              <a:defRPr sz="1275" b="0">
                <a:solidFill>
                  <a:srgbClr val="536775"/>
                </a:solidFill>
                <a:latin typeface="Arial"/>
                <a:ea typeface="Arial"/>
                <a:cs typeface="Arial"/>
              </a:defRPr>
            </a:lvl2pPr>
            <a:lvl3pPr>
              <a:defRPr sz="1275" b="0">
                <a:solidFill>
                  <a:srgbClr val="536775"/>
                </a:solidFill>
                <a:latin typeface="Arial"/>
                <a:ea typeface="Arial"/>
                <a:cs typeface="Arial"/>
              </a:defRPr>
            </a:lvl3pPr>
            <a:lvl4pPr>
              <a:defRPr sz="1275" b="0">
                <a:solidFill>
                  <a:srgbClr val="536775"/>
                </a:solidFill>
                <a:latin typeface="Arial"/>
                <a:ea typeface="Arial"/>
                <a:cs typeface="Arial"/>
              </a:defRPr>
            </a:lvl4pPr>
            <a:lvl5pPr>
              <a:defRPr sz="1275" b="0">
                <a:solidFill>
                  <a:srgbClr val="536775"/>
                </a:solidFill>
                <a:latin typeface="Arial"/>
                <a:ea typeface="Arial"/>
                <a:cs typeface="Arial"/>
              </a:defRPr>
            </a:lvl5pPr>
            <a:lvl6pPr>
              <a:defRPr sz="1275" b="0">
                <a:solidFill>
                  <a:srgbClr val="536775"/>
                </a:solidFill>
                <a:latin typeface="Arial"/>
                <a:ea typeface="Arial"/>
                <a:cs typeface="Arial"/>
              </a:defRPr>
            </a:lvl6pPr>
            <a:lvl7pPr>
              <a:defRPr sz="1275" b="0">
                <a:solidFill>
                  <a:srgbClr val="536775"/>
                </a:solidFill>
                <a:latin typeface="Arial"/>
                <a:ea typeface="Arial"/>
                <a:cs typeface="Arial"/>
              </a:defRPr>
            </a:lvl7pPr>
            <a:lvl8pPr>
              <a:defRPr sz="1275" b="0">
                <a:solidFill>
                  <a:srgbClr val="536775"/>
                </a:solidFill>
                <a:latin typeface="Arial"/>
                <a:ea typeface="Arial"/>
                <a:cs typeface="Arial"/>
              </a:defRPr>
            </a:lvl8pPr>
            <a:lvl9pPr>
              <a:defRPr sz="1275" b="0">
                <a:solidFill>
                  <a:srgbClr val="536775"/>
                </a:solidFill>
                <a:latin typeface="Arial"/>
                <a:ea typeface="Arial"/>
                <a:cs typeface="Arial"/>
              </a:defRPr>
            </a:lvl9pPr>
          </a:lstStyle>
          <a:p xmlns:a="http://schemas.openxmlformats.org/drawingml/2006/main">
            <a:pPr>
              <a:defRPr sz="1275" b="0">
                <a:solidFill>
                  <a:srgbClr val="536775"/>
                </a:solidFill>
                <a:latin typeface="Arial"/>
                <a:ea typeface="Arial"/>
                <a:cs typeface="Arial"/>
              </a:defRPr>
            </a:pPr>
            <a:r>
              <a:rPr sz="1275" b="0">
                <a:solidFill>
                  <a:srgbClr val="536775"/>
                </a:solidFill>
                <a:latin typeface="Arial"/>
                <a:ea typeface="Arial"/>
                <a:cs typeface="Arial"/>
              </a:rPr>
              <a:t>NORM: normal ECG   MI: myocardial infarction   STTC: ST/T change   CD: conduction disturbance   HYP: hypertrophy</a:t>
            </a:r>
          </a:p>
        </p:txBody>
      </p:sp>
    </p:spTree>
    <p:extLst>
      <p:ext uri="{BB962C8B-B14F-4D97-AF65-F5344CB8AC3E}">
        <p14:creationId xmlns:p14="http://schemas.microsoft.com/office/powerpoint/2010/main" val="1665826012"/>
      </p:ext>
    </p:extLst>
  </p:cSld>
</p:sld>
</file>

<file path=ppt/slides/slide3.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6" name="Research context and study scope">
            <a:extLst xmlns:a="http://schemas.openxmlformats.org/drawingml/2006/main">
              <a:ext uri="{FF2B5EF4-FFF2-40B4-BE49-F238E27FC236}">
                <a16:creationId xmlns:a16="http://schemas.microsoft.com/office/drawing/2014/main" id="{872C8FE3-7E36-405C-940D-832FFD16E6E3}"/>
              </a:ext>
            </a:extLst>
          </p:cNvPr>
          <p:cNvSpPr>
            <a:spLocks xmlns:a="http://schemas.openxmlformats.org/drawingml/2006/main" noGrp="1"/>
          </p:cNvSpPr>
          <p:nvPr/>
        </p:nvSpPr>
        <p:spPr>
          <a:xfrm xmlns:a="http://schemas.openxmlformats.org/drawingml/2006/main">
            <a:off x="609600" y="40005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D3A"/>
                </a:solidFill>
                <a:latin typeface="Arial"/>
                <a:ea typeface="Arial"/>
                <a:cs typeface="Arial"/>
              </a:defRPr>
            </a:defPPr>
            <a:lvl1pPr>
              <a:defRPr sz="3150" b="1">
                <a:solidFill>
                  <a:srgbClr val="152D3A"/>
                </a:solidFill>
                <a:latin typeface="Arial"/>
                <a:ea typeface="Arial"/>
                <a:cs typeface="Arial"/>
              </a:defRPr>
            </a:lvl1pPr>
            <a:lvl2pPr>
              <a:defRPr sz="3150" b="1">
                <a:solidFill>
                  <a:srgbClr val="152D3A"/>
                </a:solidFill>
                <a:latin typeface="Arial"/>
                <a:ea typeface="Arial"/>
                <a:cs typeface="Arial"/>
              </a:defRPr>
            </a:lvl2pPr>
            <a:lvl3pPr>
              <a:defRPr sz="3150" b="1">
                <a:solidFill>
                  <a:srgbClr val="152D3A"/>
                </a:solidFill>
                <a:latin typeface="Arial"/>
                <a:ea typeface="Arial"/>
                <a:cs typeface="Arial"/>
              </a:defRPr>
            </a:lvl3pPr>
            <a:lvl4pPr>
              <a:defRPr sz="3150" b="1">
                <a:solidFill>
                  <a:srgbClr val="152D3A"/>
                </a:solidFill>
                <a:latin typeface="Arial"/>
                <a:ea typeface="Arial"/>
                <a:cs typeface="Arial"/>
              </a:defRPr>
            </a:lvl4pPr>
            <a:lvl5pPr>
              <a:defRPr sz="3150" b="1">
                <a:solidFill>
                  <a:srgbClr val="152D3A"/>
                </a:solidFill>
                <a:latin typeface="Arial"/>
                <a:ea typeface="Arial"/>
                <a:cs typeface="Arial"/>
              </a:defRPr>
            </a:lvl5pPr>
            <a:lvl6pPr>
              <a:defRPr sz="3150" b="1">
                <a:solidFill>
                  <a:srgbClr val="152D3A"/>
                </a:solidFill>
                <a:latin typeface="Arial"/>
                <a:ea typeface="Arial"/>
                <a:cs typeface="Arial"/>
              </a:defRPr>
            </a:lvl6pPr>
            <a:lvl7pPr>
              <a:defRPr sz="3150" b="1">
                <a:solidFill>
                  <a:srgbClr val="152D3A"/>
                </a:solidFill>
                <a:latin typeface="Arial"/>
                <a:ea typeface="Arial"/>
                <a:cs typeface="Arial"/>
              </a:defRPr>
            </a:lvl7pPr>
            <a:lvl8pPr>
              <a:defRPr sz="3150" b="1">
                <a:solidFill>
                  <a:srgbClr val="152D3A"/>
                </a:solidFill>
                <a:latin typeface="Arial"/>
                <a:ea typeface="Arial"/>
                <a:cs typeface="Arial"/>
              </a:defRPr>
            </a:lvl8pPr>
            <a:lvl9pPr>
              <a:defRPr sz="3150" b="1">
                <a:solidFill>
                  <a:srgbClr val="152D3A"/>
                </a:solidFill>
                <a:latin typeface="Arial"/>
                <a:ea typeface="Arial"/>
                <a:cs typeface="Arial"/>
              </a:defRPr>
            </a:lvl9pPr>
          </a:lstStyle>
          <a:p xmlns:a="http://schemas.openxmlformats.org/drawingml/2006/main">
            <a:pPr>
              <a:defRPr sz="3150" b="1">
                <a:solidFill>
                  <a:srgbClr val="152D3A"/>
                </a:solidFill>
                <a:latin typeface="Arial"/>
                <a:ea typeface="Arial"/>
                <a:cs typeface="Arial"/>
              </a:defRPr>
            </a:pPr>
            <a:r>
              <a:rPr sz="3150" b="1">
                <a:solidFill>
                  <a:srgbClr val="152D3A"/>
                </a:solidFill>
                <a:latin typeface="Arial"/>
                <a:ea typeface="Arial"/>
                <a:cs typeface="Arial"/>
              </a:rPr>
              <a:t>Research context and study scope</a:t>
            </a:r>
          </a:p>
        </p:txBody>
      </p:sp>
      <p:sp>
        <p:nvSpPr>
          <p:cNvPr id="2" name="03">
            <a:extLst xmlns:a="http://schemas.openxmlformats.org/drawingml/2006/main">
              <a:ext uri="{FF2B5EF4-FFF2-40B4-BE49-F238E27FC236}">
                <a16:creationId xmlns:a16="http://schemas.microsoft.com/office/drawing/2014/main" id="{EAA994D1-C189-438F-8711-8D1FA7CDCA57}"/>
              </a:ext>
            </a:extLst>
          </p:cNvPr>
          <p:cNvSpPr>
            <a:spLocks xmlns:a="http://schemas.openxmlformats.org/drawingml/2006/main" noGrp="1"/>
          </p:cNvSpPr>
          <p:nvPr/>
        </p:nvSpPr>
        <p:spPr>
          <a:xfrm xmlns:a="http://schemas.openxmlformats.org/drawingml/2006/main">
            <a:off x="11144250" y="63817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775"/>
                </a:solidFill>
                <a:latin typeface="Arial"/>
                <a:ea typeface="Arial"/>
                <a:cs typeface="Arial"/>
              </a:defRPr>
            </a:defPPr>
            <a:lvl1pPr>
              <a:defRPr sz="1200" b="0">
                <a:solidFill>
                  <a:srgbClr val="536775"/>
                </a:solidFill>
                <a:latin typeface="Arial"/>
                <a:ea typeface="Arial"/>
                <a:cs typeface="Arial"/>
              </a:defRPr>
            </a:lvl1pPr>
            <a:lvl2pPr>
              <a:defRPr sz="1200" b="0">
                <a:solidFill>
                  <a:srgbClr val="536775"/>
                </a:solidFill>
                <a:latin typeface="Arial"/>
                <a:ea typeface="Arial"/>
                <a:cs typeface="Arial"/>
              </a:defRPr>
            </a:lvl2pPr>
            <a:lvl3pPr>
              <a:defRPr sz="1200" b="0">
                <a:solidFill>
                  <a:srgbClr val="536775"/>
                </a:solidFill>
                <a:latin typeface="Arial"/>
                <a:ea typeface="Arial"/>
                <a:cs typeface="Arial"/>
              </a:defRPr>
            </a:lvl3pPr>
            <a:lvl4pPr>
              <a:defRPr sz="1200" b="0">
                <a:solidFill>
                  <a:srgbClr val="536775"/>
                </a:solidFill>
                <a:latin typeface="Arial"/>
                <a:ea typeface="Arial"/>
                <a:cs typeface="Arial"/>
              </a:defRPr>
            </a:lvl4pPr>
            <a:lvl5pPr>
              <a:defRPr sz="1200" b="0">
                <a:solidFill>
                  <a:srgbClr val="536775"/>
                </a:solidFill>
                <a:latin typeface="Arial"/>
                <a:ea typeface="Arial"/>
                <a:cs typeface="Arial"/>
              </a:defRPr>
            </a:lvl5pPr>
            <a:lvl6pPr>
              <a:defRPr sz="1200" b="0">
                <a:solidFill>
                  <a:srgbClr val="536775"/>
                </a:solidFill>
                <a:latin typeface="Arial"/>
                <a:ea typeface="Arial"/>
                <a:cs typeface="Arial"/>
              </a:defRPr>
            </a:lvl6pPr>
            <a:lvl7pPr>
              <a:defRPr sz="1200" b="0">
                <a:solidFill>
                  <a:srgbClr val="536775"/>
                </a:solidFill>
                <a:latin typeface="Arial"/>
                <a:ea typeface="Arial"/>
                <a:cs typeface="Arial"/>
              </a:defRPr>
            </a:lvl7pPr>
            <a:lvl8pPr>
              <a:defRPr sz="1200" b="0">
                <a:solidFill>
                  <a:srgbClr val="536775"/>
                </a:solidFill>
                <a:latin typeface="Arial"/>
                <a:ea typeface="Arial"/>
                <a:cs typeface="Arial"/>
              </a:defRPr>
            </a:lvl8pPr>
            <a:lvl9pPr>
              <a:defRPr sz="1200" b="0">
                <a:solidFill>
                  <a:srgbClr val="536775"/>
                </a:solidFill>
                <a:latin typeface="Arial"/>
                <a:ea typeface="Arial"/>
                <a:cs typeface="Arial"/>
              </a:defRPr>
            </a:lvl9pPr>
          </a:lstStyle>
          <a:p xmlns:a="http://schemas.openxmlformats.org/drawingml/2006/main">
            <a:pPr>
              <a:defRPr sz="1200" b="0">
                <a:solidFill>
                  <a:srgbClr val="536775"/>
                </a:solidFill>
                <a:latin typeface="Arial"/>
                <a:ea typeface="Arial"/>
                <a:cs typeface="Arial"/>
              </a:defRPr>
            </a:pPr>
            <a:r>
              <a:rPr sz="1200" b="0">
                <a:solidFill>
                  <a:srgbClr val="536775"/>
                </a:solidFill>
                <a:latin typeface="Arial"/>
                <a:ea typeface="Arial"/>
                <a:cs typeface="Arial"/>
              </a:rPr>
              <a:t>03</a:t>
            </a:r>
          </a:p>
        </p:txBody>
      </p:sp>
      <p:graphicFrame>
        <p:nvGraphicFramePr>
          <p:cNvPr id="3" name="">
            <a:extLst xmlns:a="http://schemas.openxmlformats.org/drawingml/2006/main">
              <a:ext uri="{FF2B5EF4-FFF2-40B4-BE49-F238E27FC236}">
                <a16:creationId xmlns:a16="http://schemas.microsoft.com/office/drawing/2014/main" id="{CF9A7C77-1EF7-4118-8375-AA322EAB0D22}"/>
              </a:ext>
            </a:extLst>
          </p:cNvPr>
          <p:cNvGraphicFramePr/>
          <p:nvPr/>
        </p:nvGraphicFramePr>
        <p:xfrm>
          <a:off xmlns:a="http://schemas.openxmlformats.org/drawingml/2006/main" x="609600" y="1438275"/>
          <a:ext xmlns:a="http://schemas.openxmlformats.org/drawingml/2006/main" cx="10972800" cy="3371850"/>
        </p:xfrm>
        <a:graphic xmlns:a="http://schemas.openxmlformats.org/drawingml/2006/main">
          <a:graphicData uri="http://schemas.openxmlformats.org/drawingml/2006/table">
            <a:tbl>
              <a:tblPr/>
              <a:tblGrid>
                <a:gridCol w="4191000"/>
                <a:gridCol w="6781800"/>
              </a:tblGrid>
              <a:tr h="674370">
                <a:tc>
                  <a:txBody>
                    <a:bodyPr/>
                    <a:lstStyle/>
                    <a:p>
                      <a:r>
                        <a:rPr sz="1875" b="1">
                          <a:solidFill>
                            <a:srgbClr val="FFFFFF"/>
                          </a:solidFill>
                          <a:latin typeface="Arial"/>
                          <a:ea typeface="Arial"/>
                          <a:cs typeface="Arial"/>
                        </a:rPr>
                        <a:t>Research direction</a:t>
                      </a:r>
                    </a:p>
                  </a:txBody>
                  <a:tcPr marL="133350" marR="114300" marT="95250" marB="95250" anchor="ctr">
                    <a:lnL w="9525">
                      <a:solidFill>
                        <a:srgbClr val="D5DFE4"/>
                      </a:solidFill>
                      <a:prstDash val="solid"/>
                    </a:lnL>
                    <a:lnR w="9525">
                      <a:solidFill>
                        <a:srgbClr val="D5DFE4"/>
                      </a:solidFill>
                      <a:prstDash val="solid"/>
                    </a:lnR>
                    <a:lnT w="9525">
                      <a:solidFill>
                        <a:srgbClr val="D5DFE4"/>
                      </a:solidFill>
                      <a:prstDash val="solid"/>
                    </a:lnT>
                    <a:lnB w="9525">
                      <a:solidFill>
                        <a:srgbClr val="D5DFE4"/>
                      </a:solidFill>
                      <a:prstDash val="solid"/>
                    </a:lnB>
                    <a:solidFill>
                      <a:srgbClr val="152D3A"/>
                    </a:solidFill>
                  </a:tcPr>
                </a:tc>
                <a:tc>
                  <a:txBody>
                    <a:bodyPr/>
                    <a:lstStyle/>
                    <a:p>
                      <a:r>
                        <a:rPr sz="1875" b="1">
                          <a:solidFill>
                            <a:srgbClr val="FFFFFF"/>
                          </a:solidFill>
                          <a:latin typeface="Arial"/>
                          <a:ea typeface="Arial"/>
                          <a:cs typeface="Arial"/>
                        </a:rPr>
                        <a:t>Relevance to this project</a:t>
                      </a:r>
                    </a:p>
                  </a:txBody>
                  <a:tcPr marL="133350" marR="114300" marT="95250" marB="95250" anchor="ctr">
                    <a:lnR w="9525">
                      <a:solidFill>
                        <a:srgbClr val="D5DFE4"/>
                      </a:solidFill>
                      <a:prstDash val="solid"/>
                    </a:lnR>
                    <a:lnT w="9525">
                      <a:solidFill>
                        <a:srgbClr val="D5DFE4"/>
                      </a:solidFill>
                      <a:prstDash val="solid"/>
                    </a:lnT>
                    <a:lnB w="9525">
                      <a:solidFill>
                        <a:srgbClr val="D5DFE4"/>
                      </a:solidFill>
                      <a:prstDash val="solid"/>
                    </a:lnB>
                    <a:solidFill>
                      <a:srgbClr val="152D3A"/>
                    </a:solidFill>
                  </a:tcPr>
                </a:tc>
              </a:tr>
              <a:tr h="674370">
                <a:tc>
                  <a:txBody>
                    <a:bodyPr/>
                    <a:lstStyle/>
                    <a:p>
                      <a:r>
                        <a:rPr sz="1875" b="0">
                          <a:solidFill>
                            <a:srgbClr val="152D3A"/>
                          </a:solidFill>
                          <a:latin typeface="Arial"/>
                          <a:ea typeface="Arial"/>
                          <a:cs typeface="Arial"/>
                        </a:rPr>
                        <a:t>PTB-XL benchmark [2]</a:t>
                      </a:r>
                    </a:p>
                  </a:txBody>
                  <a:tcPr marL="133350" marR="114300" marT="95250" marB="95250" anchor="ctr">
                    <a:lnL w="9525">
                      <a:solidFill>
                        <a:srgbClr val="D5DFE4"/>
                      </a:solidFill>
                      <a:prstDash val="solid"/>
                    </a:lnL>
                    <a:lnR w="9525">
                      <a:solidFill>
                        <a:srgbClr val="D5DFE4"/>
                      </a:solidFill>
                      <a:prstDash val="solid"/>
                    </a:lnR>
                    <a:lnB w="9525">
                      <a:solidFill>
                        <a:srgbClr val="D5DFE4"/>
                      </a:solidFill>
                      <a:prstDash val="solid"/>
                    </a:lnB>
                    <a:solidFill>
                      <a:srgbClr val="FFFFFF"/>
                    </a:solidFill>
                  </a:tcPr>
                </a:tc>
                <a:tc>
                  <a:txBody>
                    <a:bodyPr/>
                    <a:lstStyle/>
                    <a:p>
                      <a:r>
                        <a:rPr sz="1875" b="0">
                          <a:solidFill>
                            <a:srgbClr val="152D3A"/>
                          </a:solidFill>
                          <a:latin typeface="Arial"/>
                          <a:ea typeface="Arial"/>
                          <a:cs typeface="Arial"/>
                        </a:rPr>
                        <a:t>Residual and inception network comparison families</a:t>
                      </a:r>
                    </a:p>
                  </a:txBody>
                  <a:tcPr marL="133350" marR="114300" marT="95250" marB="95250" anchor="ctr">
                    <a:lnR w="9525">
                      <a:solidFill>
                        <a:srgbClr val="D5DFE4"/>
                      </a:solidFill>
                      <a:prstDash val="solid"/>
                    </a:lnR>
                    <a:lnB w="9525">
                      <a:solidFill>
                        <a:srgbClr val="D5DFE4"/>
                      </a:solidFill>
                      <a:prstDash val="solid"/>
                    </a:lnB>
                    <a:solidFill>
                      <a:srgbClr val="FFFFFF"/>
                    </a:solidFill>
                  </a:tcPr>
                </a:tc>
              </a:tr>
              <a:tr h="674370">
                <a:tc>
                  <a:txBody>
                    <a:bodyPr/>
                    <a:lstStyle/>
                    <a:p>
                      <a:r>
                        <a:rPr sz="1875" b="0">
                          <a:solidFill>
                            <a:srgbClr val="152D3A"/>
                          </a:solidFill>
                          <a:latin typeface="Arial"/>
                          <a:ea typeface="Arial"/>
                          <a:cs typeface="Arial"/>
                        </a:rPr>
                        <a:t>Self-supervised ECG learning [3]</a:t>
                      </a:r>
                    </a:p>
                  </a:txBody>
                  <a:tcPr marL="133350" marR="114300" marT="95250" marB="95250" anchor="ctr">
                    <a:lnL w="9525">
                      <a:solidFill>
                        <a:srgbClr val="D5DFE4"/>
                      </a:solidFill>
                      <a:prstDash val="solid"/>
                    </a:lnL>
                    <a:lnR w="9525">
                      <a:solidFill>
                        <a:srgbClr val="D5DFE4"/>
                      </a:solidFill>
                      <a:prstDash val="solid"/>
                    </a:lnR>
                    <a:lnB w="9525">
                      <a:solidFill>
                        <a:srgbClr val="D5DFE4"/>
                      </a:solidFill>
                      <a:prstDash val="solid"/>
                    </a:lnB>
                    <a:solidFill>
                      <a:srgbClr val="EDF3F5"/>
                    </a:solidFill>
                  </a:tcPr>
                </a:tc>
                <a:tc>
                  <a:txBody>
                    <a:bodyPr/>
                    <a:lstStyle/>
                    <a:p>
                      <a:r>
                        <a:rPr sz="1875" b="0">
                          <a:solidFill>
                            <a:srgbClr val="152D3A"/>
                          </a:solidFill>
                          <a:latin typeface="Arial"/>
                          <a:ea typeface="Arial"/>
                          <a:cs typeface="Arial"/>
                        </a:rPr>
                        <a:t>Context for learning useful waveform representations</a:t>
                      </a:r>
                    </a:p>
                  </a:txBody>
                  <a:tcPr marL="133350" marR="114300" marT="95250" marB="95250" anchor="ctr">
                    <a:lnR w="9525">
                      <a:solidFill>
                        <a:srgbClr val="D5DFE4"/>
                      </a:solidFill>
                      <a:prstDash val="solid"/>
                    </a:lnR>
                    <a:lnB w="9525">
                      <a:solidFill>
                        <a:srgbClr val="D5DFE4"/>
                      </a:solidFill>
                      <a:prstDash val="solid"/>
                    </a:lnB>
                    <a:solidFill>
                      <a:srgbClr val="EDF3F5"/>
                    </a:solidFill>
                  </a:tcPr>
                </a:tc>
              </a:tr>
              <a:tr h="674370">
                <a:tc>
                  <a:txBody>
                    <a:bodyPr/>
                    <a:lstStyle/>
                    <a:p>
                      <a:r>
                        <a:rPr sz="1875" b="0">
                          <a:solidFill>
                            <a:srgbClr val="152D3A"/>
                          </a:solidFill>
                          <a:latin typeface="Arial"/>
                          <a:ea typeface="Arial"/>
                          <a:cs typeface="Arial"/>
                        </a:rPr>
                        <a:t>PTB-XL+ [8]</a:t>
                      </a:r>
                    </a:p>
                  </a:txBody>
                  <a:tcPr marL="133350" marR="114300" marT="95250" marB="95250" anchor="ctr">
                    <a:lnL w="9525">
                      <a:solidFill>
                        <a:srgbClr val="D5DFE4"/>
                      </a:solidFill>
                      <a:prstDash val="solid"/>
                    </a:lnL>
                    <a:lnR w="9525">
                      <a:solidFill>
                        <a:srgbClr val="D5DFE4"/>
                      </a:solidFill>
                      <a:prstDash val="solid"/>
                    </a:lnR>
                    <a:lnB w="9525">
                      <a:solidFill>
                        <a:srgbClr val="D5DFE4"/>
                      </a:solidFill>
                      <a:prstDash val="solid"/>
                    </a:lnB>
                    <a:solidFill>
                      <a:srgbClr val="FFFFFF"/>
                    </a:solidFill>
                  </a:tcPr>
                </a:tc>
                <a:tc>
                  <a:txBody>
                    <a:bodyPr/>
                    <a:lstStyle/>
                    <a:p>
                      <a:r>
                        <a:rPr sz="1875" b="0">
                          <a:solidFill>
                            <a:srgbClr val="152D3A"/>
                          </a:solidFill>
                          <a:latin typeface="Arial"/>
                          <a:ea typeface="Arial"/>
                          <a:cs typeface="Arial"/>
                        </a:rPr>
                        <a:t>Published feature and waveform reference scores</a:t>
                      </a:r>
                    </a:p>
                  </a:txBody>
                  <a:tcPr marL="133350" marR="114300" marT="95250" marB="95250" anchor="ctr">
                    <a:lnR w="9525">
                      <a:solidFill>
                        <a:srgbClr val="D5DFE4"/>
                      </a:solidFill>
                      <a:prstDash val="solid"/>
                    </a:lnR>
                    <a:lnB w="9525">
                      <a:solidFill>
                        <a:srgbClr val="D5DFE4"/>
                      </a:solidFill>
                      <a:prstDash val="solid"/>
                    </a:lnB>
                    <a:solidFill>
                      <a:srgbClr val="FFFFFF"/>
                    </a:solidFill>
                  </a:tcPr>
                </a:tc>
              </a:tr>
              <a:tr h="674370">
                <a:tc>
                  <a:txBody>
                    <a:bodyPr/>
                    <a:lstStyle/>
                    <a:p>
                      <a:r>
                        <a:rPr sz="1875" b="0">
                          <a:solidFill>
                            <a:srgbClr val="152D3A"/>
                          </a:solidFill>
                          <a:latin typeface="Arial"/>
                          <a:ea typeface="Arial"/>
                          <a:cs typeface="Arial"/>
                        </a:rPr>
                        <a:t>Explainability [6] and MERL [15]</a:t>
                      </a:r>
                    </a:p>
                  </a:txBody>
                  <a:tcPr marL="133350" marR="114300" marT="95250" marB="95250" anchor="ctr">
                    <a:lnL w="9525">
                      <a:solidFill>
                        <a:srgbClr val="D5DFE4"/>
                      </a:solidFill>
                      <a:prstDash val="solid"/>
                    </a:lnL>
                    <a:lnR w="9525">
                      <a:solidFill>
                        <a:srgbClr val="D5DFE4"/>
                      </a:solidFill>
                      <a:prstDash val="solid"/>
                    </a:lnR>
                    <a:lnB w="9525">
                      <a:solidFill>
                        <a:srgbClr val="D5DFE4"/>
                      </a:solidFill>
                      <a:prstDash val="solid"/>
                    </a:lnB>
                    <a:solidFill>
                      <a:srgbClr val="EDF3F5"/>
                    </a:solidFill>
                  </a:tcPr>
                </a:tc>
                <a:tc>
                  <a:txBody>
                    <a:bodyPr/>
                    <a:lstStyle/>
                    <a:p>
                      <a:r>
                        <a:rPr sz="1875" b="0">
                          <a:solidFill>
                            <a:srgbClr val="152D3A"/>
                          </a:solidFill>
                          <a:latin typeface="Arial"/>
                          <a:ea typeface="Arial"/>
                          <a:cs typeface="Arial"/>
                        </a:rPr>
                        <a:t>Context for model interpretation and multimodal learning</a:t>
                      </a:r>
                    </a:p>
                  </a:txBody>
                  <a:tcPr marL="133350" marR="114300" marT="95250" marB="95250" anchor="ctr">
                    <a:lnR w="9525">
                      <a:solidFill>
                        <a:srgbClr val="D5DFE4"/>
                      </a:solidFill>
                      <a:prstDash val="solid"/>
                    </a:lnR>
                    <a:lnB w="9525">
                      <a:solidFill>
                        <a:srgbClr val="D5DFE4"/>
                      </a:solidFill>
                      <a:prstDash val="solid"/>
                    </a:lnB>
                    <a:solidFill>
                      <a:srgbClr val="EDF3F5"/>
                    </a:solidFill>
                  </a:tcPr>
                </a:tc>
              </a:tr>
            </a:tbl>
          </a:graphicData>
        </a:graphic>
      </p:graphicFrame>
      <p:sp>
        <p:nvSpPr>
          <p:cNvPr id="4" name="Our scope: controlled supervised comparisons ">
            <a:extLst xmlns:a="http://schemas.openxmlformats.org/drawingml/2006/main">
              <a:ext uri="{FF2B5EF4-FFF2-40B4-BE49-F238E27FC236}">
                <a16:creationId xmlns:a16="http://schemas.microsoft.com/office/drawing/2014/main" id="{BC9CD08A-7FFB-4FF6-9016-D178A525159C}"/>
              </a:ext>
            </a:extLst>
          </p:cNvPr>
          <p:cNvSpPr>
            <a:spLocks xmlns:a="http://schemas.openxmlformats.org/drawingml/2006/main" noGrp="1"/>
          </p:cNvSpPr>
          <p:nvPr/>
        </p:nvSpPr>
        <p:spPr>
          <a:xfrm xmlns:a="http://schemas.openxmlformats.org/drawingml/2006/main">
            <a:off x="609600" y="5191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B"/>
                </a:solidFill>
                <a:latin typeface="Arial"/>
                <a:ea typeface="Arial"/>
                <a:cs typeface="Arial"/>
              </a:defRPr>
            </a:defPPr>
            <a:lvl1pPr>
              <a:defRPr sz="2175" b="1">
                <a:solidFill>
                  <a:srgbClr val="087E8B"/>
                </a:solidFill>
                <a:latin typeface="Arial"/>
                <a:ea typeface="Arial"/>
                <a:cs typeface="Arial"/>
              </a:defRPr>
            </a:lvl1pPr>
            <a:lvl2pPr>
              <a:defRPr sz="2175" b="1">
                <a:solidFill>
                  <a:srgbClr val="087E8B"/>
                </a:solidFill>
                <a:latin typeface="Arial"/>
                <a:ea typeface="Arial"/>
                <a:cs typeface="Arial"/>
              </a:defRPr>
            </a:lvl2pPr>
            <a:lvl3pPr>
              <a:defRPr sz="2175" b="1">
                <a:solidFill>
                  <a:srgbClr val="087E8B"/>
                </a:solidFill>
                <a:latin typeface="Arial"/>
                <a:ea typeface="Arial"/>
                <a:cs typeface="Arial"/>
              </a:defRPr>
            </a:lvl3pPr>
            <a:lvl4pPr>
              <a:defRPr sz="2175" b="1">
                <a:solidFill>
                  <a:srgbClr val="087E8B"/>
                </a:solidFill>
                <a:latin typeface="Arial"/>
                <a:ea typeface="Arial"/>
                <a:cs typeface="Arial"/>
              </a:defRPr>
            </a:lvl4pPr>
            <a:lvl5pPr>
              <a:defRPr sz="2175" b="1">
                <a:solidFill>
                  <a:srgbClr val="087E8B"/>
                </a:solidFill>
                <a:latin typeface="Arial"/>
                <a:ea typeface="Arial"/>
                <a:cs typeface="Arial"/>
              </a:defRPr>
            </a:lvl5pPr>
            <a:lvl6pPr>
              <a:defRPr sz="2175" b="1">
                <a:solidFill>
                  <a:srgbClr val="087E8B"/>
                </a:solidFill>
                <a:latin typeface="Arial"/>
                <a:ea typeface="Arial"/>
                <a:cs typeface="Arial"/>
              </a:defRPr>
            </a:lvl6pPr>
            <a:lvl7pPr>
              <a:defRPr sz="2175" b="1">
                <a:solidFill>
                  <a:srgbClr val="087E8B"/>
                </a:solidFill>
                <a:latin typeface="Arial"/>
                <a:ea typeface="Arial"/>
                <a:cs typeface="Arial"/>
              </a:defRPr>
            </a:lvl7pPr>
            <a:lvl8pPr>
              <a:defRPr sz="2175" b="1">
                <a:solidFill>
                  <a:srgbClr val="087E8B"/>
                </a:solidFill>
                <a:latin typeface="Arial"/>
                <a:ea typeface="Arial"/>
                <a:cs typeface="Arial"/>
              </a:defRPr>
            </a:lvl8pPr>
            <a:lvl9pPr>
              <a:defRPr sz="2175" b="1">
                <a:solidFill>
                  <a:srgbClr val="087E8B"/>
                </a:solidFill>
                <a:latin typeface="Arial"/>
                <a:ea typeface="Arial"/>
                <a:cs typeface="Arial"/>
              </a:defRPr>
            </a:lvl9pPr>
          </a:lstStyle>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Our scope: controlled supervised comparisons on one public dataset.</a:t>
            </a:r>
          </a:p>
        </p:txBody>
      </p:sp>
      <p:sp>
        <p:nvSpPr>
          <p:cNvPr id="5" name="Citation numbers match the IEEE report. Publi">
            <a:extLst xmlns:a="http://schemas.openxmlformats.org/drawingml/2006/main">
              <a:ext uri="{FF2B5EF4-FFF2-40B4-BE49-F238E27FC236}">
                <a16:creationId xmlns:a16="http://schemas.microsoft.com/office/drawing/2014/main" id="{48CDDB71-9C6D-4BCA-A830-AEA2DCEA4403}"/>
              </a:ext>
            </a:extLst>
          </p:cNvPr>
          <p:cNvSpPr>
            <a:spLocks xmlns:a="http://schemas.openxmlformats.org/drawingml/2006/main" noGrp="1"/>
          </p:cNvSpPr>
          <p:nvPr/>
        </p:nvSpPr>
        <p:spPr>
          <a:xfrm xmlns:a="http://schemas.openxmlformats.org/drawingml/2006/main">
            <a:off x="609600" y="59912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775"/>
                </a:solidFill>
                <a:latin typeface="Arial"/>
                <a:ea typeface="Arial"/>
                <a:cs typeface="Arial"/>
              </a:defRPr>
            </a:defPPr>
            <a:lvl1pPr>
              <a:defRPr sz="1275" b="0">
                <a:solidFill>
                  <a:srgbClr val="536775"/>
                </a:solidFill>
                <a:latin typeface="Arial"/>
                <a:ea typeface="Arial"/>
                <a:cs typeface="Arial"/>
              </a:defRPr>
            </a:lvl1pPr>
            <a:lvl2pPr>
              <a:defRPr sz="1275" b="0">
                <a:solidFill>
                  <a:srgbClr val="536775"/>
                </a:solidFill>
                <a:latin typeface="Arial"/>
                <a:ea typeface="Arial"/>
                <a:cs typeface="Arial"/>
              </a:defRPr>
            </a:lvl2pPr>
            <a:lvl3pPr>
              <a:defRPr sz="1275" b="0">
                <a:solidFill>
                  <a:srgbClr val="536775"/>
                </a:solidFill>
                <a:latin typeface="Arial"/>
                <a:ea typeface="Arial"/>
                <a:cs typeface="Arial"/>
              </a:defRPr>
            </a:lvl3pPr>
            <a:lvl4pPr>
              <a:defRPr sz="1275" b="0">
                <a:solidFill>
                  <a:srgbClr val="536775"/>
                </a:solidFill>
                <a:latin typeface="Arial"/>
                <a:ea typeface="Arial"/>
                <a:cs typeface="Arial"/>
              </a:defRPr>
            </a:lvl4pPr>
            <a:lvl5pPr>
              <a:defRPr sz="1275" b="0">
                <a:solidFill>
                  <a:srgbClr val="536775"/>
                </a:solidFill>
                <a:latin typeface="Arial"/>
                <a:ea typeface="Arial"/>
                <a:cs typeface="Arial"/>
              </a:defRPr>
            </a:lvl5pPr>
            <a:lvl6pPr>
              <a:defRPr sz="1275" b="0">
                <a:solidFill>
                  <a:srgbClr val="536775"/>
                </a:solidFill>
                <a:latin typeface="Arial"/>
                <a:ea typeface="Arial"/>
                <a:cs typeface="Arial"/>
              </a:defRPr>
            </a:lvl6pPr>
            <a:lvl7pPr>
              <a:defRPr sz="1275" b="0">
                <a:solidFill>
                  <a:srgbClr val="536775"/>
                </a:solidFill>
                <a:latin typeface="Arial"/>
                <a:ea typeface="Arial"/>
                <a:cs typeface="Arial"/>
              </a:defRPr>
            </a:lvl7pPr>
            <a:lvl8pPr>
              <a:defRPr sz="1275" b="0">
                <a:solidFill>
                  <a:srgbClr val="536775"/>
                </a:solidFill>
                <a:latin typeface="Arial"/>
                <a:ea typeface="Arial"/>
                <a:cs typeface="Arial"/>
              </a:defRPr>
            </a:lvl8pPr>
            <a:lvl9pPr>
              <a:defRPr sz="1275" b="0">
                <a:solidFill>
                  <a:srgbClr val="536775"/>
                </a:solidFill>
                <a:latin typeface="Arial"/>
                <a:ea typeface="Arial"/>
                <a:cs typeface="Arial"/>
              </a:defRPr>
            </a:lvl9pPr>
          </a:lstStyle>
          <a:p xmlns:a="http://schemas.openxmlformats.org/drawingml/2006/main">
            <a:pPr>
              <a:defRPr sz="1275" b="0">
                <a:solidFill>
                  <a:srgbClr val="536775"/>
                </a:solidFill>
                <a:latin typeface="Arial"/>
                <a:ea typeface="Arial"/>
                <a:cs typeface="Arial"/>
              </a:defRPr>
            </a:pPr>
            <a:r>
              <a:rPr sz="1275" b="0">
                <a:solidFill>
                  <a:srgbClr val="536775"/>
                </a:solidFill>
                <a:latin typeface="Arial"/>
                <a:ea typeface="Arial"/>
                <a:cs typeface="Arial"/>
              </a:rPr>
              <a:t>Citation numbers match the IEEE report. Published studies provide context rather than matched reproductions.</a:t>
            </a:r>
          </a:p>
        </p:txBody>
      </p:sp>
    </p:spTree>
    <p:extLst>
      <p:ext uri="{BB962C8B-B14F-4D97-AF65-F5344CB8AC3E}">
        <p14:creationId xmlns:p14="http://schemas.microsoft.com/office/powerpoint/2010/main" val="437508247"/>
      </p:ext>
    </p:extLst>
  </p:cSld>
</p:sld>
</file>

<file path=ppt/slides/slide4.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7" name="PTB-XL dataset and patient partitions">
            <a:extLst xmlns:a="http://schemas.openxmlformats.org/drawingml/2006/main">
              <a:ext uri="{FF2B5EF4-FFF2-40B4-BE49-F238E27FC236}">
                <a16:creationId xmlns:a16="http://schemas.microsoft.com/office/drawing/2014/main" id="{D5CC4727-D137-4BA3-926A-41A82AAFC504}"/>
              </a:ext>
            </a:extLst>
          </p:cNvPr>
          <p:cNvSpPr>
            <a:spLocks xmlns:a="http://schemas.openxmlformats.org/drawingml/2006/main" noGrp="1"/>
          </p:cNvSpPr>
          <p:nvPr/>
        </p:nvSpPr>
        <p:spPr>
          <a:xfrm xmlns:a="http://schemas.openxmlformats.org/drawingml/2006/main">
            <a:off x="609600" y="40005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D3A"/>
                </a:solidFill>
                <a:latin typeface="Arial"/>
                <a:ea typeface="Arial"/>
                <a:cs typeface="Arial"/>
              </a:defRPr>
            </a:defPPr>
            <a:lvl1pPr>
              <a:defRPr sz="3150" b="1">
                <a:solidFill>
                  <a:srgbClr val="152D3A"/>
                </a:solidFill>
                <a:latin typeface="Arial"/>
                <a:ea typeface="Arial"/>
                <a:cs typeface="Arial"/>
              </a:defRPr>
            </a:lvl1pPr>
            <a:lvl2pPr>
              <a:defRPr sz="3150" b="1">
                <a:solidFill>
                  <a:srgbClr val="152D3A"/>
                </a:solidFill>
                <a:latin typeface="Arial"/>
                <a:ea typeface="Arial"/>
                <a:cs typeface="Arial"/>
              </a:defRPr>
            </a:lvl2pPr>
            <a:lvl3pPr>
              <a:defRPr sz="3150" b="1">
                <a:solidFill>
                  <a:srgbClr val="152D3A"/>
                </a:solidFill>
                <a:latin typeface="Arial"/>
                <a:ea typeface="Arial"/>
                <a:cs typeface="Arial"/>
              </a:defRPr>
            </a:lvl3pPr>
            <a:lvl4pPr>
              <a:defRPr sz="3150" b="1">
                <a:solidFill>
                  <a:srgbClr val="152D3A"/>
                </a:solidFill>
                <a:latin typeface="Arial"/>
                <a:ea typeface="Arial"/>
                <a:cs typeface="Arial"/>
              </a:defRPr>
            </a:lvl4pPr>
            <a:lvl5pPr>
              <a:defRPr sz="3150" b="1">
                <a:solidFill>
                  <a:srgbClr val="152D3A"/>
                </a:solidFill>
                <a:latin typeface="Arial"/>
                <a:ea typeface="Arial"/>
                <a:cs typeface="Arial"/>
              </a:defRPr>
            </a:lvl5pPr>
            <a:lvl6pPr>
              <a:defRPr sz="3150" b="1">
                <a:solidFill>
                  <a:srgbClr val="152D3A"/>
                </a:solidFill>
                <a:latin typeface="Arial"/>
                <a:ea typeface="Arial"/>
                <a:cs typeface="Arial"/>
              </a:defRPr>
            </a:lvl6pPr>
            <a:lvl7pPr>
              <a:defRPr sz="3150" b="1">
                <a:solidFill>
                  <a:srgbClr val="152D3A"/>
                </a:solidFill>
                <a:latin typeface="Arial"/>
                <a:ea typeface="Arial"/>
                <a:cs typeface="Arial"/>
              </a:defRPr>
            </a:lvl7pPr>
            <a:lvl8pPr>
              <a:defRPr sz="3150" b="1">
                <a:solidFill>
                  <a:srgbClr val="152D3A"/>
                </a:solidFill>
                <a:latin typeface="Arial"/>
                <a:ea typeface="Arial"/>
                <a:cs typeface="Arial"/>
              </a:defRPr>
            </a:lvl8pPr>
            <a:lvl9pPr>
              <a:defRPr sz="3150" b="1">
                <a:solidFill>
                  <a:srgbClr val="152D3A"/>
                </a:solidFill>
                <a:latin typeface="Arial"/>
                <a:ea typeface="Arial"/>
                <a:cs typeface="Arial"/>
              </a:defRPr>
            </a:lvl9pPr>
          </a:lstStyle>
          <a:p xmlns:a="http://schemas.openxmlformats.org/drawingml/2006/main">
            <a:pPr>
              <a:defRPr sz="3150" b="1">
                <a:solidFill>
                  <a:srgbClr val="152D3A"/>
                </a:solidFill>
                <a:latin typeface="Arial"/>
                <a:ea typeface="Arial"/>
                <a:cs typeface="Arial"/>
              </a:defRPr>
            </a:pPr>
            <a:r>
              <a:rPr sz="3150" b="1">
                <a:solidFill>
                  <a:srgbClr val="152D3A"/>
                </a:solidFill>
                <a:latin typeface="Arial"/>
                <a:ea typeface="Arial"/>
                <a:cs typeface="Arial"/>
              </a:rPr>
              <a:t>PTB-XL dataset and patient partitions</a:t>
            </a:r>
          </a:p>
        </p:txBody>
      </p:sp>
      <p:sp>
        <p:nvSpPr>
          <p:cNvPr id="2" name="04">
            <a:extLst xmlns:a="http://schemas.openxmlformats.org/drawingml/2006/main">
              <a:ext uri="{FF2B5EF4-FFF2-40B4-BE49-F238E27FC236}">
                <a16:creationId xmlns:a16="http://schemas.microsoft.com/office/drawing/2014/main" id="{D8ED2944-842A-4655-B8D9-32A2E9C390D1}"/>
              </a:ext>
            </a:extLst>
          </p:cNvPr>
          <p:cNvSpPr>
            <a:spLocks xmlns:a="http://schemas.openxmlformats.org/drawingml/2006/main" noGrp="1"/>
          </p:cNvSpPr>
          <p:nvPr/>
        </p:nvSpPr>
        <p:spPr>
          <a:xfrm xmlns:a="http://schemas.openxmlformats.org/drawingml/2006/main">
            <a:off x="11144250" y="63817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775"/>
                </a:solidFill>
                <a:latin typeface="Arial"/>
                <a:ea typeface="Arial"/>
                <a:cs typeface="Arial"/>
              </a:defRPr>
            </a:defPPr>
            <a:lvl1pPr>
              <a:defRPr sz="1200" b="0">
                <a:solidFill>
                  <a:srgbClr val="536775"/>
                </a:solidFill>
                <a:latin typeface="Arial"/>
                <a:ea typeface="Arial"/>
                <a:cs typeface="Arial"/>
              </a:defRPr>
            </a:lvl1pPr>
            <a:lvl2pPr>
              <a:defRPr sz="1200" b="0">
                <a:solidFill>
                  <a:srgbClr val="536775"/>
                </a:solidFill>
                <a:latin typeface="Arial"/>
                <a:ea typeface="Arial"/>
                <a:cs typeface="Arial"/>
              </a:defRPr>
            </a:lvl2pPr>
            <a:lvl3pPr>
              <a:defRPr sz="1200" b="0">
                <a:solidFill>
                  <a:srgbClr val="536775"/>
                </a:solidFill>
                <a:latin typeface="Arial"/>
                <a:ea typeface="Arial"/>
                <a:cs typeface="Arial"/>
              </a:defRPr>
            </a:lvl3pPr>
            <a:lvl4pPr>
              <a:defRPr sz="1200" b="0">
                <a:solidFill>
                  <a:srgbClr val="536775"/>
                </a:solidFill>
                <a:latin typeface="Arial"/>
                <a:ea typeface="Arial"/>
                <a:cs typeface="Arial"/>
              </a:defRPr>
            </a:lvl4pPr>
            <a:lvl5pPr>
              <a:defRPr sz="1200" b="0">
                <a:solidFill>
                  <a:srgbClr val="536775"/>
                </a:solidFill>
                <a:latin typeface="Arial"/>
                <a:ea typeface="Arial"/>
                <a:cs typeface="Arial"/>
              </a:defRPr>
            </a:lvl5pPr>
            <a:lvl6pPr>
              <a:defRPr sz="1200" b="0">
                <a:solidFill>
                  <a:srgbClr val="536775"/>
                </a:solidFill>
                <a:latin typeface="Arial"/>
                <a:ea typeface="Arial"/>
                <a:cs typeface="Arial"/>
              </a:defRPr>
            </a:lvl6pPr>
            <a:lvl7pPr>
              <a:defRPr sz="1200" b="0">
                <a:solidFill>
                  <a:srgbClr val="536775"/>
                </a:solidFill>
                <a:latin typeface="Arial"/>
                <a:ea typeface="Arial"/>
                <a:cs typeface="Arial"/>
              </a:defRPr>
            </a:lvl7pPr>
            <a:lvl8pPr>
              <a:defRPr sz="1200" b="0">
                <a:solidFill>
                  <a:srgbClr val="536775"/>
                </a:solidFill>
                <a:latin typeface="Arial"/>
                <a:ea typeface="Arial"/>
                <a:cs typeface="Arial"/>
              </a:defRPr>
            </a:lvl8pPr>
            <a:lvl9pPr>
              <a:defRPr sz="1200" b="0">
                <a:solidFill>
                  <a:srgbClr val="536775"/>
                </a:solidFill>
                <a:latin typeface="Arial"/>
                <a:ea typeface="Arial"/>
                <a:cs typeface="Arial"/>
              </a:defRPr>
            </a:lvl9pPr>
          </a:lstStyle>
          <a:p xmlns:a="http://schemas.openxmlformats.org/drawingml/2006/main">
            <a:pPr>
              <a:defRPr sz="1200" b="0">
                <a:solidFill>
                  <a:srgbClr val="536775"/>
                </a:solidFill>
                <a:latin typeface="Arial"/>
                <a:ea typeface="Arial"/>
                <a:cs typeface="Arial"/>
              </a:defRPr>
            </a:pPr>
            <a:r>
              <a:rPr sz="1200" b="0">
                <a:solidFill>
                  <a:srgbClr val="536775"/>
                </a:solidFill>
                <a:latin typeface="Arial"/>
                <a:ea typeface="Arial"/>
                <a:cs typeface="Arial"/>
              </a:rPr>
              <a:t>04</a:t>
            </a:r>
          </a:p>
        </p:txBody>
      </p:sp>
      <p:sp>
        <p:nvSpPr>
          <p:cNvPr id="3" name="21,388 eligible recordings">
            <a:extLst xmlns:a="http://schemas.openxmlformats.org/drawingml/2006/main">
              <a:ext uri="{FF2B5EF4-FFF2-40B4-BE49-F238E27FC236}">
                <a16:creationId xmlns:a16="http://schemas.microsoft.com/office/drawing/2014/main" id="{08272F9D-17F4-439D-AFB2-CB3CAC3D0D6F}"/>
              </a:ext>
            </a:extLst>
          </p:cNvPr>
          <p:cNvSpPr>
            <a:spLocks xmlns:a="http://schemas.openxmlformats.org/drawingml/2006/main" noGrp="1"/>
          </p:cNvSpPr>
          <p:nvPr/>
        </p:nvSpPr>
        <p:spPr>
          <a:xfrm xmlns:a="http://schemas.openxmlformats.org/drawingml/2006/main">
            <a:off x="609600" y="12954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87E8B"/>
                </a:solidFill>
                <a:latin typeface="Arial"/>
                <a:ea typeface="Arial"/>
                <a:cs typeface="Arial"/>
              </a:defRPr>
            </a:defPPr>
            <a:lvl1pPr>
              <a:defRPr sz="3225" b="1">
                <a:solidFill>
                  <a:srgbClr val="087E8B"/>
                </a:solidFill>
                <a:latin typeface="Arial"/>
                <a:ea typeface="Arial"/>
                <a:cs typeface="Arial"/>
              </a:defRPr>
            </a:lvl1pPr>
            <a:lvl2pPr>
              <a:defRPr sz="3225" b="1">
                <a:solidFill>
                  <a:srgbClr val="087E8B"/>
                </a:solidFill>
                <a:latin typeface="Arial"/>
                <a:ea typeface="Arial"/>
                <a:cs typeface="Arial"/>
              </a:defRPr>
            </a:lvl2pPr>
            <a:lvl3pPr>
              <a:defRPr sz="3225" b="1">
                <a:solidFill>
                  <a:srgbClr val="087E8B"/>
                </a:solidFill>
                <a:latin typeface="Arial"/>
                <a:ea typeface="Arial"/>
                <a:cs typeface="Arial"/>
              </a:defRPr>
            </a:lvl3pPr>
            <a:lvl4pPr>
              <a:defRPr sz="3225" b="1">
                <a:solidFill>
                  <a:srgbClr val="087E8B"/>
                </a:solidFill>
                <a:latin typeface="Arial"/>
                <a:ea typeface="Arial"/>
                <a:cs typeface="Arial"/>
              </a:defRPr>
            </a:lvl4pPr>
            <a:lvl5pPr>
              <a:defRPr sz="3225" b="1">
                <a:solidFill>
                  <a:srgbClr val="087E8B"/>
                </a:solidFill>
                <a:latin typeface="Arial"/>
                <a:ea typeface="Arial"/>
                <a:cs typeface="Arial"/>
              </a:defRPr>
            </a:lvl5pPr>
            <a:lvl6pPr>
              <a:defRPr sz="3225" b="1">
                <a:solidFill>
                  <a:srgbClr val="087E8B"/>
                </a:solidFill>
                <a:latin typeface="Arial"/>
                <a:ea typeface="Arial"/>
                <a:cs typeface="Arial"/>
              </a:defRPr>
            </a:lvl6pPr>
            <a:lvl7pPr>
              <a:defRPr sz="3225" b="1">
                <a:solidFill>
                  <a:srgbClr val="087E8B"/>
                </a:solidFill>
                <a:latin typeface="Arial"/>
                <a:ea typeface="Arial"/>
                <a:cs typeface="Arial"/>
              </a:defRPr>
            </a:lvl7pPr>
            <a:lvl8pPr>
              <a:defRPr sz="3225" b="1">
                <a:solidFill>
                  <a:srgbClr val="087E8B"/>
                </a:solidFill>
                <a:latin typeface="Arial"/>
                <a:ea typeface="Arial"/>
                <a:cs typeface="Arial"/>
              </a:defRPr>
            </a:lvl8pPr>
            <a:lvl9pPr>
              <a:defRPr sz="3225" b="1">
                <a:solidFill>
                  <a:srgbClr val="087E8B"/>
                </a:solidFill>
                <a:latin typeface="Arial"/>
                <a:ea typeface="Arial"/>
                <a:cs typeface="Arial"/>
              </a:defRPr>
            </a:lvl9pPr>
          </a:lstStyle>
          <a:p xmlns:a="http://schemas.openxmlformats.org/drawingml/2006/main">
            <a:pPr>
              <a:defRPr sz="3225" b="1">
                <a:solidFill>
                  <a:srgbClr val="087E8B"/>
                </a:solidFill>
                <a:latin typeface="Arial"/>
                <a:ea typeface="Arial"/>
                <a:cs typeface="Arial"/>
              </a:defRPr>
            </a:pPr>
            <a:r>
              <a:rPr sz="3225" b="1">
                <a:solidFill>
                  <a:srgbClr val="087E8B"/>
                </a:solidFill>
                <a:latin typeface="Arial"/>
                <a:ea typeface="Arial"/>
                <a:cs typeface="Arial"/>
              </a:rPr>
              <a:t>21,388 eligible recordings</a:t>
            </a:r>
          </a:p>
        </p:txBody>
      </p:sp>
      <p:sp>
        <p:nvSpPr>
          <p:cNvPr id="4" name="12 leads × 1,000 samples at 100 Hz">
            <a:extLst xmlns:a="http://schemas.openxmlformats.org/drawingml/2006/main">
              <a:ext uri="{FF2B5EF4-FFF2-40B4-BE49-F238E27FC236}">
                <a16:creationId xmlns:a16="http://schemas.microsoft.com/office/drawing/2014/main" id="{895CEF65-4854-4496-9A82-F292396E813D}"/>
              </a:ext>
            </a:extLst>
          </p:cNvPr>
          <p:cNvSpPr>
            <a:spLocks xmlns:a="http://schemas.openxmlformats.org/drawingml/2006/main" noGrp="1"/>
          </p:cNvSpPr>
          <p:nvPr/>
        </p:nvSpPr>
        <p:spPr>
          <a:xfrm xmlns:a="http://schemas.openxmlformats.org/drawingml/2006/main">
            <a:off x="609600" y="1990725"/>
            <a:ext cx="1085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D3A"/>
                </a:solidFill>
                <a:latin typeface="Arial"/>
                <a:ea typeface="Arial"/>
                <a:cs typeface="Arial"/>
              </a:defRPr>
            </a:defPPr>
            <a:lvl1pPr>
              <a:defRPr sz="2175" b="0">
                <a:solidFill>
                  <a:srgbClr val="152D3A"/>
                </a:solidFill>
                <a:latin typeface="Arial"/>
                <a:ea typeface="Arial"/>
                <a:cs typeface="Arial"/>
              </a:defRPr>
            </a:lvl1pPr>
            <a:lvl2pPr>
              <a:defRPr sz="2175" b="0">
                <a:solidFill>
                  <a:srgbClr val="152D3A"/>
                </a:solidFill>
                <a:latin typeface="Arial"/>
                <a:ea typeface="Arial"/>
                <a:cs typeface="Arial"/>
              </a:defRPr>
            </a:lvl2pPr>
            <a:lvl3pPr>
              <a:defRPr sz="2175" b="0">
                <a:solidFill>
                  <a:srgbClr val="152D3A"/>
                </a:solidFill>
                <a:latin typeface="Arial"/>
                <a:ea typeface="Arial"/>
                <a:cs typeface="Arial"/>
              </a:defRPr>
            </a:lvl3pPr>
            <a:lvl4pPr>
              <a:defRPr sz="2175" b="0">
                <a:solidFill>
                  <a:srgbClr val="152D3A"/>
                </a:solidFill>
                <a:latin typeface="Arial"/>
                <a:ea typeface="Arial"/>
                <a:cs typeface="Arial"/>
              </a:defRPr>
            </a:lvl4pPr>
            <a:lvl5pPr>
              <a:defRPr sz="2175" b="0">
                <a:solidFill>
                  <a:srgbClr val="152D3A"/>
                </a:solidFill>
                <a:latin typeface="Arial"/>
                <a:ea typeface="Arial"/>
                <a:cs typeface="Arial"/>
              </a:defRPr>
            </a:lvl5pPr>
            <a:lvl6pPr>
              <a:defRPr sz="2175" b="0">
                <a:solidFill>
                  <a:srgbClr val="152D3A"/>
                </a:solidFill>
                <a:latin typeface="Arial"/>
                <a:ea typeface="Arial"/>
                <a:cs typeface="Arial"/>
              </a:defRPr>
            </a:lvl6pPr>
            <a:lvl7pPr>
              <a:defRPr sz="2175" b="0">
                <a:solidFill>
                  <a:srgbClr val="152D3A"/>
                </a:solidFill>
                <a:latin typeface="Arial"/>
                <a:ea typeface="Arial"/>
                <a:cs typeface="Arial"/>
              </a:defRPr>
            </a:lvl7pPr>
            <a:lvl8pPr>
              <a:defRPr sz="2175" b="0">
                <a:solidFill>
                  <a:srgbClr val="152D3A"/>
                </a:solidFill>
                <a:latin typeface="Arial"/>
                <a:ea typeface="Arial"/>
                <a:cs typeface="Arial"/>
              </a:defRPr>
            </a:lvl8pPr>
            <a:lvl9pPr>
              <a:defRPr sz="2175" b="0">
                <a:solidFill>
                  <a:srgbClr val="152D3A"/>
                </a:solidFill>
                <a:latin typeface="Arial"/>
                <a:ea typeface="Arial"/>
                <a:cs typeface="Arial"/>
              </a:defRPr>
            </a:lvl9pPr>
          </a:lstStyle>
          <a:p xmlns:a="http://schemas.openxmlformats.org/drawingml/2006/main">
            <a:pPr>
              <a:defRPr sz="2175" b="0">
                <a:solidFill>
                  <a:srgbClr val="152D3A"/>
                </a:solidFill>
                <a:latin typeface="Arial"/>
                <a:ea typeface="Arial"/>
                <a:cs typeface="Arial"/>
              </a:defRPr>
            </a:pPr>
            <a:r>
              <a:rPr sz="2175" b="0">
                <a:solidFill>
                  <a:srgbClr val="152D3A"/>
                </a:solidFill>
                <a:latin typeface="Arial"/>
                <a:ea typeface="Arial"/>
                <a:cs typeface="Arial"/>
              </a:rPr>
              <a:t>12 leads × 1,000 samples at 100 Hz</a:t>
            </a:r>
          </a:p>
        </p:txBody>
      </p:sp>
      <p:graphicFrame>
        <p:nvGraphicFramePr>
          <p:cNvPr id="5" name="">
            <a:extLst xmlns:a="http://schemas.openxmlformats.org/drawingml/2006/main">
              <a:ext uri="{FF2B5EF4-FFF2-40B4-BE49-F238E27FC236}">
                <a16:creationId xmlns:a16="http://schemas.microsoft.com/office/drawing/2014/main" id="{E3623B26-4CFB-45A3-A8C5-0E400B2994DB}"/>
              </a:ext>
            </a:extLst>
          </p:cNvPr>
          <p:cNvGraphicFramePr/>
          <p:nvPr/>
        </p:nvGraphicFramePr>
        <p:xfrm>
          <a:off xmlns:a="http://schemas.openxmlformats.org/drawingml/2006/main" x="609600" y="2781300"/>
          <a:ext xmlns:a="http://schemas.openxmlformats.org/drawingml/2006/main" cx="10972800" cy="2495550"/>
        </p:xfrm>
        <a:graphic xmlns:a="http://schemas.openxmlformats.org/drawingml/2006/main">
          <a:graphicData uri="http://schemas.openxmlformats.org/drawingml/2006/table">
            <a:tbl>
              <a:tblPr/>
              <a:tblGrid>
                <a:gridCol w="2952750"/>
                <a:gridCol w="2857500"/>
                <a:gridCol w="2571750"/>
                <a:gridCol w="2590800"/>
              </a:tblGrid>
              <a:tr h="623888">
                <a:tc>
                  <a:txBody>
                    <a:bodyPr/>
                    <a:lstStyle/>
                    <a:p>
                      <a:r>
                        <a:rPr sz="2025" b="1">
                          <a:solidFill>
                            <a:srgbClr val="FFFFFF"/>
                          </a:solidFill>
                          <a:latin typeface="Arial"/>
                          <a:ea typeface="Arial"/>
                          <a:cs typeface="Arial"/>
                        </a:rPr>
                        <a:t>Partition</a:t>
                      </a:r>
                    </a:p>
                  </a:txBody>
                  <a:tcPr marL="133350" marR="114300" marT="95250" marB="95250" anchor="ctr">
                    <a:lnL w="9525">
                      <a:solidFill>
                        <a:srgbClr val="D5DFE4"/>
                      </a:solidFill>
                      <a:prstDash val="solid"/>
                    </a:lnL>
                    <a:lnR w="9525">
                      <a:solidFill>
                        <a:srgbClr val="D5DFE4"/>
                      </a:solidFill>
                      <a:prstDash val="solid"/>
                    </a:lnR>
                    <a:lnT w="9525">
                      <a:solidFill>
                        <a:srgbClr val="D5DFE4"/>
                      </a:solidFill>
                      <a:prstDash val="solid"/>
                    </a:lnT>
                    <a:lnB w="9525">
                      <a:solidFill>
                        <a:srgbClr val="D5DFE4"/>
                      </a:solidFill>
                      <a:prstDash val="solid"/>
                    </a:lnB>
                    <a:solidFill>
                      <a:srgbClr val="152D3A"/>
                    </a:solidFill>
                  </a:tcPr>
                </a:tc>
                <a:tc>
                  <a:txBody>
                    <a:bodyPr/>
                    <a:lstStyle/>
                    <a:p>
                      <a:r>
                        <a:rPr sz="2025" b="1">
                          <a:solidFill>
                            <a:srgbClr val="FFFFFF"/>
                          </a:solidFill>
                          <a:latin typeface="Arial"/>
                          <a:ea typeface="Arial"/>
                          <a:cs typeface="Arial"/>
                        </a:rPr>
                        <a:t>Official folds</a:t>
                      </a:r>
                    </a:p>
                  </a:txBody>
                  <a:tcPr marL="133350" marR="114300" marT="95250" marB="95250" anchor="ctr">
                    <a:lnR w="9525">
                      <a:solidFill>
                        <a:srgbClr val="D5DFE4"/>
                      </a:solidFill>
                      <a:prstDash val="solid"/>
                    </a:lnR>
                    <a:lnT w="9525">
                      <a:solidFill>
                        <a:srgbClr val="D5DFE4"/>
                      </a:solidFill>
                      <a:prstDash val="solid"/>
                    </a:lnT>
                    <a:lnB w="9525">
                      <a:solidFill>
                        <a:srgbClr val="D5DFE4"/>
                      </a:solidFill>
                      <a:prstDash val="solid"/>
                    </a:lnB>
                    <a:solidFill>
                      <a:srgbClr val="152D3A"/>
                    </a:solidFill>
                  </a:tcPr>
                </a:tc>
                <a:tc>
                  <a:txBody>
                    <a:bodyPr/>
                    <a:lstStyle/>
                    <a:p>
                      <a:r>
                        <a:rPr sz="2025" b="1">
                          <a:solidFill>
                            <a:srgbClr val="FFFFFF"/>
                          </a:solidFill>
                          <a:latin typeface="Arial"/>
                          <a:ea typeface="Arial"/>
                          <a:cs typeface="Arial"/>
                        </a:rPr>
                        <a:t>ECGs</a:t>
                      </a:r>
                    </a:p>
                  </a:txBody>
                  <a:tcPr marL="133350" marR="114300" marT="95250" marB="95250" anchor="ctr">
                    <a:lnR w="9525">
                      <a:solidFill>
                        <a:srgbClr val="D5DFE4"/>
                      </a:solidFill>
                      <a:prstDash val="solid"/>
                    </a:lnR>
                    <a:lnT w="9525">
                      <a:solidFill>
                        <a:srgbClr val="D5DFE4"/>
                      </a:solidFill>
                      <a:prstDash val="solid"/>
                    </a:lnT>
                    <a:lnB w="9525">
                      <a:solidFill>
                        <a:srgbClr val="D5DFE4"/>
                      </a:solidFill>
                      <a:prstDash val="solid"/>
                    </a:lnB>
                    <a:solidFill>
                      <a:srgbClr val="152D3A"/>
                    </a:solidFill>
                  </a:tcPr>
                </a:tc>
                <a:tc>
                  <a:txBody>
                    <a:bodyPr/>
                    <a:lstStyle/>
                    <a:p>
                      <a:r>
                        <a:rPr sz="2025" b="1">
                          <a:solidFill>
                            <a:srgbClr val="FFFFFF"/>
                          </a:solidFill>
                          <a:latin typeface="Arial"/>
                          <a:ea typeface="Arial"/>
                          <a:cs typeface="Arial"/>
                        </a:rPr>
                        <a:t>Patients</a:t>
                      </a:r>
                    </a:p>
                  </a:txBody>
                  <a:tcPr marL="133350" marR="114300" marT="95250" marB="95250" anchor="ctr">
                    <a:lnR w="9525">
                      <a:solidFill>
                        <a:srgbClr val="D5DFE4"/>
                      </a:solidFill>
                      <a:prstDash val="solid"/>
                    </a:lnR>
                    <a:lnT w="9525">
                      <a:solidFill>
                        <a:srgbClr val="D5DFE4"/>
                      </a:solidFill>
                      <a:prstDash val="solid"/>
                    </a:lnT>
                    <a:lnB w="9525">
                      <a:solidFill>
                        <a:srgbClr val="D5DFE4"/>
                      </a:solidFill>
                      <a:prstDash val="solid"/>
                    </a:lnB>
                    <a:solidFill>
                      <a:srgbClr val="152D3A"/>
                    </a:solidFill>
                  </a:tcPr>
                </a:tc>
              </a:tr>
              <a:tr h="623888">
                <a:tc>
                  <a:txBody>
                    <a:bodyPr/>
                    <a:lstStyle/>
                    <a:p>
                      <a:r>
                        <a:rPr sz="2025" b="0">
                          <a:solidFill>
                            <a:srgbClr val="152D3A"/>
                          </a:solidFill>
                          <a:latin typeface="Arial"/>
                          <a:ea typeface="Arial"/>
                          <a:cs typeface="Arial"/>
                        </a:rPr>
                        <a:t>Training</a:t>
                      </a:r>
                    </a:p>
                  </a:txBody>
                  <a:tcPr marL="133350" marR="114300" marT="95250" marB="95250" anchor="ctr">
                    <a:lnL w="9525">
                      <a:solidFill>
                        <a:srgbClr val="D5DFE4"/>
                      </a:solidFill>
                      <a:prstDash val="solid"/>
                    </a:lnL>
                    <a:lnR w="9525">
                      <a:solidFill>
                        <a:srgbClr val="D5DFE4"/>
                      </a:solidFill>
                      <a:prstDash val="solid"/>
                    </a:lnR>
                    <a:lnB w="9525">
                      <a:solidFill>
                        <a:srgbClr val="D5DFE4"/>
                      </a:solidFill>
                      <a:prstDash val="solid"/>
                    </a:lnB>
                    <a:solidFill>
                      <a:srgbClr val="FFFFFF"/>
                    </a:solidFill>
                  </a:tcPr>
                </a:tc>
                <a:tc>
                  <a:txBody>
                    <a:bodyPr/>
                    <a:lstStyle/>
                    <a:p>
                      <a:r>
                        <a:rPr sz="2025" b="0">
                          <a:solidFill>
                            <a:srgbClr val="152D3A"/>
                          </a:solidFill>
                          <a:latin typeface="Arial"/>
                          <a:ea typeface="Arial"/>
                          <a:cs typeface="Arial"/>
                        </a:rPr>
                        <a:t>1–8</a:t>
                      </a:r>
                    </a:p>
                  </a:txBody>
                  <a:tcPr marL="133350" marR="114300" marT="95250" marB="95250" anchor="ctr">
                    <a:lnR w="9525">
                      <a:solidFill>
                        <a:srgbClr val="D5DFE4"/>
                      </a:solidFill>
                      <a:prstDash val="solid"/>
                    </a:lnR>
                    <a:lnB w="9525">
                      <a:solidFill>
                        <a:srgbClr val="D5DFE4"/>
                      </a:solidFill>
                      <a:prstDash val="solid"/>
                    </a:lnB>
                    <a:solidFill>
                      <a:srgbClr val="FFFFFF"/>
                    </a:solidFill>
                  </a:tcPr>
                </a:tc>
                <a:tc>
                  <a:txBody>
                    <a:bodyPr/>
                    <a:lstStyle/>
                    <a:p>
                      <a:r>
                        <a:rPr sz="2025" b="0">
                          <a:solidFill>
                            <a:srgbClr val="152D3A"/>
                          </a:solidFill>
                          <a:latin typeface="Arial"/>
                          <a:ea typeface="Arial"/>
                          <a:cs typeface="Arial"/>
                        </a:rPr>
                        <a:t>17,084</a:t>
                      </a:r>
                    </a:p>
                  </a:txBody>
                  <a:tcPr marL="133350" marR="114300" marT="95250" marB="95250" anchor="ctr">
                    <a:lnR w="9525">
                      <a:solidFill>
                        <a:srgbClr val="D5DFE4"/>
                      </a:solidFill>
                      <a:prstDash val="solid"/>
                    </a:lnR>
                    <a:lnB w="9525">
                      <a:solidFill>
                        <a:srgbClr val="D5DFE4"/>
                      </a:solidFill>
                      <a:prstDash val="solid"/>
                    </a:lnB>
                    <a:solidFill>
                      <a:srgbClr val="FFFFFF"/>
                    </a:solidFill>
                  </a:tcPr>
                </a:tc>
                <a:tc>
                  <a:txBody>
                    <a:bodyPr/>
                    <a:lstStyle/>
                    <a:p>
                      <a:r>
                        <a:rPr sz="2025" b="0">
                          <a:solidFill>
                            <a:srgbClr val="152D3A"/>
                          </a:solidFill>
                          <a:latin typeface="Arial"/>
                          <a:ea typeface="Arial"/>
                          <a:cs typeface="Arial"/>
                        </a:rPr>
                        <a:t>14,823</a:t>
                      </a:r>
                    </a:p>
                  </a:txBody>
                  <a:tcPr marL="133350" marR="114300" marT="95250" marB="95250" anchor="ctr">
                    <a:lnR w="9525">
                      <a:solidFill>
                        <a:srgbClr val="D5DFE4"/>
                      </a:solidFill>
                      <a:prstDash val="solid"/>
                    </a:lnR>
                    <a:lnB w="9525">
                      <a:solidFill>
                        <a:srgbClr val="D5DFE4"/>
                      </a:solidFill>
                      <a:prstDash val="solid"/>
                    </a:lnB>
                    <a:solidFill>
                      <a:srgbClr val="FFFFFF"/>
                    </a:solidFill>
                  </a:tcPr>
                </a:tc>
              </a:tr>
              <a:tr h="623888">
                <a:tc>
                  <a:txBody>
                    <a:bodyPr/>
                    <a:lstStyle/>
                    <a:p>
                      <a:r>
                        <a:rPr sz="2025" b="0">
                          <a:solidFill>
                            <a:srgbClr val="152D3A"/>
                          </a:solidFill>
                          <a:latin typeface="Arial"/>
                          <a:ea typeface="Arial"/>
                          <a:cs typeface="Arial"/>
                        </a:rPr>
                        <a:t>Validation</a:t>
                      </a:r>
                    </a:p>
                  </a:txBody>
                  <a:tcPr marL="133350" marR="114300" marT="95250" marB="95250" anchor="ctr">
                    <a:lnL w="9525">
                      <a:solidFill>
                        <a:srgbClr val="D5DFE4"/>
                      </a:solidFill>
                      <a:prstDash val="solid"/>
                    </a:lnL>
                    <a:lnR w="9525">
                      <a:solidFill>
                        <a:srgbClr val="D5DFE4"/>
                      </a:solidFill>
                      <a:prstDash val="solid"/>
                    </a:lnR>
                    <a:lnB w="9525">
                      <a:solidFill>
                        <a:srgbClr val="D5DFE4"/>
                      </a:solidFill>
                      <a:prstDash val="solid"/>
                    </a:lnB>
                    <a:solidFill>
                      <a:srgbClr val="EDF3F5"/>
                    </a:solidFill>
                  </a:tcPr>
                </a:tc>
                <a:tc>
                  <a:txBody>
                    <a:bodyPr/>
                    <a:lstStyle/>
                    <a:p>
                      <a:r>
                        <a:rPr sz="2025" b="0">
                          <a:solidFill>
                            <a:srgbClr val="152D3A"/>
                          </a:solidFill>
                          <a:latin typeface="Arial"/>
                          <a:ea typeface="Arial"/>
                          <a:cs typeface="Arial"/>
                        </a:rPr>
                        <a:t>9</a:t>
                      </a:r>
                    </a:p>
                  </a:txBody>
                  <a:tcPr marL="133350" marR="114300" marT="95250" marB="95250" anchor="ctr">
                    <a:lnR w="9525">
                      <a:solidFill>
                        <a:srgbClr val="D5DFE4"/>
                      </a:solidFill>
                      <a:prstDash val="solid"/>
                    </a:lnR>
                    <a:lnB w="9525">
                      <a:solidFill>
                        <a:srgbClr val="D5DFE4"/>
                      </a:solidFill>
                      <a:prstDash val="solid"/>
                    </a:lnB>
                    <a:solidFill>
                      <a:srgbClr val="EDF3F5"/>
                    </a:solidFill>
                  </a:tcPr>
                </a:tc>
                <a:tc>
                  <a:txBody>
                    <a:bodyPr/>
                    <a:lstStyle/>
                    <a:p>
                      <a:r>
                        <a:rPr sz="2025" b="0">
                          <a:solidFill>
                            <a:srgbClr val="152D3A"/>
                          </a:solidFill>
                          <a:latin typeface="Arial"/>
                          <a:ea typeface="Arial"/>
                          <a:cs typeface="Arial"/>
                        </a:rPr>
                        <a:t>2,146</a:t>
                      </a:r>
                    </a:p>
                  </a:txBody>
                  <a:tcPr marL="133350" marR="114300" marT="95250" marB="95250" anchor="ctr">
                    <a:lnR w="9525">
                      <a:solidFill>
                        <a:srgbClr val="D5DFE4"/>
                      </a:solidFill>
                      <a:prstDash val="solid"/>
                    </a:lnR>
                    <a:lnB w="9525">
                      <a:solidFill>
                        <a:srgbClr val="D5DFE4"/>
                      </a:solidFill>
                      <a:prstDash val="solid"/>
                    </a:lnB>
                    <a:solidFill>
                      <a:srgbClr val="EDF3F5"/>
                    </a:solidFill>
                  </a:tcPr>
                </a:tc>
                <a:tc>
                  <a:txBody>
                    <a:bodyPr/>
                    <a:lstStyle/>
                    <a:p>
                      <a:r>
                        <a:rPr sz="2025" b="0">
                          <a:solidFill>
                            <a:srgbClr val="152D3A"/>
                          </a:solidFill>
                          <a:latin typeface="Arial"/>
                          <a:ea typeface="Arial"/>
                          <a:cs typeface="Arial"/>
                        </a:rPr>
                        <a:t>1,917</a:t>
                      </a:r>
                    </a:p>
                  </a:txBody>
                  <a:tcPr marL="133350" marR="114300" marT="95250" marB="95250" anchor="ctr">
                    <a:lnR w="9525">
                      <a:solidFill>
                        <a:srgbClr val="D5DFE4"/>
                      </a:solidFill>
                      <a:prstDash val="solid"/>
                    </a:lnR>
                    <a:lnB w="9525">
                      <a:solidFill>
                        <a:srgbClr val="D5DFE4"/>
                      </a:solidFill>
                      <a:prstDash val="solid"/>
                    </a:lnB>
                    <a:solidFill>
                      <a:srgbClr val="EDF3F5"/>
                    </a:solidFill>
                  </a:tcPr>
                </a:tc>
              </a:tr>
              <a:tr h="623888">
                <a:tc>
                  <a:txBody>
                    <a:bodyPr/>
                    <a:lstStyle/>
                    <a:p>
                      <a:r>
                        <a:rPr sz="2025" b="0">
                          <a:solidFill>
                            <a:srgbClr val="152D3A"/>
                          </a:solidFill>
                          <a:latin typeface="Arial"/>
                          <a:ea typeface="Arial"/>
                          <a:cs typeface="Arial"/>
                        </a:rPr>
                        <a:t>Test</a:t>
                      </a:r>
                    </a:p>
                  </a:txBody>
                  <a:tcPr marL="133350" marR="114300" marT="95250" marB="95250" anchor="ctr">
                    <a:lnL w="9525">
                      <a:solidFill>
                        <a:srgbClr val="D5DFE4"/>
                      </a:solidFill>
                      <a:prstDash val="solid"/>
                    </a:lnL>
                    <a:lnR w="9525">
                      <a:solidFill>
                        <a:srgbClr val="D5DFE4"/>
                      </a:solidFill>
                      <a:prstDash val="solid"/>
                    </a:lnR>
                    <a:lnB w="9525">
                      <a:solidFill>
                        <a:srgbClr val="D5DFE4"/>
                      </a:solidFill>
                      <a:prstDash val="solid"/>
                    </a:lnB>
                    <a:solidFill>
                      <a:srgbClr val="FFFFFF"/>
                    </a:solidFill>
                  </a:tcPr>
                </a:tc>
                <a:tc>
                  <a:txBody>
                    <a:bodyPr/>
                    <a:lstStyle/>
                    <a:p>
                      <a:r>
                        <a:rPr sz="2025" b="0">
                          <a:solidFill>
                            <a:srgbClr val="152D3A"/>
                          </a:solidFill>
                          <a:latin typeface="Arial"/>
                          <a:ea typeface="Arial"/>
                          <a:cs typeface="Arial"/>
                        </a:rPr>
                        <a:t>10</a:t>
                      </a:r>
                    </a:p>
                  </a:txBody>
                  <a:tcPr marL="133350" marR="114300" marT="95250" marB="95250" anchor="ctr">
                    <a:lnR w="9525">
                      <a:solidFill>
                        <a:srgbClr val="D5DFE4"/>
                      </a:solidFill>
                      <a:prstDash val="solid"/>
                    </a:lnR>
                    <a:lnB w="9525">
                      <a:solidFill>
                        <a:srgbClr val="D5DFE4"/>
                      </a:solidFill>
                      <a:prstDash val="solid"/>
                    </a:lnB>
                    <a:solidFill>
                      <a:srgbClr val="FFFFFF"/>
                    </a:solidFill>
                  </a:tcPr>
                </a:tc>
                <a:tc>
                  <a:txBody>
                    <a:bodyPr/>
                    <a:lstStyle/>
                    <a:p>
                      <a:r>
                        <a:rPr sz="2025" b="0">
                          <a:solidFill>
                            <a:srgbClr val="152D3A"/>
                          </a:solidFill>
                          <a:latin typeface="Arial"/>
                          <a:ea typeface="Arial"/>
                          <a:cs typeface="Arial"/>
                        </a:rPr>
                        <a:t>2,158</a:t>
                      </a:r>
                    </a:p>
                  </a:txBody>
                  <a:tcPr marL="133350" marR="114300" marT="95250" marB="95250" anchor="ctr">
                    <a:lnR w="9525">
                      <a:solidFill>
                        <a:srgbClr val="D5DFE4"/>
                      </a:solidFill>
                      <a:prstDash val="solid"/>
                    </a:lnR>
                    <a:lnB w="9525">
                      <a:solidFill>
                        <a:srgbClr val="D5DFE4"/>
                      </a:solidFill>
                      <a:prstDash val="solid"/>
                    </a:lnB>
                    <a:solidFill>
                      <a:srgbClr val="FFFFFF"/>
                    </a:solidFill>
                  </a:tcPr>
                </a:tc>
                <a:tc>
                  <a:txBody>
                    <a:bodyPr/>
                    <a:lstStyle/>
                    <a:p>
                      <a:r>
                        <a:rPr sz="2025" b="0">
                          <a:solidFill>
                            <a:srgbClr val="152D3A"/>
                          </a:solidFill>
                          <a:latin typeface="Arial"/>
                          <a:ea typeface="Arial"/>
                          <a:cs typeface="Arial"/>
                        </a:rPr>
                        <a:t>1,877</a:t>
                      </a:r>
                    </a:p>
                  </a:txBody>
                  <a:tcPr marL="133350" marR="114300" marT="95250" marB="95250" anchor="ctr">
                    <a:lnR w="9525">
                      <a:solidFill>
                        <a:srgbClr val="D5DFE4"/>
                      </a:solidFill>
                      <a:prstDash val="solid"/>
                    </a:lnR>
                    <a:lnB w="9525">
                      <a:solidFill>
                        <a:srgbClr val="D5DFE4"/>
                      </a:solidFill>
                      <a:prstDash val="solid"/>
                    </a:lnB>
                    <a:solidFill>
                      <a:srgbClr val="FFFFFF"/>
                    </a:solidFill>
                  </a:tcPr>
                </a:tc>
              </a:tr>
            </a:tbl>
          </a:graphicData>
        </a:graphic>
      </p:graphicFrame>
      <p:sp>
        <p:nvSpPr>
          <p:cNvPr id="6" name="411 exclusions from 21,799 source records. No">
            <a:extLst xmlns:a="http://schemas.openxmlformats.org/drawingml/2006/main">
              <a:ext uri="{FF2B5EF4-FFF2-40B4-BE49-F238E27FC236}">
                <a16:creationId xmlns:a16="http://schemas.microsoft.com/office/drawing/2014/main" id="{ECEE28D3-DE30-4A42-8B4F-326F8076CA01}"/>
              </a:ext>
            </a:extLst>
          </p:cNvPr>
          <p:cNvSpPr>
            <a:spLocks xmlns:a="http://schemas.openxmlformats.org/drawingml/2006/main" noGrp="1"/>
          </p:cNvSpPr>
          <p:nvPr/>
        </p:nvSpPr>
        <p:spPr>
          <a:xfrm xmlns:a="http://schemas.openxmlformats.org/drawingml/2006/main">
            <a:off x="609600" y="59912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775"/>
                </a:solidFill>
                <a:latin typeface="Arial"/>
                <a:ea typeface="Arial"/>
                <a:cs typeface="Arial"/>
              </a:defRPr>
            </a:defPPr>
            <a:lvl1pPr>
              <a:defRPr sz="1275" b="0">
                <a:solidFill>
                  <a:srgbClr val="536775"/>
                </a:solidFill>
                <a:latin typeface="Arial"/>
                <a:ea typeface="Arial"/>
                <a:cs typeface="Arial"/>
              </a:defRPr>
            </a:lvl1pPr>
            <a:lvl2pPr>
              <a:defRPr sz="1275" b="0">
                <a:solidFill>
                  <a:srgbClr val="536775"/>
                </a:solidFill>
                <a:latin typeface="Arial"/>
                <a:ea typeface="Arial"/>
                <a:cs typeface="Arial"/>
              </a:defRPr>
            </a:lvl2pPr>
            <a:lvl3pPr>
              <a:defRPr sz="1275" b="0">
                <a:solidFill>
                  <a:srgbClr val="536775"/>
                </a:solidFill>
                <a:latin typeface="Arial"/>
                <a:ea typeface="Arial"/>
                <a:cs typeface="Arial"/>
              </a:defRPr>
            </a:lvl3pPr>
            <a:lvl4pPr>
              <a:defRPr sz="1275" b="0">
                <a:solidFill>
                  <a:srgbClr val="536775"/>
                </a:solidFill>
                <a:latin typeface="Arial"/>
                <a:ea typeface="Arial"/>
                <a:cs typeface="Arial"/>
              </a:defRPr>
            </a:lvl4pPr>
            <a:lvl5pPr>
              <a:defRPr sz="1275" b="0">
                <a:solidFill>
                  <a:srgbClr val="536775"/>
                </a:solidFill>
                <a:latin typeface="Arial"/>
                <a:ea typeface="Arial"/>
                <a:cs typeface="Arial"/>
              </a:defRPr>
            </a:lvl5pPr>
            <a:lvl6pPr>
              <a:defRPr sz="1275" b="0">
                <a:solidFill>
                  <a:srgbClr val="536775"/>
                </a:solidFill>
                <a:latin typeface="Arial"/>
                <a:ea typeface="Arial"/>
                <a:cs typeface="Arial"/>
              </a:defRPr>
            </a:lvl6pPr>
            <a:lvl7pPr>
              <a:defRPr sz="1275" b="0">
                <a:solidFill>
                  <a:srgbClr val="536775"/>
                </a:solidFill>
                <a:latin typeface="Arial"/>
                <a:ea typeface="Arial"/>
                <a:cs typeface="Arial"/>
              </a:defRPr>
            </a:lvl7pPr>
            <a:lvl8pPr>
              <a:defRPr sz="1275" b="0">
                <a:solidFill>
                  <a:srgbClr val="536775"/>
                </a:solidFill>
                <a:latin typeface="Arial"/>
                <a:ea typeface="Arial"/>
                <a:cs typeface="Arial"/>
              </a:defRPr>
            </a:lvl8pPr>
            <a:lvl9pPr>
              <a:defRPr sz="1275" b="0">
                <a:solidFill>
                  <a:srgbClr val="536775"/>
                </a:solidFill>
                <a:latin typeface="Arial"/>
                <a:ea typeface="Arial"/>
                <a:cs typeface="Arial"/>
              </a:defRPr>
            </a:lvl9pPr>
          </a:lstStyle>
          <a:p xmlns:a="http://schemas.openxmlformats.org/drawingml/2006/main">
            <a:pPr>
              <a:defRPr sz="1275" b="0">
                <a:solidFill>
                  <a:srgbClr val="536775"/>
                </a:solidFill>
                <a:latin typeface="Arial"/>
                <a:ea typeface="Arial"/>
                <a:cs typeface="Arial"/>
              </a:defRPr>
            </a:pPr>
            <a:r>
              <a:rPr sz="1275" b="0">
                <a:solidFill>
                  <a:srgbClr val="536775"/>
                </a:solidFill>
                <a:latin typeface="Arial"/>
                <a:ea typeface="Arial"/>
                <a:cs typeface="Arial"/>
              </a:rPr>
              <a:t>411 exclusions from 21,799 source records. No patient overlap or exact waveform duplicates across partitions.</a:t>
            </a:r>
          </a:p>
        </p:txBody>
      </p:sp>
    </p:spTree>
    <p:extLst>
      <p:ext uri="{BB962C8B-B14F-4D97-AF65-F5344CB8AC3E}">
        <p14:creationId xmlns:p14="http://schemas.microsoft.com/office/powerpoint/2010/main" val="514117583"/>
      </p:ext>
    </p:extLst>
  </p:cSld>
</p:sld>
</file>

<file path=ppt/slides/slide5.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14" name="Experiment workflow">
            <a:extLst xmlns:a="http://schemas.openxmlformats.org/drawingml/2006/main">
              <a:ext uri="{FF2B5EF4-FFF2-40B4-BE49-F238E27FC236}">
                <a16:creationId xmlns:a16="http://schemas.microsoft.com/office/drawing/2014/main" id="{5935C4C0-3E93-4BE4-A8C4-541535A12F48}"/>
              </a:ext>
            </a:extLst>
          </p:cNvPr>
          <p:cNvSpPr>
            <a:spLocks xmlns:a="http://schemas.openxmlformats.org/drawingml/2006/main" noGrp="1"/>
          </p:cNvSpPr>
          <p:nvPr/>
        </p:nvSpPr>
        <p:spPr>
          <a:xfrm xmlns:a="http://schemas.openxmlformats.org/drawingml/2006/main">
            <a:off x="609600" y="40005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D3A"/>
                </a:solidFill>
                <a:latin typeface="Arial"/>
                <a:ea typeface="Arial"/>
                <a:cs typeface="Arial"/>
              </a:defRPr>
            </a:defPPr>
            <a:lvl1pPr>
              <a:defRPr sz="3150" b="1">
                <a:solidFill>
                  <a:srgbClr val="152D3A"/>
                </a:solidFill>
                <a:latin typeface="Arial"/>
                <a:ea typeface="Arial"/>
                <a:cs typeface="Arial"/>
              </a:defRPr>
            </a:lvl1pPr>
            <a:lvl2pPr>
              <a:defRPr sz="3150" b="1">
                <a:solidFill>
                  <a:srgbClr val="152D3A"/>
                </a:solidFill>
                <a:latin typeface="Arial"/>
                <a:ea typeface="Arial"/>
                <a:cs typeface="Arial"/>
              </a:defRPr>
            </a:lvl2pPr>
            <a:lvl3pPr>
              <a:defRPr sz="3150" b="1">
                <a:solidFill>
                  <a:srgbClr val="152D3A"/>
                </a:solidFill>
                <a:latin typeface="Arial"/>
                <a:ea typeface="Arial"/>
                <a:cs typeface="Arial"/>
              </a:defRPr>
            </a:lvl3pPr>
            <a:lvl4pPr>
              <a:defRPr sz="3150" b="1">
                <a:solidFill>
                  <a:srgbClr val="152D3A"/>
                </a:solidFill>
                <a:latin typeface="Arial"/>
                <a:ea typeface="Arial"/>
                <a:cs typeface="Arial"/>
              </a:defRPr>
            </a:lvl4pPr>
            <a:lvl5pPr>
              <a:defRPr sz="3150" b="1">
                <a:solidFill>
                  <a:srgbClr val="152D3A"/>
                </a:solidFill>
                <a:latin typeface="Arial"/>
                <a:ea typeface="Arial"/>
                <a:cs typeface="Arial"/>
              </a:defRPr>
            </a:lvl5pPr>
            <a:lvl6pPr>
              <a:defRPr sz="3150" b="1">
                <a:solidFill>
                  <a:srgbClr val="152D3A"/>
                </a:solidFill>
                <a:latin typeface="Arial"/>
                <a:ea typeface="Arial"/>
                <a:cs typeface="Arial"/>
              </a:defRPr>
            </a:lvl6pPr>
            <a:lvl7pPr>
              <a:defRPr sz="3150" b="1">
                <a:solidFill>
                  <a:srgbClr val="152D3A"/>
                </a:solidFill>
                <a:latin typeface="Arial"/>
                <a:ea typeface="Arial"/>
                <a:cs typeface="Arial"/>
              </a:defRPr>
            </a:lvl7pPr>
            <a:lvl8pPr>
              <a:defRPr sz="3150" b="1">
                <a:solidFill>
                  <a:srgbClr val="152D3A"/>
                </a:solidFill>
                <a:latin typeface="Arial"/>
                <a:ea typeface="Arial"/>
                <a:cs typeface="Arial"/>
              </a:defRPr>
            </a:lvl8pPr>
            <a:lvl9pPr>
              <a:defRPr sz="3150" b="1">
                <a:solidFill>
                  <a:srgbClr val="152D3A"/>
                </a:solidFill>
                <a:latin typeface="Arial"/>
                <a:ea typeface="Arial"/>
                <a:cs typeface="Arial"/>
              </a:defRPr>
            </a:lvl9pPr>
          </a:lstStyle>
          <a:p xmlns:a="http://schemas.openxmlformats.org/drawingml/2006/main">
            <a:pPr>
              <a:defRPr sz="3150" b="1">
                <a:solidFill>
                  <a:srgbClr val="152D3A"/>
                </a:solidFill>
                <a:latin typeface="Arial"/>
                <a:ea typeface="Arial"/>
                <a:cs typeface="Arial"/>
              </a:defRPr>
            </a:pPr>
            <a:r>
              <a:rPr sz="3150" b="1">
                <a:solidFill>
                  <a:srgbClr val="152D3A"/>
                </a:solidFill>
                <a:latin typeface="Arial"/>
                <a:ea typeface="Arial"/>
                <a:cs typeface="Arial"/>
              </a:rPr>
              <a:t>Experiment workflow</a:t>
            </a:r>
          </a:p>
        </p:txBody>
      </p:sp>
      <p:sp>
        <p:nvSpPr>
          <p:cNvPr id="2" name="05">
            <a:extLst xmlns:a="http://schemas.openxmlformats.org/drawingml/2006/main">
              <a:ext uri="{FF2B5EF4-FFF2-40B4-BE49-F238E27FC236}">
                <a16:creationId xmlns:a16="http://schemas.microsoft.com/office/drawing/2014/main" id="{5145AC78-87F1-4509-9E41-AEC23F9C9A60}"/>
              </a:ext>
            </a:extLst>
          </p:cNvPr>
          <p:cNvSpPr>
            <a:spLocks xmlns:a="http://schemas.openxmlformats.org/drawingml/2006/main" noGrp="1"/>
          </p:cNvSpPr>
          <p:nvPr/>
        </p:nvSpPr>
        <p:spPr>
          <a:xfrm xmlns:a="http://schemas.openxmlformats.org/drawingml/2006/main">
            <a:off x="11144250" y="63817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775"/>
                </a:solidFill>
                <a:latin typeface="Arial"/>
                <a:ea typeface="Arial"/>
                <a:cs typeface="Arial"/>
              </a:defRPr>
            </a:defPPr>
            <a:lvl1pPr>
              <a:defRPr sz="1200" b="0">
                <a:solidFill>
                  <a:srgbClr val="536775"/>
                </a:solidFill>
                <a:latin typeface="Arial"/>
                <a:ea typeface="Arial"/>
                <a:cs typeface="Arial"/>
              </a:defRPr>
            </a:lvl1pPr>
            <a:lvl2pPr>
              <a:defRPr sz="1200" b="0">
                <a:solidFill>
                  <a:srgbClr val="536775"/>
                </a:solidFill>
                <a:latin typeface="Arial"/>
                <a:ea typeface="Arial"/>
                <a:cs typeface="Arial"/>
              </a:defRPr>
            </a:lvl2pPr>
            <a:lvl3pPr>
              <a:defRPr sz="1200" b="0">
                <a:solidFill>
                  <a:srgbClr val="536775"/>
                </a:solidFill>
                <a:latin typeface="Arial"/>
                <a:ea typeface="Arial"/>
                <a:cs typeface="Arial"/>
              </a:defRPr>
            </a:lvl3pPr>
            <a:lvl4pPr>
              <a:defRPr sz="1200" b="0">
                <a:solidFill>
                  <a:srgbClr val="536775"/>
                </a:solidFill>
                <a:latin typeface="Arial"/>
                <a:ea typeface="Arial"/>
                <a:cs typeface="Arial"/>
              </a:defRPr>
            </a:lvl4pPr>
            <a:lvl5pPr>
              <a:defRPr sz="1200" b="0">
                <a:solidFill>
                  <a:srgbClr val="536775"/>
                </a:solidFill>
                <a:latin typeface="Arial"/>
                <a:ea typeface="Arial"/>
                <a:cs typeface="Arial"/>
              </a:defRPr>
            </a:lvl5pPr>
            <a:lvl6pPr>
              <a:defRPr sz="1200" b="0">
                <a:solidFill>
                  <a:srgbClr val="536775"/>
                </a:solidFill>
                <a:latin typeface="Arial"/>
                <a:ea typeface="Arial"/>
                <a:cs typeface="Arial"/>
              </a:defRPr>
            </a:lvl6pPr>
            <a:lvl7pPr>
              <a:defRPr sz="1200" b="0">
                <a:solidFill>
                  <a:srgbClr val="536775"/>
                </a:solidFill>
                <a:latin typeface="Arial"/>
                <a:ea typeface="Arial"/>
                <a:cs typeface="Arial"/>
              </a:defRPr>
            </a:lvl7pPr>
            <a:lvl8pPr>
              <a:defRPr sz="1200" b="0">
                <a:solidFill>
                  <a:srgbClr val="536775"/>
                </a:solidFill>
                <a:latin typeface="Arial"/>
                <a:ea typeface="Arial"/>
                <a:cs typeface="Arial"/>
              </a:defRPr>
            </a:lvl8pPr>
            <a:lvl9pPr>
              <a:defRPr sz="1200" b="0">
                <a:solidFill>
                  <a:srgbClr val="536775"/>
                </a:solidFill>
                <a:latin typeface="Arial"/>
                <a:ea typeface="Arial"/>
                <a:cs typeface="Arial"/>
              </a:defRPr>
            </a:lvl9pPr>
          </a:lstStyle>
          <a:p xmlns:a="http://schemas.openxmlformats.org/drawingml/2006/main">
            <a:pPr>
              <a:defRPr sz="1200" b="0">
                <a:solidFill>
                  <a:srgbClr val="536775"/>
                </a:solidFill>
                <a:latin typeface="Arial"/>
                <a:ea typeface="Arial"/>
                <a:cs typeface="Arial"/>
              </a:defRPr>
            </a:pPr>
            <a:r>
              <a:rPr sz="1200" b="0">
                <a:solidFill>
                  <a:srgbClr val="536775"/>
                </a:solidFill>
                <a:latin typeface="Arial"/>
                <a:ea typeface="Arial"/>
                <a:cs typeface="Arial"/>
              </a:rPr>
              <a:t>05</a:t>
            </a:r>
          </a:p>
        </p:txBody>
      </p:sp>
      <p:sp>
        <p:nvSpPr>
          <p:cNvPr id="3" name="01">
            <a:extLst xmlns:a="http://schemas.openxmlformats.org/drawingml/2006/main">
              <a:ext uri="{FF2B5EF4-FFF2-40B4-BE49-F238E27FC236}">
                <a16:creationId xmlns:a16="http://schemas.microsoft.com/office/drawing/2014/main" id="{0D785149-3556-4FCE-8A61-EFACF55F0B06}"/>
              </a:ext>
            </a:extLst>
          </p:cNvPr>
          <p:cNvSpPr>
            <a:spLocks xmlns:a="http://schemas.openxmlformats.org/drawingml/2006/main" noGrp="1"/>
          </p:cNvSpPr>
          <p:nvPr/>
        </p:nvSpPr>
        <p:spPr>
          <a:xfrm xmlns:a="http://schemas.openxmlformats.org/drawingml/2006/main">
            <a:off x="609600" y="1447800"/>
            <a:ext cx="438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xmlns:a="http://schemas.openxmlformats.org/drawingml/2006/main">
            <a:pPr>
              <a:defRPr sz="1800" b="1">
                <a:solidFill>
                  <a:srgbClr val="087E8B"/>
                </a:solidFill>
                <a:latin typeface="Arial"/>
                <a:ea typeface="Arial"/>
                <a:cs typeface="Arial"/>
              </a:defRPr>
            </a:pPr>
            <a:r>
              <a:rPr sz="1800" b="1">
                <a:solidFill>
                  <a:srgbClr val="087E8B"/>
                </a:solidFill>
                <a:latin typeface="Arial"/>
                <a:ea typeface="Arial"/>
                <a:cs typeface="Arial"/>
              </a:rPr>
              <a:t>01</a:t>
            </a:r>
          </a:p>
        </p:txBody>
      </p:sp>
      <p:sp>
        <p:nvSpPr>
          <p:cNvPr id="4" name="Download 100 Hz waveforms and verify release ">
            <a:extLst xmlns:a="http://schemas.openxmlformats.org/drawingml/2006/main">
              <a:ext uri="{FF2B5EF4-FFF2-40B4-BE49-F238E27FC236}">
                <a16:creationId xmlns:a16="http://schemas.microsoft.com/office/drawing/2014/main" id="{37119716-B095-4CE1-B3FF-53B13A9E87F3}"/>
              </a:ext>
            </a:extLst>
          </p:cNvPr>
          <p:cNvSpPr>
            <a:spLocks xmlns:a="http://schemas.openxmlformats.org/drawingml/2006/main" noGrp="1"/>
          </p:cNvSpPr>
          <p:nvPr/>
        </p:nvSpPr>
        <p:spPr>
          <a:xfrm xmlns:a="http://schemas.openxmlformats.org/drawingml/2006/main">
            <a:off x="1228725" y="1447800"/>
            <a:ext cx="10239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52D3A"/>
                </a:solidFill>
                <a:latin typeface="Arial"/>
                <a:ea typeface="Arial"/>
                <a:cs typeface="Arial"/>
              </a:defRPr>
            </a:defPPr>
            <a:lvl1pPr>
              <a:defRPr sz="2025" b="0">
                <a:solidFill>
                  <a:srgbClr val="152D3A"/>
                </a:solidFill>
                <a:latin typeface="Arial"/>
                <a:ea typeface="Arial"/>
                <a:cs typeface="Arial"/>
              </a:defRPr>
            </a:lvl1pPr>
            <a:lvl2pPr>
              <a:defRPr sz="2025" b="0">
                <a:solidFill>
                  <a:srgbClr val="152D3A"/>
                </a:solidFill>
                <a:latin typeface="Arial"/>
                <a:ea typeface="Arial"/>
                <a:cs typeface="Arial"/>
              </a:defRPr>
            </a:lvl2pPr>
            <a:lvl3pPr>
              <a:defRPr sz="2025" b="0">
                <a:solidFill>
                  <a:srgbClr val="152D3A"/>
                </a:solidFill>
                <a:latin typeface="Arial"/>
                <a:ea typeface="Arial"/>
                <a:cs typeface="Arial"/>
              </a:defRPr>
            </a:lvl3pPr>
            <a:lvl4pPr>
              <a:defRPr sz="2025" b="0">
                <a:solidFill>
                  <a:srgbClr val="152D3A"/>
                </a:solidFill>
                <a:latin typeface="Arial"/>
                <a:ea typeface="Arial"/>
                <a:cs typeface="Arial"/>
              </a:defRPr>
            </a:lvl4pPr>
            <a:lvl5pPr>
              <a:defRPr sz="2025" b="0">
                <a:solidFill>
                  <a:srgbClr val="152D3A"/>
                </a:solidFill>
                <a:latin typeface="Arial"/>
                <a:ea typeface="Arial"/>
                <a:cs typeface="Arial"/>
              </a:defRPr>
            </a:lvl5pPr>
            <a:lvl6pPr>
              <a:defRPr sz="2025" b="0">
                <a:solidFill>
                  <a:srgbClr val="152D3A"/>
                </a:solidFill>
                <a:latin typeface="Arial"/>
                <a:ea typeface="Arial"/>
                <a:cs typeface="Arial"/>
              </a:defRPr>
            </a:lvl6pPr>
            <a:lvl7pPr>
              <a:defRPr sz="2025" b="0">
                <a:solidFill>
                  <a:srgbClr val="152D3A"/>
                </a:solidFill>
                <a:latin typeface="Arial"/>
                <a:ea typeface="Arial"/>
                <a:cs typeface="Arial"/>
              </a:defRPr>
            </a:lvl7pPr>
            <a:lvl8pPr>
              <a:defRPr sz="2025" b="0">
                <a:solidFill>
                  <a:srgbClr val="152D3A"/>
                </a:solidFill>
                <a:latin typeface="Arial"/>
                <a:ea typeface="Arial"/>
                <a:cs typeface="Arial"/>
              </a:defRPr>
            </a:lvl8pPr>
            <a:lvl9pPr>
              <a:defRPr sz="2025" b="0">
                <a:solidFill>
                  <a:srgbClr val="152D3A"/>
                </a:solidFill>
                <a:latin typeface="Arial"/>
                <a:ea typeface="Arial"/>
                <a:cs typeface="Arial"/>
              </a:defRPr>
            </a:lvl9pPr>
          </a:lstStyle>
          <a:p xmlns:a="http://schemas.openxmlformats.org/drawingml/2006/main">
            <a:pPr>
              <a:defRPr sz="2025" b="0">
                <a:solidFill>
                  <a:srgbClr val="152D3A"/>
                </a:solidFill>
                <a:latin typeface="Arial"/>
                <a:ea typeface="Arial"/>
                <a:cs typeface="Arial"/>
              </a:defRPr>
            </a:pPr>
            <a:r>
              <a:rPr sz="2025" b="0">
                <a:solidFill>
                  <a:srgbClr val="152D3A"/>
                </a:solidFill>
                <a:latin typeface="Arial"/>
                <a:ea typeface="Arial"/>
                <a:cs typeface="Arial"/>
              </a:rPr>
              <a:t>Download 100 Hz waveforms and verify release SHA-256 checksums.</a:t>
            </a:r>
          </a:p>
        </p:txBody>
      </p:sp>
      <p:sp>
        <p:nvSpPr>
          <p:cNvPr id="5" name="02">
            <a:extLst xmlns:a="http://schemas.openxmlformats.org/drawingml/2006/main">
              <a:ext uri="{FF2B5EF4-FFF2-40B4-BE49-F238E27FC236}">
                <a16:creationId xmlns:a16="http://schemas.microsoft.com/office/drawing/2014/main" id="{32F77D1A-F77A-4BB8-A950-1646885C7FC5}"/>
              </a:ext>
            </a:extLst>
          </p:cNvPr>
          <p:cNvSpPr>
            <a:spLocks xmlns:a="http://schemas.openxmlformats.org/drawingml/2006/main" noGrp="1"/>
          </p:cNvSpPr>
          <p:nvPr/>
        </p:nvSpPr>
        <p:spPr>
          <a:xfrm xmlns:a="http://schemas.openxmlformats.org/drawingml/2006/main">
            <a:off x="609600" y="2276475"/>
            <a:ext cx="438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xmlns:a="http://schemas.openxmlformats.org/drawingml/2006/main">
            <a:pPr>
              <a:defRPr sz="1800" b="1">
                <a:solidFill>
                  <a:srgbClr val="087E8B"/>
                </a:solidFill>
                <a:latin typeface="Arial"/>
                <a:ea typeface="Arial"/>
                <a:cs typeface="Arial"/>
              </a:defRPr>
            </a:pPr>
            <a:r>
              <a:rPr sz="1800" b="1">
                <a:solidFill>
                  <a:srgbClr val="087E8B"/>
                </a:solidFill>
                <a:latin typeface="Arial"/>
                <a:ea typeface="Arial"/>
                <a:cs typeface="Arial"/>
              </a:rPr>
              <a:t>02</a:t>
            </a:r>
          </a:p>
        </p:txBody>
      </p:sp>
      <p:sp>
        <p:nvSpPr>
          <p:cNvPr id="6" name="Apply official folds and compute normalizatio">
            <a:extLst xmlns:a="http://schemas.openxmlformats.org/drawingml/2006/main">
              <a:ext uri="{FF2B5EF4-FFF2-40B4-BE49-F238E27FC236}">
                <a16:creationId xmlns:a16="http://schemas.microsoft.com/office/drawing/2014/main" id="{AB83B503-C790-4A82-98D1-0119B19B9236}"/>
              </a:ext>
            </a:extLst>
          </p:cNvPr>
          <p:cNvSpPr>
            <a:spLocks xmlns:a="http://schemas.openxmlformats.org/drawingml/2006/main" noGrp="1"/>
          </p:cNvSpPr>
          <p:nvPr/>
        </p:nvSpPr>
        <p:spPr>
          <a:xfrm xmlns:a="http://schemas.openxmlformats.org/drawingml/2006/main">
            <a:off x="1228725" y="2276475"/>
            <a:ext cx="10239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52D3A"/>
                </a:solidFill>
                <a:latin typeface="Arial"/>
                <a:ea typeface="Arial"/>
                <a:cs typeface="Arial"/>
              </a:defRPr>
            </a:defPPr>
            <a:lvl1pPr>
              <a:defRPr sz="2025" b="0">
                <a:solidFill>
                  <a:srgbClr val="152D3A"/>
                </a:solidFill>
                <a:latin typeface="Arial"/>
                <a:ea typeface="Arial"/>
                <a:cs typeface="Arial"/>
              </a:defRPr>
            </a:lvl1pPr>
            <a:lvl2pPr>
              <a:defRPr sz="2025" b="0">
                <a:solidFill>
                  <a:srgbClr val="152D3A"/>
                </a:solidFill>
                <a:latin typeface="Arial"/>
                <a:ea typeface="Arial"/>
                <a:cs typeface="Arial"/>
              </a:defRPr>
            </a:lvl2pPr>
            <a:lvl3pPr>
              <a:defRPr sz="2025" b="0">
                <a:solidFill>
                  <a:srgbClr val="152D3A"/>
                </a:solidFill>
                <a:latin typeface="Arial"/>
                <a:ea typeface="Arial"/>
                <a:cs typeface="Arial"/>
              </a:defRPr>
            </a:lvl3pPr>
            <a:lvl4pPr>
              <a:defRPr sz="2025" b="0">
                <a:solidFill>
                  <a:srgbClr val="152D3A"/>
                </a:solidFill>
                <a:latin typeface="Arial"/>
                <a:ea typeface="Arial"/>
                <a:cs typeface="Arial"/>
              </a:defRPr>
            </a:lvl4pPr>
            <a:lvl5pPr>
              <a:defRPr sz="2025" b="0">
                <a:solidFill>
                  <a:srgbClr val="152D3A"/>
                </a:solidFill>
                <a:latin typeface="Arial"/>
                <a:ea typeface="Arial"/>
                <a:cs typeface="Arial"/>
              </a:defRPr>
            </a:lvl5pPr>
            <a:lvl6pPr>
              <a:defRPr sz="2025" b="0">
                <a:solidFill>
                  <a:srgbClr val="152D3A"/>
                </a:solidFill>
                <a:latin typeface="Arial"/>
                <a:ea typeface="Arial"/>
                <a:cs typeface="Arial"/>
              </a:defRPr>
            </a:lvl6pPr>
            <a:lvl7pPr>
              <a:defRPr sz="2025" b="0">
                <a:solidFill>
                  <a:srgbClr val="152D3A"/>
                </a:solidFill>
                <a:latin typeface="Arial"/>
                <a:ea typeface="Arial"/>
                <a:cs typeface="Arial"/>
              </a:defRPr>
            </a:lvl7pPr>
            <a:lvl8pPr>
              <a:defRPr sz="2025" b="0">
                <a:solidFill>
                  <a:srgbClr val="152D3A"/>
                </a:solidFill>
                <a:latin typeface="Arial"/>
                <a:ea typeface="Arial"/>
                <a:cs typeface="Arial"/>
              </a:defRPr>
            </a:lvl8pPr>
            <a:lvl9pPr>
              <a:defRPr sz="2025" b="0">
                <a:solidFill>
                  <a:srgbClr val="152D3A"/>
                </a:solidFill>
                <a:latin typeface="Arial"/>
                <a:ea typeface="Arial"/>
                <a:cs typeface="Arial"/>
              </a:defRPr>
            </a:lvl9pPr>
          </a:lstStyle>
          <a:p xmlns:a="http://schemas.openxmlformats.org/drawingml/2006/main">
            <a:pPr>
              <a:defRPr sz="2025" b="0">
                <a:solidFill>
                  <a:srgbClr val="152D3A"/>
                </a:solidFill>
                <a:latin typeface="Arial"/>
                <a:ea typeface="Arial"/>
                <a:cs typeface="Arial"/>
              </a:defRPr>
            </a:pPr>
            <a:r>
              <a:rPr sz="2025" b="0">
                <a:solidFill>
                  <a:srgbClr val="152D3A"/>
                </a:solidFill>
                <a:latin typeface="Arial"/>
                <a:ea typeface="Arial"/>
                <a:cs typeface="Arial"/>
              </a:rPr>
              <a:t>Apply official folds and compute normalization on training records.</a:t>
            </a:r>
          </a:p>
        </p:txBody>
      </p:sp>
      <p:sp>
        <p:nvSpPr>
          <p:cNvPr id="7" name="03">
            <a:extLst xmlns:a="http://schemas.openxmlformats.org/drawingml/2006/main">
              <a:ext uri="{FF2B5EF4-FFF2-40B4-BE49-F238E27FC236}">
                <a16:creationId xmlns:a16="http://schemas.microsoft.com/office/drawing/2014/main" id="{CCF273FF-5A2A-4E53-970D-9EC4A35F7313}"/>
              </a:ext>
            </a:extLst>
          </p:cNvPr>
          <p:cNvSpPr>
            <a:spLocks xmlns:a="http://schemas.openxmlformats.org/drawingml/2006/main" noGrp="1"/>
          </p:cNvSpPr>
          <p:nvPr/>
        </p:nvSpPr>
        <p:spPr>
          <a:xfrm xmlns:a="http://schemas.openxmlformats.org/drawingml/2006/main">
            <a:off x="609600" y="3105150"/>
            <a:ext cx="438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xmlns:a="http://schemas.openxmlformats.org/drawingml/2006/main">
            <a:pPr>
              <a:defRPr sz="1800" b="1">
                <a:solidFill>
                  <a:srgbClr val="087E8B"/>
                </a:solidFill>
                <a:latin typeface="Arial"/>
                <a:ea typeface="Arial"/>
                <a:cs typeface="Arial"/>
              </a:defRPr>
            </a:pPr>
            <a:r>
              <a:rPr sz="1800" b="1">
                <a:solidFill>
                  <a:srgbClr val="087E8B"/>
                </a:solidFill>
                <a:latin typeface="Arial"/>
                <a:ea typeface="Arial"/>
                <a:cs typeface="Arial"/>
              </a:rPr>
              <a:t>03</a:t>
            </a:r>
          </a:p>
        </p:txBody>
      </p:sp>
      <p:sp>
        <p:nvSpPr>
          <p:cNvPr id="8" name="Fit models and select checkpoints and thresho">
            <a:extLst xmlns:a="http://schemas.openxmlformats.org/drawingml/2006/main">
              <a:ext uri="{FF2B5EF4-FFF2-40B4-BE49-F238E27FC236}">
                <a16:creationId xmlns:a16="http://schemas.microsoft.com/office/drawing/2014/main" id="{3B4302D1-424D-498A-9C21-0622E0333344}"/>
              </a:ext>
            </a:extLst>
          </p:cNvPr>
          <p:cNvSpPr>
            <a:spLocks xmlns:a="http://schemas.openxmlformats.org/drawingml/2006/main" noGrp="1"/>
          </p:cNvSpPr>
          <p:nvPr/>
        </p:nvSpPr>
        <p:spPr>
          <a:xfrm xmlns:a="http://schemas.openxmlformats.org/drawingml/2006/main">
            <a:off x="1228725" y="3105150"/>
            <a:ext cx="10239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52D3A"/>
                </a:solidFill>
                <a:latin typeface="Arial"/>
                <a:ea typeface="Arial"/>
                <a:cs typeface="Arial"/>
              </a:defRPr>
            </a:defPPr>
            <a:lvl1pPr>
              <a:defRPr sz="2025" b="0">
                <a:solidFill>
                  <a:srgbClr val="152D3A"/>
                </a:solidFill>
                <a:latin typeface="Arial"/>
                <a:ea typeface="Arial"/>
                <a:cs typeface="Arial"/>
              </a:defRPr>
            </a:lvl1pPr>
            <a:lvl2pPr>
              <a:defRPr sz="2025" b="0">
                <a:solidFill>
                  <a:srgbClr val="152D3A"/>
                </a:solidFill>
                <a:latin typeface="Arial"/>
                <a:ea typeface="Arial"/>
                <a:cs typeface="Arial"/>
              </a:defRPr>
            </a:lvl2pPr>
            <a:lvl3pPr>
              <a:defRPr sz="2025" b="0">
                <a:solidFill>
                  <a:srgbClr val="152D3A"/>
                </a:solidFill>
                <a:latin typeface="Arial"/>
                <a:ea typeface="Arial"/>
                <a:cs typeface="Arial"/>
              </a:defRPr>
            </a:lvl3pPr>
            <a:lvl4pPr>
              <a:defRPr sz="2025" b="0">
                <a:solidFill>
                  <a:srgbClr val="152D3A"/>
                </a:solidFill>
                <a:latin typeface="Arial"/>
                <a:ea typeface="Arial"/>
                <a:cs typeface="Arial"/>
              </a:defRPr>
            </a:lvl4pPr>
            <a:lvl5pPr>
              <a:defRPr sz="2025" b="0">
                <a:solidFill>
                  <a:srgbClr val="152D3A"/>
                </a:solidFill>
                <a:latin typeface="Arial"/>
                <a:ea typeface="Arial"/>
                <a:cs typeface="Arial"/>
              </a:defRPr>
            </a:lvl5pPr>
            <a:lvl6pPr>
              <a:defRPr sz="2025" b="0">
                <a:solidFill>
                  <a:srgbClr val="152D3A"/>
                </a:solidFill>
                <a:latin typeface="Arial"/>
                <a:ea typeface="Arial"/>
                <a:cs typeface="Arial"/>
              </a:defRPr>
            </a:lvl6pPr>
            <a:lvl7pPr>
              <a:defRPr sz="2025" b="0">
                <a:solidFill>
                  <a:srgbClr val="152D3A"/>
                </a:solidFill>
                <a:latin typeface="Arial"/>
                <a:ea typeface="Arial"/>
                <a:cs typeface="Arial"/>
              </a:defRPr>
            </a:lvl7pPr>
            <a:lvl8pPr>
              <a:defRPr sz="2025" b="0">
                <a:solidFill>
                  <a:srgbClr val="152D3A"/>
                </a:solidFill>
                <a:latin typeface="Arial"/>
                <a:ea typeface="Arial"/>
                <a:cs typeface="Arial"/>
              </a:defRPr>
            </a:lvl8pPr>
            <a:lvl9pPr>
              <a:defRPr sz="2025" b="0">
                <a:solidFill>
                  <a:srgbClr val="152D3A"/>
                </a:solidFill>
                <a:latin typeface="Arial"/>
                <a:ea typeface="Arial"/>
                <a:cs typeface="Arial"/>
              </a:defRPr>
            </a:lvl9pPr>
          </a:lstStyle>
          <a:p xmlns:a="http://schemas.openxmlformats.org/drawingml/2006/main">
            <a:pPr>
              <a:defRPr sz="2025" b="0">
                <a:solidFill>
                  <a:srgbClr val="152D3A"/>
                </a:solidFill>
                <a:latin typeface="Arial"/>
                <a:ea typeface="Arial"/>
                <a:cs typeface="Arial"/>
              </a:defRPr>
            </a:pPr>
            <a:r>
              <a:rPr sz="2025" b="0">
                <a:solidFill>
                  <a:srgbClr val="152D3A"/>
                </a:solidFill>
                <a:latin typeface="Arial"/>
                <a:ea typeface="Arial"/>
                <a:cs typeface="Arial"/>
              </a:rPr>
              <a:t>Fit models and select checkpoints and thresholds on validation data.</a:t>
            </a:r>
          </a:p>
        </p:txBody>
      </p:sp>
      <p:sp>
        <p:nvSpPr>
          <p:cNvPr id="9" name="04">
            <a:extLst xmlns:a="http://schemas.openxmlformats.org/drawingml/2006/main">
              <a:ext uri="{FF2B5EF4-FFF2-40B4-BE49-F238E27FC236}">
                <a16:creationId xmlns:a16="http://schemas.microsoft.com/office/drawing/2014/main" id="{684DF337-7DF1-4164-9537-469C02280626}"/>
              </a:ext>
            </a:extLst>
          </p:cNvPr>
          <p:cNvSpPr>
            <a:spLocks xmlns:a="http://schemas.openxmlformats.org/drawingml/2006/main" noGrp="1"/>
          </p:cNvSpPr>
          <p:nvPr/>
        </p:nvSpPr>
        <p:spPr>
          <a:xfrm xmlns:a="http://schemas.openxmlformats.org/drawingml/2006/main">
            <a:off x="609600" y="3933825"/>
            <a:ext cx="438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xmlns:a="http://schemas.openxmlformats.org/drawingml/2006/main">
            <a:pPr>
              <a:defRPr sz="1800" b="1">
                <a:solidFill>
                  <a:srgbClr val="087E8B"/>
                </a:solidFill>
                <a:latin typeface="Arial"/>
                <a:ea typeface="Arial"/>
                <a:cs typeface="Arial"/>
              </a:defRPr>
            </a:pPr>
            <a:r>
              <a:rPr sz="1800" b="1">
                <a:solidFill>
                  <a:srgbClr val="087E8B"/>
                </a:solidFill>
                <a:latin typeface="Arial"/>
                <a:ea typeface="Arial"/>
                <a:cs typeface="Arial"/>
              </a:rPr>
              <a:t>04</a:t>
            </a:r>
          </a:p>
        </p:txBody>
      </p:sp>
      <p:sp>
        <p:nvSpPr>
          <p:cNvPr id="10" name="Freeze selections before evaluating the held-">
            <a:extLst xmlns:a="http://schemas.openxmlformats.org/drawingml/2006/main">
              <a:ext uri="{FF2B5EF4-FFF2-40B4-BE49-F238E27FC236}">
                <a16:creationId xmlns:a16="http://schemas.microsoft.com/office/drawing/2014/main" id="{64DDD99F-6927-47F5-9D3D-036872667068}"/>
              </a:ext>
            </a:extLst>
          </p:cNvPr>
          <p:cNvSpPr>
            <a:spLocks xmlns:a="http://schemas.openxmlformats.org/drawingml/2006/main" noGrp="1"/>
          </p:cNvSpPr>
          <p:nvPr/>
        </p:nvSpPr>
        <p:spPr>
          <a:xfrm xmlns:a="http://schemas.openxmlformats.org/drawingml/2006/main">
            <a:off x="1228725" y="3933825"/>
            <a:ext cx="10239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52D3A"/>
                </a:solidFill>
                <a:latin typeface="Arial"/>
                <a:ea typeface="Arial"/>
                <a:cs typeface="Arial"/>
              </a:defRPr>
            </a:defPPr>
            <a:lvl1pPr>
              <a:defRPr sz="2025" b="0">
                <a:solidFill>
                  <a:srgbClr val="152D3A"/>
                </a:solidFill>
                <a:latin typeface="Arial"/>
                <a:ea typeface="Arial"/>
                <a:cs typeface="Arial"/>
              </a:defRPr>
            </a:lvl1pPr>
            <a:lvl2pPr>
              <a:defRPr sz="2025" b="0">
                <a:solidFill>
                  <a:srgbClr val="152D3A"/>
                </a:solidFill>
                <a:latin typeface="Arial"/>
                <a:ea typeface="Arial"/>
                <a:cs typeface="Arial"/>
              </a:defRPr>
            </a:lvl2pPr>
            <a:lvl3pPr>
              <a:defRPr sz="2025" b="0">
                <a:solidFill>
                  <a:srgbClr val="152D3A"/>
                </a:solidFill>
                <a:latin typeface="Arial"/>
                <a:ea typeface="Arial"/>
                <a:cs typeface="Arial"/>
              </a:defRPr>
            </a:lvl3pPr>
            <a:lvl4pPr>
              <a:defRPr sz="2025" b="0">
                <a:solidFill>
                  <a:srgbClr val="152D3A"/>
                </a:solidFill>
                <a:latin typeface="Arial"/>
                <a:ea typeface="Arial"/>
                <a:cs typeface="Arial"/>
              </a:defRPr>
            </a:lvl4pPr>
            <a:lvl5pPr>
              <a:defRPr sz="2025" b="0">
                <a:solidFill>
                  <a:srgbClr val="152D3A"/>
                </a:solidFill>
                <a:latin typeface="Arial"/>
                <a:ea typeface="Arial"/>
                <a:cs typeface="Arial"/>
              </a:defRPr>
            </a:lvl5pPr>
            <a:lvl6pPr>
              <a:defRPr sz="2025" b="0">
                <a:solidFill>
                  <a:srgbClr val="152D3A"/>
                </a:solidFill>
                <a:latin typeface="Arial"/>
                <a:ea typeface="Arial"/>
                <a:cs typeface="Arial"/>
              </a:defRPr>
            </a:lvl6pPr>
            <a:lvl7pPr>
              <a:defRPr sz="2025" b="0">
                <a:solidFill>
                  <a:srgbClr val="152D3A"/>
                </a:solidFill>
                <a:latin typeface="Arial"/>
                <a:ea typeface="Arial"/>
                <a:cs typeface="Arial"/>
              </a:defRPr>
            </a:lvl7pPr>
            <a:lvl8pPr>
              <a:defRPr sz="2025" b="0">
                <a:solidFill>
                  <a:srgbClr val="152D3A"/>
                </a:solidFill>
                <a:latin typeface="Arial"/>
                <a:ea typeface="Arial"/>
                <a:cs typeface="Arial"/>
              </a:defRPr>
            </a:lvl8pPr>
            <a:lvl9pPr>
              <a:defRPr sz="2025" b="0">
                <a:solidFill>
                  <a:srgbClr val="152D3A"/>
                </a:solidFill>
                <a:latin typeface="Arial"/>
                <a:ea typeface="Arial"/>
                <a:cs typeface="Arial"/>
              </a:defRPr>
            </a:lvl9pPr>
          </a:lstStyle>
          <a:p xmlns:a="http://schemas.openxmlformats.org/drawingml/2006/main">
            <a:pPr>
              <a:defRPr sz="2025" b="0">
                <a:solidFill>
                  <a:srgbClr val="152D3A"/>
                </a:solidFill>
                <a:latin typeface="Arial"/>
                <a:ea typeface="Arial"/>
                <a:cs typeface="Arial"/>
              </a:defRPr>
            </a:pPr>
            <a:r>
              <a:rPr sz="2025" b="0">
                <a:solidFill>
                  <a:srgbClr val="152D3A"/>
                </a:solidFill>
                <a:latin typeface="Arial"/>
                <a:ea typeface="Arial"/>
                <a:cs typeface="Arial"/>
              </a:rPr>
              <a:t>Freeze selections before evaluating the held-out test fold.</a:t>
            </a:r>
          </a:p>
        </p:txBody>
      </p:sp>
      <p:sp>
        <p:nvSpPr>
          <p:cNvPr id="11" name="05">
            <a:extLst xmlns:a="http://schemas.openxmlformats.org/drawingml/2006/main">
              <a:ext uri="{FF2B5EF4-FFF2-40B4-BE49-F238E27FC236}">
                <a16:creationId xmlns:a16="http://schemas.microsoft.com/office/drawing/2014/main" id="{125DC2FC-C1EF-4A5D-8BAE-FF6810276A87}"/>
              </a:ext>
            </a:extLst>
          </p:cNvPr>
          <p:cNvSpPr>
            <a:spLocks xmlns:a="http://schemas.openxmlformats.org/drawingml/2006/main" noGrp="1"/>
          </p:cNvSpPr>
          <p:nvPr/>
        </p:nvSpPr>
        <p:spPr>
          <a:xfrm xmlns:a="http://schemas.openxmlformats.org/drawingml/2006/main">
            <a:off x="609600" y="4762500"/>
            <a:ext cx="438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xmlns:a="http://schemas.openxmlformats.org/drawingml/2006/main">
            <a:pPr>
              <a:defRPr sz="1800" b="1">
                <a:solidFill>
                  <a:srgbClr val="087E8B"/>
                </a:solidFill>
                <a:latin typeface="Arial"/>
                <a:ea typeface="Arial"/>
                <a:cs typeface="Arial"/>
              </a:defRPr>
            </a:pPr>
            <a:r>
              <a:rPr sz="1800" b="1">
                <a:solidFill>
                  <a:srgbClr val="087E8B"/>
                </a:solidFill>
                <a:latin typeface="Arial"/>
                <a:ea typeface="Arial"/>
                <a:cs typeface="Arial"/>
              </a:rPr>
              <a:t>05</a:t>
            </a:r>
          </a:p>
        </p:txBody>
      </p:sp>
      <p:sp>
        <p:nvSpPr>
          <p:cNvPr id="12" name="Save predictions, metrics, checkpoints, and o">
            <a:extLst xmlns:a="http://schemas.openxmlformats.org/drawingml/2006/main">
              <a:ext uri="{FF2B5EF4-FFF2-40B4-BE49-F238E27FC236}">
                <a16:creationId xmlns:a16="http://schemas.microsoft.com/office/drawing/2014/main" id="{D92EC10F-0D6A-476E-9547-1E4164F6E1B0}"/>
              </a:ext>
            </a:extLst>
          </p:cNvPr>
          <p:cNvSpPr>
            <a:spLocks xmlns:a="http://schemas.openxmlformats.org/drawingml/2006/main" noGrp="1"/>
          </p:cNvSpPr>
          <p:nvPr/>
        </p:nvSpPr>
        <p:spPr>
          <a:xfrm xmlns:a="http://schemas.openxmlformats.org/drawingml/2006/main">
            <a:off x="1228725" y="4762500"/>
            <a:ext cx="10239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52D3A"/>
                </a:solidFill>
                <a:latin typeface="Arial"/>
                <a:ea typeface="Arial"/>
                <a:cs typeface="Arial"/>
              </a:defRPr>
            </a:defPPr>
            <a:lvl1pPr>
              <a:defRPr sz="2025" b="0">
                <a:solidFill>
                  <a:srgbClr val="152D3A"/>
                </a:solidFill>
                <a:latin typeface="Arial"/>
                <a:ea typeface="Arial"/>
                <a:cs typeface="Arial"/>
              </a:defRPr>
            </a:lvl1pPr>
            <a:lvl2pPr>
              <a:defRPr sz="2025" b="0">
                <a:solidFill>
                  <a:srgbClr val="152D3A"/>
                </a:solidFill>
                <a:latin typeface="Arial"/>
                <a:ea typeface="Arial"/>
                <a:cs typeface="Arial"/>
              </a:defRPr>
            </a:lvl2pPr>
            <a:lvl3pPr>
              <a:defRPr sz="2025" b="0">
                <a:solidFill>
                  <a:srgbClr val="152D3A"/>
                </a:solidFill>
                <a:latin typeface="Arial"/>
                <a:ea typeface="Arial"/>
                <a:cs typeface="Arial"/>
              </a:defRPr>
            </a:lvl3pPr>
            <a:lvl4pPr>
              <a:defRPr sz="2025" b="0">
                <a:solidFill>
                  <a:srgbClr val="152D3A"/>
                </a:solidFill>
                <a:latin typeface="Arial"/>
                <a:ea typeface="Arial"/>
                <a:cs typeface="Arial"/>
              </a:defRPr>
            </a:lvl4pPr>
            <a:lvl5pPr>
              <a:defRPr sz="2025" b="0">
                <a:solidFill>
                  <a:srgbClr val="152D3A"/>
                </a:solidFill>
                <a:latin typeface="Arial"/>
                <a:ea typeface="Arial"/>
                <a:cs typeface="Arial"/>
              </a:defRPr>
            </a:lvl5pPr>
            <a:lvl6pPr>
              <a:defRPr sz="2025" b="0">
                <a:solidFill>
                  <a:srgbClr val="152D3A"/>
                </a:solidFill>
                <a:latin typeface="Arial"/>
                <a:ea typeface="Arial"/>
                <a:cs typeface="Arial"/>
              </a:defRPr>
            </a:lvl6pPr>
            <a:lvl7pPr>
              <a:defRPr sz="2025" b="0">
                <a:solidFill>
                  <a:srgbClr val="152D3A"/>
                </a:solidFill>
                <a:latin typeface="Arial"/>
                <a:ea typeface="Arial"/>
                <a:cs typeface="Arial"/>
              </a:defRPr>
            </a:lvl7pPr>
            <a:lvl8pPr>
              <a:defRPr sz="2025" b="0">
                <a:solidFill>
                  <a:srgbClr val="152D3A"/>
                </a:solidFill>
                <a:latin typeface="Arial"/>
                <a:ea typeface="Arial"/>
                <a:cs typeface="Arial"/>
              </a:defRPr>
            </a:lvl8pPr>
            <a:lvl9pPr>
              <a:defRPr sz="2025" b="0">
                <a:solidFill>
                  <a:srgbClr val="152D3A"/>
                </a:solidFill>
                <a:latin typeface="Arial"/>
                <a:ea typeface="Arial"/>
                <a:cs typeface="Arial"/>
              </a:defRPr>
            </a:lvl9pPr>
          </a:lstStyle>
          <a:p xmlns:a="http://schemas.openxmlformats.org/drawingml/2006/main">
            <a:pPr>
              <a:defRPr sz="2025" b="0">
                <a:solidFill>
                  <a:srgbClr val="152D3A"/>
                </a:solidFill>
                <a:latin typeface="Arial"/>
                <a:ea typeface="Arial"/>
                <a:cs typeface="Arial"/>
              </a:defRPr>
            </a:pPr>
            <a:r>
              <a:rPr sz="2025" b="0">
                <a:solidFill>
                  <a:srgbClr val="152D3A"/>
                </a:solidFill>
                <a:latin typeface="Arial"/>
                <a:ea typeface="Arial"/>
                <a:cs typeface="Arial"/>
              </a:rPr>
              <a:t>Save predictions, metrics, checkpoints, and occlusion measurements.</a:t>
            </a:r>
          </a:p>
        </p:txBody>
      </p:sp>
      <p:sp>
        <p:nvSpPr>
          <p:cNvPr id="13" name="Training statistics and validation selections">
            <a:extLst xmlns:a="http://schemas.openxmlformats.org/drawingml/2006/main">
              <a:ext uri="{FF2B5EF4-FFF2-40B4-BE49-F238E27FC236}">
                <a16:creationId xmlns:a16="http://schemas.microsoft.com/office/drawing/2014/main" id="{3CCEB2B7-83F3-4260-A7D1-2115F2B7C977}"/>
              </a:ext>
            </a:extLst>
          </p:cNvPr>
          <p:cNvSpPr>
            <a:spLocks xmlns:a="http://schemas.openxmlformats.org/drawingml/2006/main" noGrp="1"/>
          </p:cNvSpPr>
          <p:nvPr/>
        </p:nvSpPr>
        <p:spPr>
          <a:xfrm xmlns:a="http://schemas.openxmlformats.org/drawingml/2006/main">
            <a:off x="609600" y="59912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775"/>
                </a:solidFill>
                <a:latin typeface="Arial"/>
                <a:ea typeface="Arial"/>
                <a:cs typeface="Arial"/>
              </a:defRPr>
            </a:defPPr>
            <a:lvl1pPr>
              <a:defRPr sz="1275" b="0">
                <a:solidFill>
                  <a:srgbClr val="536775"/>
                </a:solidFill>
                <a:latin typeface="Arial"/>
                <a:ea typeface="Arial"/>
                <a:cs typeface="Arial"/>
              </a:defRPr>
            </a:lvl1pPr>
            <a:lvl2pPr>
              <a:defRPr sz="1275" b="0">
                <a:solidFill>
                  <a:srgbClr val="536775"/>
                </a:solidFill>
                <a:latin typeface="Arial"/>
                <a:ea typeface="Arial"/>
                <a:cs typeface="Arial"/>
              </a:defRPr>
            </a:lvl2pPr>
            <a:lvl3pPr>
              <a:defRPr sz="1275" b="0">
                <a:solidFill>
                  <a:srgbClr val="536775"/>
                </a:solidFill>
                <a:latin typeface="Arial"/>
                <a:ea typeface="Arial"/>
                <a:cs typeface="Arial"/>
              </a:defRPr>
            </a:lvl3pPr>
            <a:lvl4pPr>
              <a:defRPr sz="1275" b="0">
                <a:solidFill>
                  <a:srgbClr val="536775"/>
                </a:solidFill>
                <a:latin typeface="Arial"/>
                <a:ea typeface="Arial"/>
                <a:cs typeface="Arial"/>
              </a:defRPr>
            </a:lvl4pPr>
            <a:lvl5pPr>
              <a:defRPr sz="1275" b="0">
                <a:solidFill>
                  <a:srgbClr val="536775"/>
                </a:solidFill>
                <a:latin typeface="Arial"/>
                <a:ea typeface="Arial"/>
                <a:cs typeface="Arial"/>
              </a:defRPr>
            </a:lvl5pPr>
            <a:lvl6pPr>
              <a:defRPr sz="1275" b="0">
                <a:solidFill>
                  <a:srgbClr val="536775"/>
                </a:solidFill>
                <a:latin typeface="Arial"/>
                <a:ea typeface="Arial"/>
                <a:cs typeface="Arial"/>
              </a:defRPr>
            </a:lvl6pPr>
            <a:lvl7pPr>
              <a:defRPr sz="1275" b="0">
                <a:solidFill>
                  <a:srgbClr val="536775"/>
                </a:solidFill>
                <a:latin typeface="Arial"/>
                <a:ea typeface="Arial"/>
                <a:cs typeface="Arial"/>
              </a:defRPr>
            </a:lvl7pPr>
            <a:lvl8pPr>
              <a:defRPr sz="1275" b="0">
                <a:solidFill>
                  <a:srgbClr val="536775"/>
                </a:solidFill>
                <a:latin typeface="Arial"/>
                <a:ea typeface="Arial"/>
                <a:cs typeface="Arial"/>
              </a:defRPr>
            </a:lvl8pPr>
            <a:lvl9pPr>
              <a:defRPr sz="1275" b="0">
                <a:solidFill>
                  <a:srgbClr val="536775"/>
                </a:solidFill>
                <a:latin typeface="Arial"/>
                <a:ea typeface="Arial"/>
                <a:cs typeface="Arial"/>
              </a:defRPr>
            </a:lvl9pPr>
          </a:lstStyle>
          <a:p xmlns:a="http://schemas.openxmlformats.org/drawingml/2006/main">
            <a:pPr>
              <a:defRPr sz="1275" b="0">
                <a:solidFill>
                  <a:srgbClr val="536775"/>
                </a:solidFill>
                <a:latin typeface="Arial"/>
                <a:ea typeface="Arial"/>
                <a:cs typeface="Arial"/>
              </a:defRPr>
            </a:pPr>
            <a:r>
              <a:rPr sz="1275" b="0">
                <a:solidFill>
                  <a:srgbClr val="536775"/>
                </a:solidFill>
                <a:latin typeface="Arial"/>
                <a:ea typeface="Arial"/>
                <a:cs typeface="Arial"/>
              </a:rPr>
              <a:t>Training statistics and validation selections remain separate from the test evaluation.</a:t>
            </a:r>
          </a:p>
        </p:txBody>
      </p:sp>
    </p:spTree>
    <p:extLst>
      <p:ext uri="{BB962C8B-B14F-4D97-AF65-F5344CB8AC3E}">
        <p14:creationId xmlns:p14="http://schemas.microsoft.com/office/powerpoint/2010/main" val="2019824120"/>
      </p:ext>
    </p:extLst>
  </p:cSld>
</p:sld>
</file>

<file path=ppt/slides/slide6.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Compact convolutional network">
            <a:extLst xmlns:a="http://schemas.openxmlformats.org/drawingml/2006/main">
              <a:ext uri="{FF2B5EF4-FFF2-40B4-BE49-F238E27FC236}">
                <a16:creationId xmlns:a16="http://schemas.microsoft.com/office/drawing/2014/main" id="{5A6ED87B-4CBB-4FD8-9A21-DA635868859F}"/>
              </a:ext>
            </a:extLst>
          </p:cNvPr>
          <p:cNvSpPr>
            <a:spLocks xmlns:a="http://schemas.openxmlformats.org/drawingml/2006/main" noGrp="1"/>
          </p:cNvSpPr>
          <p:nvPr/>
        </p:nvSpPr>
        <p:spPr>
          <a:xfrm xmlns:a="http://schemas.openxmlformats.org/drawingml/2006/main">
            <a:off x="609600" y="40005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D3A"/>
                </a:solidFill>
                <a:latin typeface="Arial"/>
                <a:ea typeface="Arial"/>
                <a:cs typeface="Arial"/>
              </a:defRPr>
            </a:defPPr>
            <a:lvl1pPr>
              <a:defRPr sz="3150" b="1">
                <a:solidFill>
                  <a:srgbClr val="152D3A"/>
                </a:solidFill>
                <a:latin typeface="Arial"/>
                <a:ea typeface="Arial"/>
                <a:cs typeface="Arial"/>
              </a:defRPr>
            </a:lvl1pPr>
            <a:lvl2pPr>
              <a:defRPr sz="3150" b="1">
                <a:solidFill>
                  <a:srgbClr val="152D3A"/>
                </a:solidFill>
                <a:latin typeface="Arial"/>
                <a:ea typeface="Arial"/>
                <a:cs typeface="Arial"/>
              </a:defRPr>
            </a:lvl2pPr>
            <a:lvl3pPr>
              <a:defRPr sz="3150" b="1">
                <a:solidFill>
                  <a:srgbClr val="152D3A"/>
                </a:solidFill>
                <a:latin typeface="Arial"/>
                <a:ea typeface="Arial"/>
                <a:cs typeface="Arial"/>
              </a:defRPr>
            </a:lvl3pPr>
            <a:lvl4pPr>
              <a:defRPr sz="3150" b="1">
                <a:solidFill>
                  <a:srgbClr val="152D3A"/>
                </a:solidFill>
                <a:latin typeface="Arial"/>
                <a:ea typeface="Arial"/>
                <a:cs typeface="Arial"/>
              </a:defRPr>
            </a:lvl4pPr>
            <a:lvl5pPr>
              <a:defRPr sz="3150" b="1">
                <a:solidFill>
                  <a:srgbClr val="152D3A"/>
                </a:solidFill>
                <a:latin typeface="Arial"/>
                <a:ea typeface="Arial"/>
                <a:cs typeface="Arial"/>
              </a:defRPr>
            </a:lvl5pPr>
            <a:lvl6pPr>
              <a:defRPr sz="3150" b="1">
                <a:solidFill>
                  <a:srgbClr val="152D3A"/>
                </a:solidFill>
                <a:latin typeface="Arial"/>
                <a:ea typeface="Arial"/>
                <a:cs typeface="Arial"/>
              </a:defRPr>
            </a:lvl6pPr>
            <a:lvl7pPr>
              <a:defRPr sz="3150" b="1">
                <a:solidFill>
                  <a:srgbClr val="152D3A"/>
                </a:solidFill>
                <a:latin typeface="Arial"/>
                <a:ea typeface="Arial"/>
                <a:cs typeface="Arial"/>
              </a:defRPr>
            </a:lvl7pPr>
            <a:lvl8pPr>
              <a:defRPr sz="3150" b="1">
                <a:solidFill>
                  <a:srgbClr val="152D3A"/>
                </a:solidFill>
                <a:latin typeface="Arial"/>
                <a:ea typeface="Arial"/>
                <a:cs typeface="Arial"/>
              </a:defRPr>
            </a:lvl8pPr>
            <a:lvl9pPr>
              <a:defRPr sz="3150" b="1">
                <a:solidFill>
                  <a:srgbClr val="152D3A"/>
                </a:solidFill>
                <a:latin typeface="Arial"/>
                <a:ea typeface="Arial"/>
                <a:cs typeface="Arial"/>
              </a:defRPr>
            </a:lvl9pPr>
          </a:lstStyle>
          <a:p xmlns:a="http://schemas.openxmlformats.org/drawingml/2006/main">
            <a:pPr>
              <a:defRPr sz="3150" b="1">
                <a:solidFill>
                  <a:srgbClr val="152D3A"/>
                </a:solidFill>
                <a:latin typeface="Arial"/>
                <a:ea typeface="Arial"/>
                <a:cs typeface="Arial"/>
              </a:defRPr>
            </a:pPr>
            <a:r>
              <a:rPr sz="3150" b="1">
                <a:solidFill>
                  <a:srgbClr val="152D3A"/>
                </a:solidFill>
                <a:latin typeface="Arial"/>
                <a:ea typeface="Arial"/>
                <a:cs typeface="Arial"/>
              </a:rPr>
              <a:t>Compact convolutional network</a:t>
            </a:r>
          </a:p>
        </p:txBody>
      </p:sp>
      <p:sp>
        <p:nvSpPr>
          <p:cNvPr id="2" name="06">
            <a:extLst xmlns:a="http://schemas.openxmlformats.org/drawingml/2006/main">
              <a:ext uri="{FF2B5EF4-FFF2-40B4-BE49-F238E27FC236}">
                <a16:creationId xmlns:a16="http://schemas.microsoft.com/office/drawing/2014/main" id="{998824D0-DF7D-4C45-88A8-2996ED8AFD05}"/>
              </a:ext>
            </a:extLst>
          </p:cNvPr>
          <p:cNvSpPr>
            <a:spLocks xmlns:a="http://schemas.openxmlformats.org/drawingml/2006/main" noGrp="1"/>
          </p:cNvSpPr>
          <p:nvPr/>
        </p:nvSpPr>
        <p:spPr>
          <a:xfrm xmlns:a="http://schemas.openxmlformats.org/drawingml/2006/main">
            <a:off x="11144250" y="63817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775"/>
                </a:solidFill>
                <a:latin typeface="Arial"/>
                <a:ea typeface="Arial"/>
                <a:cs typeface="Arial"/>
              </a:defRPr>
            </a:defPPr>
            <a:lvl1pPr>
              <a:defRPr sz="1200" b="0">
                <a:solidFill>
                  <a:srgbClr val="536775"/>
                </a:solidFill>
                <a:latin typeface="Arial"/>
                <a:ea typeface="Arial"/>
                <a:cs typeface="Arial"/>
              </a:defRPr>
            </a:lvl1pPr>
            <a:lvl2pPr>
              <a:defRPr sz="1200" b="0">
                <a:solidFill>
                  <a:srgbClr val="536775"/>
                </a:solidFill>
                <a:latin typeface="Arial"/>
                <a:ea typeface="Arial"/>
                <a:cs typeface="Arial"/>
              </a:defRPr>
            </a:lvl2pPr>
            <a:lvl3pPr>
              <a:defRPr sz="1200" b="0">
                <a:solidFill>
                  <a:srgbClr val="536775"/>
                </a:solidFill>
                <a:latin typeface="Arial"/>
                <a:ea typeface="Arial"/>
                <a:cs typeface="Arial"/>
              </a:defRPr>
            </a:lvl3pPr>
            <a:lvl4pPr>
              <a:defRPr sz="1200" b="0">
                <a:solidFill>
                  <a:srgbClr val="536775"/>
                </a:solidFill>
                <a:latin typeface="Arial"/>
                <a:ea typeface="Arial"/>
                <a:cs typeface="Arial"/>
              </a:defRPr>
            </a:lvl4pPr>
            <a:lvl5pPr>
              <a:defRPr sz="1200" b="0">
                <a:solidFill>
                  <a:srgbClr val="536775"/>
                </a:solidFill>
                <a:latin typeface="Arial"/>
                <a:ea typeface="Arial"/>
                <a:cs typeface="Arial"/>
              </a:defRPr>
            </a:lvl5pPr>
            <a:lvl6pPr>
              <a:defRPr sz="1200" b="0">
                <a:solidFill>
                  <a:srgbClr val="536775"/>
                </a:solidFill>
                <a:latin typeface="Arial"/>
                <a:ea typeface="Arial"/>
                <a:cs typeface="Arial"/>
              </a:defRPr>
            </a:lvl6pPr>
            <a:lvl7pPr>
              <a:defRPr sz="1200" b="0">
                <a:solidFill>
                  <a:srgbClr val="536775"/>
                </a:solidFill>
                <a:latin typeface="Arial"/>
                <a:ea typeface="Arial"/>
                <a:cs typeface="Arial"/>
              </a:defRPr>
            </a:lvl7pPr>
            <a:lvl8pPr>
              <a:defRPr sz="1200" b="0">
                <a:solidFill>
                  <a:srgbClr val="536775"/>
                </a:solidFill>
                <a:latin typeface="Arial"/>
                <a:ea typeface="Arial"/>
                <a:cs typeface="Arial"/>
              </a:defRPr>
            </a:lvl8pPr>
            <a:lvl9pPr>
              <a:defRPr sz="1200" b="0">
                <a:solidFill>
                  <a:srgbClr val="536775"/>
                </a:solidFill>
                <a:latin typeface="Arial"/>
                <a:ea typeface="Arial"/>
                <a:cs typeface="Arial"/>
              </a:defRPr>
            </a:lvl9pPr>
          </a:lstStyle>
          <a:p xmlns:a="http://schemas.openxmlformats.org/drawingml/2006/main">
            <a:pPr>
              <a:defRPr sz="1200" b="0">
                <a:solidFill>
                  <a:srgbClr val="536775"/>
                </a:solidFill>
                <a:latin typeface="Arial"/>
                <a:ea typeface="Arial"/>
                <a:cs typeface="Arial"/>
              </a:defRPr>
            </a:pPr>
            <a:r>
              <a:rPr sz="1200" b="0">
                <a:solidFill>
                  <a:srgbClr val="536775"/>
                </a:solidFill>
                <a:latin typeface="Arial"/>
                <a:ea typeface="Arial"/>
                <a:cs typeface="Arial"/>
              </a:rPr>
              <a:t>06</a:t>
            </a:r>
          </a:p>
        </p:txBody>
      </p:sp>
      <p:graphicFrame>
        <p:nvGraphicFramePr>
          <p:cNvPr id="3" name="">
            <a:extLst xmlns:a="http://schemas.openxmlformats.org/drawingml/2006/main">
              <a:ext uri="{FF2B5EF4-FFF2-40B4-BE49-F238E27FC236}">
                <a16:creationId xmlns:a16="http://schemas.microsoft.com/office/drawing/2014/main" id="{EE0CBD40-5621-4D01-8F2C-CD73DCC7F7E2}"/>
              </a:ext>
            </a:extLst>
          </p:cNvPr>
          <p:cNvGraphicFramePr/>
          <p:nvPr/>
        </p:nvGraphicFramePr>
        <p:xfrm>
          <a:off xmlns:a="http://schemas.openxmlformats.org/drawingml/2006/main" x="609600" y="1400175"/>
          <a:ext xmlns:a="http://schemas.openxmlformats.org/drawingml/2006/main" cx="10972800" cy="3848100"/>
        </p:xfrm>
        <a:graphic xmlns:a="http://schemas.openxmlformats.org/drawingml/2006/main">
          <a:graphicData uri="http://schemas.openxmlformats.org/drawingml/2006/table">
            <a:tbl>
              <a:tblPr/>
              <a:tblGrid>
                <a:gridCol w="5715000"/>
                <a:gridCol w="2952750"/>
                <a:gridCol w="2305050"/>
              </a:tblGrid>
              <a:tr h="549729">
                <a:tc>
                  <a:txBody>
                    <a:bodyPr/>
                    <a:lstStyle/>
                    <a:p>
                      <a:r>
                        <a:rPr sz="1950" b="1">
                          <a:solidFill>
                            <a:srgbClr val="FFFFFF"/>
                          </a:solidFill>
                          <a:latin typeface="Arial"/>
                          <a:ea typeface="Arial"/>
                          <a:cs typeface="Arial"/>
                        </a:rPr>
                        <a:t>Stage</a:t>
                      </a:r>
                    </a:p>
                  </a:txBody>
                  <a:tcPr marL="133350" marR="114300" marT="95250" marB="95250" anchor="ctr">
                    <a:lnL w="9525">
                      <a:solidFill>
                        <a:srgbClr val="D5DFE4"/>
                      </a:solidFill>
                      <a:prstDash val="solid"/>
                    </a:lnL>
                    <a:lnR w="9525">
                      <a:solidFill>
                        <a:srgbClr val="D5DFE4"/>
                      </a:solidFill>
                      <a:prstDash val="solid"/>
                    </a:lnR>
                    <a:lnT w="9525">
                      <a:solidFill>
                        <a:srgbClr val="D5DFE4"/>
                      </a:solidFill>
                      <a:prstDash val="solid"/>
                    </a:lnT>
                    <a:lnB w="9525">
                      <a:solidFill>
                        <a:srgbClr val="D5DFE4"/>
                      </a:solidFill>
                      <a:prstDash val="solid"/>
                    </a:lnB>
                    <a:solidFill>
                      <a:srgbClr val="152D3A"/>
                    </a:solidFill>
                  </a:tcPr>
                </a:tc>
                <a:tc>
                  <a:txBody>
                    <a:bodyPr/>
                    <a:lstStyle/>
                    <a:p>
                      <a:r>
                        <a:rPr sz="1950" b="1">
                          <a:solidFill>
                            <a:srgbClr val="FFFFFF"/>
                          </a:solidFill>
                          <a:latin typeface="Arial"/>
                          <a:ea typeface="Arial"/>
                          <a:cs typeface="Arial"/>
                        </a:rPr>
                        <a:t>Channels / units</a:t>
                      </a:r>
                    </a:p>
                  </a:txBody>
                  <a:tcPr marL="133350" marR="114300" marT="95250" marB="95250" anchor="ctr">
                    <a:lnR w="9525">
                      <a:solidFill>
                        <a:srgbClr val="D5DFE4"/>
                      </a:solidFill>
                      <a:prstDash val="solid"/>
                    </a:lnR>
                    <a:lnT w="9525">
                      <a:solidFill>
                        <a:srgbClr val="D5DFE4"/>
                      </a:solidFill>
                      <a:prstDash val="solid"/>
                    </a:lnT>
                    <a:lnB w="9525">
                      <a:solidFill>
                        <a:srgbClr val="D5DFE4"/>
                      </a:solidFill>
                      <a:prstDash val="solid"/>
                    </a:lnB>
                    <a:solidFill>
                      <a:srgbClr val="152D3A"/>
                    </a:solidFill>
                  </a:tcPr>
                </a:tc>
                <a:tc>
                  <a:txBody>
                    <a:bodyPr/>
                    <a:lstStyle/>
                    <a:p>
                      <a:r>
                        <a:rPr sz="1950" b="1">
                          <a:solidFill>
                            <a:srgbClr val="FFFFFF"/>
                          </a:solidFill>
                          <a:latin typeface="Arial"/>
                          <a:ea typeface="Arial"/>
                          <a:cs typeface="Arial"/>
                        </a:rPr>
                        <a:t>Time samples</a:t>
                      </a:r>
                    </a:p>
                  </a:txBody>
                  <a:tcPr marL="133350" marR="114300" marT="95250" marB="95250" anchor="ctr">
                    <a:lnR w="9525">
                      <a:solidFill>
                        <a:srgbClr val="D5DFE4"/>
                      </a:solidFill>
                      <a:prstDash val="solid"/>
                    </a:lnR>
                    <a:lnT w="9525">
                      <a:solidFill>
                        <a:srgbClr val="D5DFE4"/>
                      </a:solidFill>
                      <a:prstDash val="solid"/>
                    </a:lnT>
                    <a:lnB w="9525">
                      <a:solidFill>
                        <a:srgbClr val="D5DFE4"/>
                      </a:solidFill>
                      <a:prstDash val="solid"/>
                    </a:lnB>
                    <a:solidFill>
                      <a:srgbClr val="152D3A"/>
                    </a:solidFill>
                  </a:tcPr>
                </a:tc>
              </a:tr>
              <a:tr h="549729">
                <a:tc>
                  <a:txBody>
                    <a:bodyPr/>
                    <a:lstStyle/>
                    <a:p>
                      <a:r>
                        <a:rPr sz="1950" b="0">
                          <a:solidFill>
                            <a:srgbClr val="152D3A"/>
                          </a:solidFill>
                          <a:latin typeface="Arial"/>
                          <a:ea typeface="Arial"/>
                          <a:cs typeface="Arial"/>
                        </a:rPr>
                        <a:t>Input waveform</a:t>
                      </a:r>
                    </a:p>
                  </a:txBody>
                  <a:tcPr marL="133350" marR="114300" marT="95250" marB="95250" anchor="ctr">
                    <a:lnL w="9525">
                      <a:solidFill>
                        <a:srgbClr val="D5DFE4"/>
                      </a:solidFill>
                      <a:prstDash val="solid"/>
                    </a:lnL>
                    <a:lnR w="9525">
                      <a:solidFill>
                        <a:srgbClr val="D5DFE4"/>
                      </a:solidFill>
                      <a:prstDash val="solid"/>
                    </a:lnR>
                    <a:lnB w="9525">
                      <a:solidFill>
                        <a:srgbClr val="D5DFE4"/>
                      </a:solidFill>
                      <a:prstDash val="solid"/>
                    </a:lnB>
                    <a:solidFill>
                      <a:srgbClr val="FFFFFF"/>
                    </a:solidFill>
                  </a:tcPr>
                </a:tc>
                <a:tc>
                  <a:txBody>
                    <a:bodyPr/>
                    <a:lstStyle/>
                    <a:p>
                      <a:r>
                        <a:rPr sz="1950" b="0">
                          <a:solidFill>
                            <a:srgbClr val="152D3A"/>
                          </a:solidFill>
                          <a:latin typeface="Arial"/>
                          <a:ea typeface="Arial"/>
                          <a:cs typeface="Arial"/>
                        </a:rPr>
                        <a:t>12 leads</a:t>
                      </a:r>
                    </a:p>
                  </a:txBody>
                  <a:tcPr marL="133350" marR="114300" marT="95250" marB="95250" anchor="ctr">
                    <a:lnR w="9525">
                      <a:solidFill>
                        <a:srgbClr val="D5DFE4"/>
                      </a:solidFill>
                      <a:prstDash val="solid"/>
                    </a:lnR>
                    <a:lnB w="9525">
                      <a:solidFill>
                        <a:srgbClr val="D5DFE4"/>
                      </a:solidFill>
                      <a:prstDash val="solid"/>
                    </a:lnB>
                    <a:solidFill>
                      <a:srgbClr val="FFFFFF"/>
                    </a:solidFill>
                  </a:tcPr>
                </a:tc>
                <a:tc>
                  <a:txBody>
                    <a:bodyPr/>
                    <a:lstStyle/>
                    <a:p>
                      <a:r>
                        <a:rPr sz="1950" b="0">
                          <a:solidFill>
                            <a:srgbClr val="152D3A"/>
                          </a:solidFill>
                          <a:latin typeface="Arial"/>
                          <a:ea typeface="Arial"/>
                          <a:cs typeface="Arial"/>
                        </a:rPr>
                        <a:t>1,000</a:t>
                      </a:r>
                    </a:p>
                  </a:txBody>
                  <a:tcPr marL="133350" marR="114300" marT="95250" marB="95250" anchor="ctr">
                    <a:lnR w="9525">
                      <a:solidFill>
                        <a:srgbClr val="D5DFE4"/>
                      </a:solidFill>
                      <a:prstDash val="solid"/>
                    </a:lnR>
                    <a:lnB w="9525">
                      <a:solidFill>
                        <a:srgbClr val="D5DFE4"/>
                      </a:solidFill>
                      <a:prstDash val="solid"/>
                    </a:lnB>
                    <a:solidFill>
                      <a:srgbClr val="FFFFFF"/>
                    </a:solidFill>
                  </a:tcPr>
                </a:tc>
              </a:tr>
              <a:tr h="549729">
                <a:tc>
                  <a:txBody>
                    <a:bodyPr/>
                    <a:lstStyle/>
                    <a:p>
                      <a:r>
                        <a:rPr sz="1950" b="0">
                          <a:solidFill>
                            <a:srgbClr val="152D3A"/>
                          </a:solidFill>
                          <a:latin typeface="Arial"/>
                          <a:ea typeface="Arial"/>
                          <a:cs typeface="Arial"/>
                        </a:rPr>
                        <a:t>Convolution 1, kernel 15</a:t>
                      </a:r>
                    </a:p>
                  </a:txBody>
                  <a:tcPr marL="133350" marR="114300" marT="95250" marB="95250" anchor="ctr">
                    <a:lnL w="9525">
                      <a:solidFill>
                        <a:srgbClr val="D5DFE4"/>
                      </a:solidFill>
                      <a:prstDash val="solid"/>
                    </a:lnL>
                    <a:lnR w="9525">
                      <a:solidFill>
                        <a:srgbClr val="D5DFE4"/>
                      </a:solidFill>
                      <a:prstDash val="solid"/>
                    </a:lnR>
                    <a:lnB w="9525">
                      <a:solidFill>
                        <a:srgbClr val="D5DFE4"/>
                      </a:solidFill>
                      <a:prstDash val="solid"/>
                    </a:lnB>
                    <a:solidFill>
                      <a:srgbClr val="EDF3F5"/>
                    </a:solidFill>
                  </a:tcPr>
                </a:tc>
                <a:tc>
                  <a:txBody>
                    <a:bodyPr/>
                    <a:lstStyle/>
                    <a:p>
                      <a:r>
                        <a:rPr sz="1950" b="0">
                          <a:solidFill>
                            <a:srgbClr val="152D3A"/>
                          </a:solidFill>
                          <a:latin typeface="Arial"/>
                          <a:ea typeface="Arial"/>
                          <a:cs typeface="Arial"/>
                        </a:rPr>
                        <a:t>64 filters</a:t>
                      </a:r>
                    </a:p>
                  </a:txBody>
                  <a:tcPr marL="133350" marR="114300" marT="95250" marB="95250" anchor="ctr">
                    <a:lnR w="9525">
                      <a:solidFill>
                        <a:srgbClr val="D5DFE4"/>
                      </a:solidFill>
                      <a:prstDash val="solid"/>
                    </a:lnR>
                    <a:lnB w="9525">
                      <a:solidFill>
                        <a:srgbClr val="D5DFE4"/>
                      </a:solidFill>
                      <a:prstDash val="solid"/>
                    </a:lnB>
                    <a:solidFill>
                      <a:srgbClr val="EDF3F5"/>
                    </a:solidFill>
                  </a:tcPr>
                </a:tc>
                <a:tc>
                  <a:txBody>
                    <a:bodyPr/>
                    <a:lstStyle/>
                    <a:p>
                      <a:r>
                        <a:rPr sz="1950" b="0">
                          <a:solidFill>
                            <a:srgbClr val="152D3A"/>
                          </a:solidFill>
                          <a:latin typeface="Arial"/>
                          <a:ea typeface="Arial"/>
                          <a:cs typeface="Arial"/>
                        </a:rPr>
                        <a:t>500</a:t>
                      </a:r>
                    </a:p>
                  </a:txBody>
                  <a:tcPr marL="133350" marR="114300" marT="95250" marB="95250" anchor="ctr">
                    <a:lnR w="9525">
                      <a:solidFill>
                        <a:srgbClr val="D5DFE4"/>
                      </a:solidFill>
                      <a:prstDash val="solid"/>
                    </a:lnR>
                    <a:lnB w="9525">
                      <a:solidFill>
                        <a:srgbClr val="D5DFE4"/>
                      </a:solidFill>
                      <a:prstDash val="solid"/>
                    </a:lnB>
                    <a:solidFill>
                      <a:srgbClr val="EDF3F5"/>
                    </a:solidFill>
                  </a:tcPr>
                </a:tc>
              </a:tr>
              <a:tr h="549729">
                <a:tc>
                  <a:txBody>
                    <a:bodyPr/>
                    <a:lstStyle/>
                    <a:p>
                      <a:r>
                        <a:rPr sz="1950" b="0">
                          <a:solidFill>
                            <a:srgbClr val="152D3A"/>
                          </a:solidFill>
                          <a:latin typeface="Arial"/>
                          <a:ea typeface="Arial"/>
                          <a:cs typeface="Arial"/>
                        </a:rPr>
                        <a:t>Convolution 2, kernel 9</a:t>
                      </a:r>
                    </a:p>
                  </a:txBody>
                  <a:tcPr marL="133350" marR="114300" marT="95250" marB="95250" anchor="ctr">
                    <a:lnL w="9525">
                      <a:solidFill>
                        <a:srgbClr val="D5DFE4"/>
                      </a:solidFill>
                      <a:prstDash val="solid"/>
                    </a:lnL>
                    <a:lnR w="9525">
                      <a:solidFill>
                        <a:srgbClr val="D5DFE4"/>
                      </a:solidFill>
                      <a:prstDash val="solid"/>
                    </a:lnR>
                    <a:lnB w="9525">
                      <a:solidFill>
                        <a:srgbClr val="D5DFE4"/>
                      </a:solidFill>
                      <a:prstDash val="solid"/>
                    </a:lnB>
                    <a:solidFill>
                      <a:srgbClr val="FFFFFF"/>
                    </a:solidFill>
                  </a:tcPr>
                </a:tc>
                <a:tc>
                  <a:txBody>
                    <a:bodyPr/>
                    <a:lstStyle/>
                    <a:p>
                      <a:r>
                        <a:rPr sz="1950" b="0">
                          <a:solidFill>
                            <a:srgbClr val="152D3A"/>
                          </a:solidFill>
                          <a:latin typeface="Arial"/>
                          <a:ea typeface="Arial"/>
                          <a:cs typeface="Arial"/>
                        </a:rPr>
                        <a:t>128 filters</a:t>
                      </a:r>
                    </a:p>
                  </a:txBody>
                  <a:tcPr marL="133350" marR="114300" marT="95250" marB="95250" anchor="ctr">
                    <a:lnR w="9525">
                      <a:solidFill>
                        <a:srgbClr val="D5DFE4"/>
                      </a:solidFill>
                      <a:prstDash val="solid"/>
                    </a:lnR>
                    <a:lnB w="9525">
                      <a:solidFill>
                        <a:srgbClr val="D5DFE4"/>
                      </a:solidFill>
                      <a:prstDash val="solid"/>
                    </a:lnB>
                    <a:solidFill>
                      <a:srgbClr val="FFFFFF"/>
                    </a:solidFill>
                  </a:tcPr>
                </a:tc>
                <a:tc>
                  <a:txBody>
                    <a:bodyPr/>
                    <a:lstStyle/>
                    <a:p>
                      <a:r>
                        <a:rPr sz="1950" b="0">
                          <a:solidFill>
                            <a:srgbClr val="152D3A"/>
                          </a:solidFill>
                          <a:latin typeface="Arial"/>
                          <a:ea typeface="Arial"/>
                          <a:cs typeface="Arial"/>
                        </a:rPr>
                        <a:t>250</a:t>
                      </a:r>
                    </a:p>
                  </a:txBody>
                  <a:tcPr marL="133350" marR="114300" marT="95250" marB="95250" anchor="ctr">
                    <a:lnR w="9525">
                      <a:solidFill>
                        <a:srgbClr val="D5DFE4"/>
                      </a:solidFill>
                      <a:prstDash val="solid"/>
                    </a:lnR>
                    <a:lnB w="9525">
                      <a:solidFill>
                        <a:srgbClr val="D5DFE4"/>
                      </a:solidFill>
                      <a:prstDash val="solid"/>
                    </a:lnB>
                    <a:solidFill>
                      <a:srgbClr val="FFFFFF"/>
                    </a:solidFill>
                  </a:tcPr>
                </a:tc>
              </a:tr>
              <a:tr h="549729">
                <a:tc>
                  <a:txBody>
                    <a:bodyPr/>
                    <a:lstStyle/>
                    <a:p>
                      <a:r>
                        <a:rPr sz="1950" b="0">
                          <a:solidFill>
                            <a:srgbClr val="152D3A"/>
                          </a:solidFill>
                          <a:latin typeface="Arial"/>
                          <a:ea typeface="Arial"/>
                          <a:cs typeface="Arial"/>
                        </a:rPr>
                        <a:t>Convolution 3, kernel 5</a:t>
                      </a:r>
                    </a:p>
                  </a:txBody>
                  <a:tcPr marL="133350" marR="114300" marT="95250" marB="95250" anchor="ctr">
                    <a:lnL w="9525">
                      <a:solidFill>
                        <a:srgbClr val="D5DFE4"/>
                      </a:solidFill>
                      <a:prstDash val="solid"/>
                    </a:lnL>
                    <a:lnR w="9525">
                      <a:solidFill>
                        <a:srgbClr val="D5DFE4"/>
                      </a:solidFill>
                      <a:prstDash val="solid"/>
                    </a:lnR>
                    <a:lnB w="9525">
                      <a:solidFill>
                        <a:srgbClr val="D5DFE4"/>
                      </a:solidFill>
                      <a:prstDash val="solid"/>
                    </a:lnB>
                    <a:solidFill>
                      <a:srgbClr val="EDF3F5"/>
                    </a:solidFill>
                  </a:tcPr>
                </a:tc>
                <a:tc>
                  <a:txBody>
                    <a:bodyPr/>
                    <a:lstStyle/>
                    <a:p>
                      <a:r>
                        <a:rPr sz="1950" b="0">
                          <a:solidFill>
                            <a:srgbClr val="152D3A"/>
                          </a:solidFill>
                          <a:latin typeface="Arial"/>
                          <a:ea typeface="Arial"/>
                          <a:cs typeface="Arial"/>
                        </a:rPr>
                        <a:t>192 filters</a:t>
                      </a:r>
                    </a:p>
                  </a:txBody>
                  <a:tcPr marL="133350" marR="114300" marT="95250" marB="95250" anchor="ctr">
                    <a:lnR w="9525">
                      <a:solidFill>
                        <a:srgbClr val="D5DFE4"/>
                      </a:solidFill>
                      <a:prstDash val="solid"/>
                    </a:lnR>
                    <a:lnB w="9525">
                      <a:solidFill>
                        <a:srgbClr val="D5DFE4"/>
                      </a:solidFill>
                      <a:prstDash val="solid"/>
                    </a:lnB>
                    <a:solidFill>
                      <a:srgbClr val="EDF3F5"/>
                    </a:solidFill>
                  </a:tcPr>
                </a:tc>
                <a:tc>
                  <a:txBody>
                    <a:bodyPr/>
                    <a:lstStyle/>
                    <a:p>
                      <a:r>
                        <a:rPr sz="1950" b="0">
                          <a:solidFill>
                            <a:srgbClr val="152D3A"/>
                          </a:solidFill>
                          <a:latin typeface="Arial"/>
                          <a:ea typeface="Arial"/>
                          <a:cs typeface="Arial"/>
                        </a:rPr>
                        <a:t>125</a:t>
                      </a:r>
                    </a:p>
                  </a:txBody>
                  <a:tcPr marL="133350" marR="114300" marT="95250" marB="95250" anchor="ctr">
                    <a:lnR w="9525">
                      <a:solidFill>
                        <a:srgbClr val="D5DFE4"/>
                      </a:solidFill>
                      <a:prstDash val="solid"/>
                    </a:lnR>
                    <a:lnB w="9525">
                      <a:solidFill>
                        <a:srgbClr val="D5DFE4"/>
                      </a:solidFill>
                      <a:prstDash val="solid"/>
                    </a:lnB>
                    <a:solidFill>
                      <a:srgbClr val="EDF3F5"/>
                    </a:solidFill>
                  </a:tcPr>
                </a:tc>
              </a:tr>
              <a:tr h="549729">
                <a:tc>
                  <a:txBody>
                    <a:bodyPr/>
                    <a:lstStyle/>
                    <a:p>
                      <a:r>
                        <a:rPr sz="1950" b="0">
                          <a:solidFill>
                            <a:srgbClr val="152D3A"/>
                          </a:solidFill>
                          <a:latin typeface="Arial"/>
                          <a:ea typeface="Arial"/>
                          <a:cs typeface="Arial"/>
                        </a:rPr>
                        <a:t>Global pooling and dense head</a:t>
                      </a:r>
                    </a:p>
                  </a:txBody>
                  <a:tcPr marL="133350" marR="114300" marT="95250" marB="95250" anchor="ctr">
                    <a:lnL w="9525">
                      <a:solidFill>
                        <a:srgbClr val="D5DFE4"/>
                      </a:solidFill>
                      <a:prstDash val="solid"/>
                    </a:lnL>
                    <a:lnR w="9525">
                      <a:solidFill>
                        <a:srgbClr val="D5DFE4"/>
                      </a:solidFill>
                      <a:prstDash val="solid"/>
                    </a:lnR>
                    <a:lnB w="9525">
                      <a:solidFill>
                        <a:srgbClr val="D5DFE4"/>
                      </a:solidFill>
                      <a:prstDash val="solid"/>
                    </a:lnB>
                    <a:solidFill>
                      <a:srgbClr val="FFFFFF"/>
                    </a:solidFill>
                  </a:tcPr>
                </a:tc>
                <a:tc>
                  <a:txBody>
                    <a:bodyPr/>
                    <a:lstStyle/>
                    <a:p>
                      <a:r>
                        <a:rPr sz="1950" b="0">
                          <a:solidFill>
                            <a:srgbClr val="152D3A"/>
                          </a:solidFill>
                          <a:latin typeface="Arial"/>
                          <a:ea typeface="Arial"/>
                          <a:cs typeface="Arial"/>
                        </a:rPr>
                        <a:t>192 pooled, then 64</a:t>
                      </a:r>
                    </a:p>
                  </a:txBody>
                  <a:tcPr marL="133350" marR="114300" marT="95250" marB="95250" anchor="ctr">
                    <a:lnR w="9525">
                      <a:solidFill>
                        <a:srgbClr val="D5DFE4"/>
                      </a:solidFill>
                      <a:prstDash val="solid"/>
                    </a:lnR>
                    <a:lnB w="9525">
                      <a:solidFill>
                        <a:srgbClr val="D5DFE4"/>
                      </a:solidFill>
                      <a:prstDash val="solid"/>
                    </a:lnB>
                    <a:solidFill>
                      <a:srgbClr val="FFFFFF"/>
                    </a:solidFill>
                  </a:tcPr>
                </a:tc>
                <a:tc>
                  <a:txBody>
                    <a:bodyPr/>
                    <a:lstStyle/>
                    <a:p>
                      <a:r>
                        <a:rPr sz="1950" b="0">
                          <a:solidFill>
                            <a:srgbClr val="152D3A"/>
                          </a:solidFill>
                          <a:latin typeface="Arial"/>
                          <a:ea typeface="Arial"/>
                          <a:cs typeface="Arial"/>
                        </a:rPr>
                        <a:t>1</a:t>
                      </a:r>
                    </a:p>
                  </a:txBody>
                  <a:tcPr marL="133350" marR="114300" marT="95250" marB="95250" anchor="ctr">
                    <a:lnR w="9525">
                      <a:solidFill>
                        <a:srgbClr val="D5DFE4"/>
                      </a:solidFill>
                      <a:prstDash val="solid"/>
                    </a:lnR>
                    <a:lnB w="9525">
                      <a:solidFill>
                        <a:srgbClr val="D5DFE4"/>
                      </a:solidFill>
                      <a:prstDash val="solid"/>
                    </a:lnB>
                    <a:solidFill>
                      <a:srgbClr val="FFFFFF"/>
                    </a:solidFill>
                  </a:tcPr>
                </a:tc>
              </a:tr>
              <a:tr h="549729">
                <a:tc>
                  <a:txBody>
                    <a:bodyPr/>
                    <a:lstStyle/>
                    <a:p>
                      <a:r>
                        <a:rPr sz="1950" b="0">
                          <a:solidFill>
                            <a:srgbClr val="152D3A"/>
                          </a:solidFill>
                          <a:latin typeface="Arial"/>
                          <a:ea typeface="Arial"/>
                          <a:cs typeface="Arial"/>
                        </a:rPr>
                        <a:t>Independent sigmoid outputs</a:t>
                      </a:r>
                    </a:p>
                  </a:txBody>
                  <a:tcPr marL="133350" marR="114300" marT="95250" marB="95250" anchor="ctr">
                    <a:lnL w="9525">
                      <a:solidFill>
                        <a:srgbClr val="D5DFE4"/>
                      </a:solidFill>
                      <a:prstDash val="solid"/>
                    </a:lnL>
                    <a:lnR w="9525">
                      <a:solidFill>
                        <a:srgbClr val="D5DFE4"/>
                      </a:solidFill>
                      <a:prstDash val="solid"/>
                    </a:lnR>
                    <a:lnB w="9525">
                      <a:solidFill>
                        <a:srgbClr val="D5DFE4"/>
                      </a:solidFill>
                      <a:prstDash val="solid"/>
                    </a:lnB>
                    <a:solidFill>
                      <a:srgbClr val="EDF3F5"/>
                    </a:solidFill>
                  </a:tcPr>
                </a:tc>
                <a:tc>
                  <a:txBody>
                    <a:bodyPr/>
                    <a:lstStyle/>
                    <a:p>
                      <a:r>
                        <a:rPr sz="1950" b="0">
                          <a:solidFill>
                            <a:srgbClr val="152D3A"/>
                          </a:solidFill>
                          <a:latin typeface="Arial"/>
                          <a:ea typeface="Arial"/>
                          <a:cs typeface="Arial"/>
                        </a:rPr>
                        <a:t>5 categories</a:t>
                      </a:r>
                    </a:p>
                  </a:txBody>
                  <a:tcPr marL="133350" marR="114300" marT="95250" marB="95250" anchor="ctr">
                    <a:lnR w="9525">
                      <a:solidFill>
                        <a:srgbClr val="D5DFE4"/>
                      </a:solidFill>
                      <a:prstDash val="solid"/>
                    </a:lnR>
                    <a:lnB w="9525">
                      <a:solidFill>
                        <a:srgbClr val="D5DFE4"/>
                      </a:solidFill>
                      <a:prstDash val="solid"/>
                    </a:lnB>
                    <a:solidFill>
                      <a:srgbClr val="EDF3F5"/>
                    </a:solidFill>
                  </a:tcPr>
                </a:tc>
                <a:tc>
                  <a:txBody>
                    <a:bodyPr/>
                    <a:lstStyle/>
                    <a:p>
                      <a:r>
                        <a:rPr sz="1950" b="0">
                          <a:solidFill>
                            <a:srgbClr val="152D3A"/>
                          </a:solidFill>
                          <a:latin typeface="Arial"/>
                          <a:ea typeface="Arial"/>
                          <a:cs typeface="Arial"/>
                        </a:rPr>
                        <a:t>1</a:t>
                      </a:r>
                    </a:p>
                  </a:txBody>
                  <a:tcPr marL="133350" marR="114300" marT="95250" marB="95250" anchor="ctr">
                    <a:lnR w="9525">
                      <a:solidFill>
                        <a:srgbClr val="D5DFE4"/>
                      </a:solidFill>
                      <a:prstDash val="solid"/>
                    </a:lnR>
                    <a:lnB w="9525">
                      <a:solidFill>
                        <a:srgbClr val="D5DFE4"/>
                      </a:solidFill>
                      <a:prstDash val="solid"/>
                    </a:lnB>
                    <a:solidFill>
                      <a:srgbClr val="EDF3F5"/>
                    </a:solidFill>
                  </a:tcPr>
                </a:tc>
              </a:tr>
            </a:tbl>
          </a:graphicData>
        </a:graphic>
      </p:graphicFrame>
      <p:sp>
        <p:nvSpPr>
          <p:cNvPr id="4" name="221,573 trainable parameters. Batch normaliza">
            <a:extLst xmlns:a="http://schemas.openxmlformats.org/drawingml/2006/main">
              <a:ext uri="{FF2B5EF4-FFF2-40B4-BE49-F238E27FC236}">
                <a16:creationId xmlns:a16="http://schemas.microsoft.com/office/drawing/2014/main" id="{41989460-CACE-4430-935E-33E0CA849C11}"/>
              </a:ext>
            </a:extLst>
          </p:cNvPr>
          <p:cNvSpPr>
            <a:spLocks xmlns:a="http://schemas.openxmlformats.org/drawingml/2006/main" noGrp="1"/>
          </p:cNvSpPr>
          <p:nvPr/>
        </p:nvSpPr>
        <p:spPr>
          <a:xfrm xmlns:a="http://schemas.openxmlformats.org/drawingml/2006/main">
            <a:off x="609600" y="59912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775"/>
                </a:solidFill>
                <a:latin typeface="Arial"/>
                <a:ea typeface="Arial"/>
                <a:cs typeface="Arial"/>
              </a:defRPr>
            </a:defPPr>
            <a:lvl1pPr>
              <a:defRPr sz="1275" b="0">
                <a:solidFill>
                  <a:srgbClr val="536775"/>
                </a:solidFill>
                <a:latin typeface="Arial"/>
                <a:ea typeface="Arial"/>
                <a:cs typeface="Arial"/>
              </a:defRPr>
            </a:lvl1pPr>
            <a:lvl2pPr>
              <a:defRPr sz="1275" b="0">
                <a:solidFill>
                  <a:srgbClr val="536775"/>
                </a:solidFill>
                <a:latin typeface="Arial"/>
                <a:ea typeface="Arial"/>
                <a:cs typeface="Arial"/>
              </a:defRPr>
            </a:lvl2pPr>
            <a:lvl3pPr>
              <a:defRPr sz="1275" b="0">
                <a:solidFill>
                  <a:srgbClr val="536775"/>
                </a:solidFill>
                <a:latin typeface="Arial"/>
                <a:ea typeface="Arial"/>
                <a:cs typeface="Arial"/>
              </a:defRPr>
            </a:lvl3pPr>
            <a:lvl4pPr>
              <a:defRPr sz="1275" b="0">
                <a:solidFill>
                  <a:srgbClr val="536775"/>
                </a:solidFill>
                <a:latin typeface="Arial"/>
                <a:ea typeface="Arial"/>
                <a:cs typeface="Arial"/>
              </a:defRPr>
            </a:lvl4pPr>
            <a:lvl5pPr>
              <a:defRPr sz="1275" b="0">
                <a:solidFill>
                  <a:srgbClr val="536775"/>
                </a:solidFill>
                <a:latin typeface="Arial"/>
                <a:ea typeface="Arial"/>
                <a:cs typeface="Arial"/>
              </a:defRPr>
            </a:lvl5pPr>
            <a:lvl6pPr>
              <a:defRPr sz="1275" b="0">
                <a:solidFill>
                  <a:srgbClr val="536775"/>
                </a:solidFill>
                <a:latin typeface="Arial"/>
                <a:ea typeface="Arial"/>
                <a:cs typeface="Arial"/>
              </a:defRPr>
            </a:lvl6pPr>
            <a:lvl7pPr>
              <a:defRPr sz="1275" b="0">
                <a:solidFill>
                  <a:srgbClr val="536775"/>
                </a:solidFill>
                <a:latin typeface="Arial"/>
                <a:ea typeface="Arial"/>
                <a:cs typeface="Arial"/>
              </a:defRPr>
            </a:lvl7pPr>
            <a:lvl8pPr>
              <a:defRPr sz="1275" b="0">
                <a:solidFill>
                  <a:srgbClr val="536775"/>
                </a:solidFill>
                <a:latin typeface="Arial"/>
                <a:ea typeface="Arial"/>
                <a:cs typeface="Arial"/>
              </a:defRPr>
            </a:lvl8pPr>
            <a:lvl9pPr>
              <a:defRPr sz="1275" b="0">
                <a:solidFill>
                  <a:srgbClr val="536775"/>
                </a:solidFill>
                <a:latin typeface="Arial"/>
                <a:ea typeface="Arial"/>
                <a:cs typeface="Arial"/>
              </a:defRPr>
            </a:lvl9pPr>
          </a:lstStyle>
          <a:p xmlns:a="http://schemas.openxmlformats.org/drawingml/2006/main">
            <a:pPr>
              <a:defRPr sz="1275" b="0">
                <a:solidFill>
                  <a:srgbClr val="536775"/>
                </a:solidFill>
                <a:latin typeface="Arial"/>
                <a:ea typeface="Arial"/>
                <a:cs typeface="Arial"/>
              </a:defRPr>
            </a:pPr>
            <a:r>
              <a:rPr sz="1275" b="0">
                <a:solidFill>
                  <a:srgbClr val="536775"/>
                </a:solidFill>
                <a:latin typeface="Arial"/>
                <a:ea typeface="Arial"/>
                <a:cs typeface="Arial"/>
              </a:rPr>
              <a:t>221,573 trainable parameters. Batch normalization and ReLU in every convolution block. Dropout: 0.2.</a:t>
            </a:r>
          </a:p>
        </p:txBody>
      </p:sp>
    </p:spTree>
    <p:extLst>
      <p:ext uri="{BB962C8B-B14F-4D97-AF65-F5344CB8AC3E}">
        <p14:creationId xmlns:p14="http://schemas.microsoft.com/office/powerpoint/2010/main" val="849890984"/>
      </p:ext>
    </p:extLst>
  </p:cSld>
</p:sld>
</file>

<file path=ppt/slides/slide7.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9" name="Learning objective and decision thresholds">
            <a:extLst xmlns:a="http://schemas.openxmlformats.org/drawingml/2006/main">
              <a:ext uri="{FF2B5EF4-FFF2-40B4-BE49-F238E27FC236}">
                <a16:creationId xmlns:a16="http://schemas.microsoft.com/office/drawing/2014/main" id="{5AC7E3E2-E1D7-40DF-89DD-39111FC6F75B}"/>
              </a:ext>
            </a:extLst>
          </p:cNvPr>
          <p:cNvSpPr>
            <a:spLocks xmlns:a="http://schemas.openxmlformats.org/drawingml/2006/main" noGrp="1"/>
          </p:cNvSpPr>
          <p:nvPr/>
        </p:nvSpPr>
        <p:spPr>
          <a:xfrm xmlns:a="http://schemas.openxmlformats.org/drawingml/2006/main">
            <a:off x="609600" y="40005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D3A"/>
                </a:solidFill>
                <a:latin typeface="Arial"/>
                <a:ea typeface="Arial"/>
                <a:cs typeface="Arial"/>
              </a:defRPr>
            </a:defPPr>
            <a:lvl1pPr>
              <a:defRPr sz="3150" b="1">
                <a:solidFill>
                  <a:srgbClr val="152D3A"/>
                </a:solidFill>
                <a:latin typeface="Arial"/>
                <a:ea typeface="Arial"/>
                <a:cs typeface="Arial"/>
              </a:defRPr>
            </a:lvl1pPr>
            <a:lvl2pPr>
              <a:defRPr sz="3150" b="1">
                <a:solidFill>
                  <a:srgbClr val="152D3A"/>
                </a:solidFill>
                <a:latin typeface="Arial"/>
                <a:ea typeface="Arial"/>
                <a:cs typeface="Arial"/>
              </a:defRPr>
            </a:lvl2pPr>
            <a:lvl3pPr>
              <a:defRPr sz="3150" b="1">
                <a:solidFill>
                  <a:srgbClr val="152D3A"/>
                </a:solidFill>
                <a:latin typeface="Arial"/>
                <a:ea typeface="Arial"/>
                <a:cs typeface="Arial"/>
              </a:defRPr>
            </a:lvl3pPr>
            <a:lvl4pPr>
              <a:defRPr sz="3150" b="1">
                <a:solidFill>
                  <a:srgbClr val="152D3A"/>
                </a:solidFill>
                <a:latin typeface="Arial"/>
                <a:ea typeface="Arial"/>
                <a:cs typeface="Arial"/>
              </a:defRPr>
            </a:lvl4pPr>
            <a:lvl5pPr>
              <a:defRPr sz="3150" b="1">
                <a:solidFill>
                  <a:srgbClr val="152D3A"/>
                </a:solidFill>
                <a:latin typeface="Arial"/>
                <a:ea typeface="Arial"/>
                <a:cs typeface="Arial"/>
              </a:defRPr>
            </a:lvl5pPr>
            <a:lvl6pPr>
              <a:defRPr sz="3150" b="1">
                <a:solidFill>
                  <a:srgbClr val="152D3A"/>
                </a:solidFill>
                <a:latin typeface="Arial"/>
                <a:ea typeface="Arial"/>
                <a:cs typeface="Arial"/>
              </a:defRPr>
            </a:lvl6pPr>
            <a:lvl7pPr>
              <a:defRPr sz="3150" b="1">
                <a:solidFill>
                  <a:srgbClr val="152D3A"/>
                </a:solidFill>
                <a:latin typeface="Arial"/>
                <a:ea typeface="Arial"/>
                <a:cs typeface="Arial"/>
              </a:defRPr>
            </a:lvl7pPr>
            <a:lvl8pPr>
              <a:defRPr sz="3150" b="1">
                <a:solidFill>
                  <a:srgbClr val="152D3A"/>
                </a:solidFill>
                <a:latin typeface="Arial"/>
                <a:ea typeface="Arial"/>
                <a:cs typeface="Arial"/>
              </a:defRPr>
            </a:lvl8pPr>
            <a:lvl9pPr>
              <a:defRPr sz="3150" b="1">
                <a:solidFill>
                  <a:srgbClr val="152D3A"/>
                </a:solidFill>
                <a:latin typeface="Arial"/>
                <a:ea typeface="Arial"/>
                <a:cs typeface="Arial"/>
              </a:defRPr>
            </a:lvl9pPr>
          </a:lstStyle>
          <a:p xmlns:a="http://schemas.openxmlformats.org/drawingml/2006/main">
            <a:pPr>
              <a:defRPr sz="3150" b="1">
                <a:solidFill>
                  <a:srgbClr val="152D3A"/>
                </a:solidFill>
                <a:latin typeface="Arial"/>
                <a:ea typeface="Arial"/>
                <a:cs typeface="Arial"/>
              </a:defRPr>
            </a:pPr>
            <a:r>
              <a:rPr sz="3150" b="1">
                <a:solidFill>
                  <a:srgbClr val="152D3A"/>
                </a:solidFill>
                <a:latin typeface="Arial"/>
                <a:ea typeface="Arial"/>
                <a:cs typeface="Arial"/>
              </a:rPr>
              <a:t>Learning objective and decision thresholds</a:t>
            </a:r>
          </a:p>
        </p:txBody>
      </p:sp>
      <p:sp>
        <p:nvSpPr>
          <p:cNvPr id="2" name="07">
            <a:extLst xmlns:a="http://schemas.openxmlformats.org/drawingml/2006/main">
              <a:ext uri="{FF2B5EF4-FFF2-40B4-BE49-F238E27FC236}">
                <a16:creationId xmlns:a16="http://schemas.microsoft.com/office/drawing/2014/main" id="{C1735178-0398-43BC-A62F-4CAB710A163C}"/>
              </a:ext>
            </a:extLst>
          </p:cNvPr>
          <p:cNvSpPr>
            <a:spLocks xmlns:a="http://schemas.openxmlformats.org/drawingml/2006/main" noGrp="1"/>
          </p:cNvSpPr>
          <p:nvPr/>
        </p:nvSpPr>
        <p:spPr>
          <a:xfrm xmlns:a="http://schemas.openxmlformats.org/drawingml/2006/main">
            <a:off x="11144250" y="63817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775"/>
                </a:solidFill>
                <a:latin typeface="Arial"/>
                <a:ea typeface="Arial"/>
                <a:cs typeface="Arial"/>
              </a:defRPr>
            </a:defPPr>
            <a:lvl1pPr>
              <a:defRPr sz="1200" b="0">
                <a:solidFill>
                  <a:srgbClr val="536775"/>
                </a:solidFill>
                <a:latin typeface="Arial"/>
                <a:ea typeface="Arial"/>
                <a:cs typeface="Arial"/>
              </a:defRPr>
            </a:lvl1pPr>
            <a:lvl2pPr>
              <a:defRPr sz="1200" b="0">
                <a:solidFill>
                  <a:srgbClr val="536775"/>
                </a:solidFill>
                <a:latin typeface="Arial"/>
                <a:ea typeface="Arial"/>
                <a:cs typeface="Arial"/>
              </a:defRPr>
            </a:lvl2pPr>
            <a:lvl3pPr>
              <a:defRPr sz="1200" b="0">
                <a:solidFill>
                  <a:srgbClr val="536775"/>
                </a:solidFill>
                <a:latin typeface="Arial"/>
                <a:ea typeface="Arial"/>
                <a:cs typeface="Arial"/>
              </a:defRPr>
            </a:lvl3pPr>
            <a:lvl4pPr>
              <a:defRPr sz="1200" b="0">
                <a:solidFill>
                  <a:srgbClr val="536775"/>
                </a:solidFill>
                <a:latin typeface="Arial"/>
                <a:ea typeface="Arial"/>
                <a:cs typeface="Arial"/>
              </a:defRPr>
            </a:lvl4pPr>
            <a:lvl5pPr>
              <a:defRPr sz="1200" b="0">
                <a:solidFill>
                  <a:srgbClr val="536775"/>
                </a:solidFill>
                <a:latin typeface="Arial"/>
                <a:ea typeface="Arial"/>
                <a:cs typeface="Arial"/>
              </a:defRPr>
            </a:lvl5pPr>
            <a:lvl6pPr>
              <a:defRPr sz="1200" b="0">
                <a:solidFill>
                  <a:srgbClr val="536775"/>
                </a:solidFill>
                <a:latin typeface="Arial"/>
                <a:ea typeface="Arial"/>
                <a:cs typeface="Arial"/>
              </a:defRPr>
            </a:lvl6pPr>
            <a:lvl7pPr>
              <a:defRPr sz="1200" b="0">
                <a:solidFill>
                  <a:srgbClr val="536775"/>
                </a:solidFill>
                <a:latin typeface="Arial"/>
                <a:ea typeface="Arial"/>
                <a:cs typeface="Arial"/>
              </a:defRPr>
            </a:lvl7pPr>
            <a:lvl8pPr>
              <a:defRPr sz="1200" b="0">
                <a:solidFill>
                  <a:srgbClr val="536775"/>
                </a:solidFill>
                <a:latin typeface="Arial"/>
                <a:ea typeface="Arial"/>
                <a:cs typeface="Arial"/>
              </a:defRPr>
            </a:lvl8pPr>
            <a:lvl9pPr>
              <a:defRPr sz="1200" b="0">
                <a:solidFill>
                  <a:srgbClr val="536775"/>
                </a:solidFill>
                <a:latin typeface="Arial"/>
                <a:ea typeface="Arial"/>
                <a:cs typeface="Arial"/>
              </a:defRPr>
            </a:lvl9pPr>
          </a:lstStyle>
          <a:p xmlns:a="http://schemas.openxmlformats.org/drawingml/2006/main">
            <a:pPr>
              <a:defRPr sz="1200" b="0">
                <a:solidFill>
                  <a:srgbClr val="536775"/>
                </a:solidFill>
                <a:latin typeface="Arial"/>
                <a:ea typeface="Arial"/>
                <a:cs typeface="Arial"/>
              </a:defRPr>
            </a:pPr>
            <a:r>
              <a:rPr sz="1200" b="0">
                <a:solidFill>
                  <a:srgbClr val="536775"/>
                </a:solidFill>
                <a:latin typeface="Arial"/>
                <a:ea typeface="Arial"/>
                <a:cs typeface="Arial"/>
              </a:rPr>
              <a:t>07</a:t>
            </a:r>
          </a:p>
        </p:txBody>
      </p:sp>
      <p:sp>
        <p:nvSpPr>
          <p:cNvPr id="3" name="Train-only normalization">
            <a:extLst xmlns:a="http://schemas.openxmlformats.org/drawingml/2006/main">
              <a:ext uri="{FF2B5EF4-FFF2-40B4-BE49-F238E27FC236}">
                <a16:creationId xmlns:a16="http://schemas.microsoft.com/office/drawing/2014/main" id="{E430C0A3-9882-4D9A-84F8-0E0D5D442A50}"/>
              </a:ext>
            </a:extLst>
          </p:cNvPr>
          <p:cNvSpPr>
            <a:spLocks xmlns:a="http://schemas.openxmlformats.org/drawingml/2006/main" noGrp="1"/>
          </p:cNvSpPr>
          <p:nvPr/>
        </p:nvSpPr>
        <p:spPr>
          <a:xfrm xmlns:a="http://schemas.openxmlformats.org/drawingml/2006/main">
            <a:off x="609600" y="14478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B"/>
                </a:solidFill>
                <a:latin typeface="Arial"/>
                <a:ea typeface="Arial"/>
                <a:cs typeface="Arial"/>
              </a:defRPr>
            </a:defPPr>
            <a:lvl1pPr>
              <a:defRPr sz="2175" b="1">
                <a:solidFill>
                  <a:srgbClr val="087E8B"/>
                </a:solidFill>
                <a:latin typeface="Arial"/>
                <a:ea typeface="Arial"/>
                <a:cs typeface="Arial"/>
              </a:defRPr>
            </a:lvl1pPr>
            <a:lvl2pPr>
              <a:defRPr sz="2175" b="1">
                <a:solidFill>
                  <a:srgbClr val="087E8B"/>
                </a:solidFill>
                <a:latin typeface="Arial"/>
                <a:ea typeface="Arial"/>
                <a:cs typeface="Arial"/>
              </a:defRPr>
            </a:lvl2pPr>
            <a:lvl3pPr>
              <a:defRPr sz="2175" b="1">
                <a:solidFill>
                  <a:srgbClr val="087E8B"/>
                </a:solidFill>
                <a:latin typeface="Arial"/>
                <a:ea typeface="Arial"/>
                <a:cs typeface="Arial"/>
              </a:defRPr>
            </a:lvl3pPr>
            <a:lvl4pPr>
              <a:defRPr sz="2175" b="1">
                <a:solidFill>
                  <a:srgbClr val="087E8B"/>
                </a:solidFill>
                <a:latin typeface="Arial"/>
                <a:ea typeface="Arial"/>
                <a:cs typeface="Arial"/>
              </a:defRPr>
            </a:lvl4pPr>
            <a:lvl5pPr>
              <a:defRPr sz="2175" b="1">
                <a:solidFill>
                  <a:srgbClr val="087E8B"/>
                </a:solidFill>
                <a:latin typeface="Arial"/>
                <a:ea typeface="Arial"/>
                <a:cs typeface="Arial"/>
              </a:defRPr>
            </a:lvl5pPr>
            <a:lvl6pPr>
              <a:defRPr sz="2175" b="1">
                <a:solidFill>
                  <a:srgbClr val="087E8B"/>
                </a:solidFill>
                <a:latin typeface="Arial"/>
                <a:ea typeface="Arial"/>
                <a:cs typeface="Arial"/>
              </a:defRPr>
            </a:lvl6pPr>
            <a:lvl7pPr>
              <a:defRPr sz="2175" b="1">
                <a:solidFill>
                  <a:srgbClr val="087E8B"/>
                </a:solidFill>
                <a:latin typeface="Arial"/>
                <a:ea typeface="Arial"/>
                <a:cs typeface="Arial"/>
              </a:defRPr>
            </a:lvl7pPr>
            <a:lvl8pPr>
              <a:defRPr sz="2175" b="1">
                <a:solidFill>
                  <a:srgbClr val="087E8B"/>
                </a:solidFill>
                <a:latin typeface="Arial"/>
                <a:ea typeface="Arial"/>
                <a:cs typeface="Arial"/>
              </a:defRPr>
            </a:lvl8pPr>
            <a:lvl9pPr>
              <a:defRPr sz="2175" b="1">
                <a:solidFill>
                  <a:srgbClr val="087E8B"/>
                </a:solidFill>
                <a:latin typeface="Arial"/>
                <a:ea typeface="Arial"/>
                <a:cs typeface="Arial"/>
              </a:defRPr>
            </a:lvl9pPr>
          </a:lstStyle>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Train-only normalization</a:t>
            </a:r>
          </a:p>
        </p:txBody>
      </p:sp>
      <p:sp>
        <p:nvSpPr>
          <p:cNvPr id="4" name="z = (x − μ) / (σ + ε)&#10;Each lead uses frozen t">
            <a:extLst xmlns:a="http://schemas.openxmlformats.org/drawingml/2006/main">
              <a:ext uri="{FF2B5EF4-FFF2-40B4-BE49-F238E27FC236}">
                <a16:creationId xmlns:a16="http://schemas.microsoft.com/office/drawing/2014/main" id="{7456EF2F-7642-4619-BCEF-05E76158ADD5}"/>
              </a:ext>
            </a:extLst>
          </p:cNvPr>
          <p:cNvSpPr>
            <a:spLocks xmlns:a="http://schemas.openxmlformats.org/drawingml/2006/main" noGrp="1"/>
          </p:cNvSpPr>
          <p:nvPr/>
        </p:nvSpPr>
        <p:spPr>
          <a:xfrm xmlns:a="http://schemas.openxmlformats.org/drawingml/2006/main">
            <a:off x="609600" y="1943100"/>
            <a:ext cx="10763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D3A"/>
                </a:solidFill>
                <a:latin typeface="Arial"/>
                <a:ea typeface="Arial"/>
                <a:cs typeface="Arial"/>
              </a:defRPr>
            </a:defPPr>
            <a:lvl1pPr>
              <a:defRPr sz="1950" b="0">
                <a:solidFill>
                  <a:srgbClr val="152D3A"/>
                </a:solidFill>
                <a:latin typeface="Arial"/>
                <a:ea typeface="Arial"/>
                <a:cs typeface="Arial"/>
              </a:defRPr>
            </a:lvl1pPr>
            <a:lvl2pPr>
              <a:defRPr sz="1950" b="0">
                <a:solidFill>
                  <a:srgbClr val="152D3A"/>
                </a:solidFill>
                <a:latin typeface="Arial"/>
                <a:ea typeface="Arial"/>
                <a:cs typeface="Arial"/>
              </a:defRPr>
            </a:lvl2pPr>
            <a:lvl3pPr>
              <a:defRPr sz="1950" b="0">
                <a:solidFill>
                  <a:srgbClr val="152D3A"/>
                </a:solidFill>
                <a:latin typeface="Arial"/>
                <a:ea typeface="Arial"/>
                <a:cs typeface="Arial"/>
              </a:defRPr>
            </a:lvl3pPr>
            <a:lvl4pPr>
              <a:defRPr sz="1950" b="0">
                <a:solidFill>
                  <a:srgbClr val="152D3A"/>
                </a:solidFill>
                <a:latin typeface="Arial"/>
                <a:ea typeface="Arial"/>
                <a:cs typeface="Arial"/>
              </a:defRPr>
            </a:lvl4pPr>
            <a:lvl5pPr>
              <a:defRPr sz="1950" b="0">
                <a:solidFill>
                  <a:srgbClr val="152D3A"/>
                </a:solidFill>
                <a:latin typeface="Arial"/>
                <a:ea typeface="Arial"/>
                <a:cs typeface="Arial"/>
              </a:defRPr>
            </a:lvl5pPr>
            <a:lvl6pPr>
              <a:defRPr sz="1950" b="0">
                <a:solidFill>
                  <a:srgbClr val="152D3A"/>
                </a:solidFill>
                <a:latin typeface="Arial"/>
                <a:ea typeface="Arial"/>
                <a:cs typeface="Arial"/>
              </a:defRPr>
            </a:lvl6pPr>
            <a:lvl7pPr>
              <a:defRPr sz="1950" b="0">
                <a:solidFill>
                  <a:srgbClr val="152D3A"/>
                </a:solidFill>
                <a:latin typeface="Arial"/>
                <a:ea typeface="Arial"/>
                <a:cs typeface="Arial"/>
              </a:defRPr>
            </a:lvl7pPr>
            <a:lvl8pPr>
              <a:defRPr sz="1950" b="0">
                <a:solidFill>
                  <a:srgbClr val="152D3A"/>
                </a:solidFill>
                <a:latin typeface="Arial"/>
                <a:ea typeface="Arial"/>
                <a:cs typeface="Arial"/>
              </a:defRPr>
            </a:lvl8pPr>
            <a:lvl9pPr>
              <a:defRPr sz="1950" b="0">
                <a:solidFill>
                  <a:srgbClr val="152D3A"/>
                </a:solidFill>
                <a:latin typeface="Arial"/>
                <a:ea typeface="Arial"/>
                <a:cs typeface="Arial"/>
              </a:defRPr>
            </a:lvl9pPr>
          </a:lstStyle>
          <a:p xmlns:a="http://schemas.openxmlformats.org/drawingml/2006/main">
            <a:pPr>
              <a:defRPr sz="1950" b="0">
                <a:solidFill>
                  <a:srgbClr val="152D3A"/>
                </a:solidFill>
                <a:latin typeface="Arial"/>
                <a:ea typeface="Arial"/>
                <a:cs typeface="Arial"/>
              </a:defRPr>
            </a:pPr>
            <a:r>
              <a:rPr sz="1950" b="0">
                <a:solidFill>
                  <a:srgbClr val="152D3A"/>
                </a:solidFill>
                <a:latin typeface="Arial"/>
                <a:ea typeface="Arial"/>
                <a:cs typeface="Arial"/>
              </a:rPr>
              <a:t>z = (x − μ) / (σ + ε)</a:t>
            </a:r>
          </a:p>
          <a:p xmlns:a="http://schemas.openxmlformats.org/drawingml/2006/main">
            <a:pPr>
              <a:defRPr sz="1950" b="0">
                <a:solidFill>
                  <a:srgbClr val="152D3A"/>
                </a:solidFill>
                <a:latin typeface="Arial"/>
                <a:ea typeface="Arial"/>
                <a:cs typeface="Arial"/>
              </a:defRPr>
            </a:pPr>
            <a:r>
              <a:rPr sz="1950" b="0">
                <a:solidFill>
                  <a:srgbClr val="152D3A"/>
                </a:solidFill>
                <a:latin typeface="Arial"/>
                <a:ea typeface="Arial"/>
                <a:cs typeface="Arial"/>
              </a:rPr>
              <a:t>Each lead uses frozen training statistics μ and σ.</a:t>
            </a:r>
          </a:p>
        </p:txBody>
      </p:sp>
      <p:sp>
        <p:nvSpPr>
          <p:cNvPr id="5" name="Weighted binary cross entropy">
            <a:extLst xmlns:a="http://schemas.openxmlformats.org/drawingml/2006/main">
              <a:ext uri="{FF2B5EF4-FFF2-40B4-BE49-F238E27FC236}">
                <a16:creationId xmlns:a16="http://schemas.microsoft.com/office/drawing/2014/main" id="{D017EF21-52A6-4FB6-93AC-1DF6EFE0A309}"/>
              </a:ext>
            </a:extLst>
          </p:cNvPr>
          <p:cNvSpPr>
            <a:spLocks xmlns:a="http://schemas.openxmlformats.org/drawingml/2006/main" noGrp="1"/>
          </p:cNvSpPr>
          <p:nvPr/>
        </p:nvSpPr>
        <p:spPr>
          <a:xfrm xmlns:a="http://schemas.openxmlformats.org/drawingml/2006/main">
            <a:off x="609600" y="29527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B"/>
                </a:solidFill>
                <a:latin typeface="Arial"/>
                <a:ea typeface="Arial"/>
                <a:cs typeface="Arial"/>
              </a:defRPr>
            </a:defPPr>
            <a:lvl1pPr>
              <a:defRPr sz="2175" b="1">
                <a:solidFill>
                  <a:srgbClr val="087E8B"/>
                </a:solidFill>
                <a:latin typeface="Arial"/>
                <a:ea typeface="Arial"/>
                <a:cs typeface="Arial"/>
              </a:defRPr>
            </a:lvl1pPr>
            <a:lvl2pPr>
              <a:defRPr sz="2175" b="1">
                <a:solidFill>
                  <a:srgbClr val="087E8B"/>
                </a:solidFill>
                <a:latin typeface="Arial"/>
                <a:ea typeface="Arial"/>
                <a:cs typeface="Arial"/>
              </a:defRPr>
            </a:lvl2pPr>
            <a:lvl3pPr>
              <a:defRPr sz="2175" b="1">
                <a:solidFill>
                  <a:srgbClr val="087E8B"/>
                </a:solidFill>
                <a:latin typeface="Arial"/>
                <a:ea typeface="Arial"/>
                <a:cs typeface="Arial"/>
              </a:defRPr>
            </a:lvl3pPr>
            <a:lvl4pPr>
              <a:defRPr sz="2175" b="1">
                <a:solidFill>
                  <a:srgbClr val="087E8B"/>
                </a:solidFill>
                <a:latin typeface="Arial"/>
                <a:ea typeface="Arial"/>
                <a:cs typeface="Arial"/>
              </a:defRPr>
            </a:lvl4pPr>
            <a:lvl5pPr>
              <a:defRPr sz="2175" b="1">
                <a:solidFill>
                  <a:srgbClr val="087E8B"/>
                </a:solidFill>
                <a:latin typeface="Arial"/>
                <a:ea typeface="Arial"/>
                <a:cs typeface="Arial"/>
              </a:defRPr>
            </a:lvl5pPr>
            <a:lvl6pPr>
              <a:defRPr sz="2175" b="1">
                <a:solidFill>
                  <a:srgbClr val="087E8B"/>
                </a:solidFill>
                <a:latin typeface="Arial"/>
                <a:ea typeface="Arial"/>
                <a:cs typeface="Arial"/>
              </a:defRPr>
            </a:lvl6pPr>
            <a:lvl7pPr>
              <a:defRPr sz="2175" b="1">
                <a:solidFill>
                  <a:srgbClr val="087E8B"/>
                </a:solidFill>
                <a:latin typeface="Arial"/>
                <a:ea typeface="Arial"/>
                <a:cs typeface="Arial"/>
              </a:defRPr>
            </a:lvl7pPr>
            <a:lvl8pPr>
              <a:defRPr sz="2175" b="1">
                <a:solidFill>
                  <a:srgbClr val="087E8B"/>
                </a:solidFill>
                <a:latin typeface="Arial"/>
                <a:ea typeface="Arial"/>
                <a:cs typeface="Arial"/>
              </a:defRPr>
            </a:lvl8pPr>
            <a:lvl9pPr>
              <a:defRPr sz="2175" b="1">
                <a:solidFill>
                  <a:srgbClr val="087E8B"/>
                </a:solidFill>
                <a:latin typeface="Arial"/>
                <a:ea typeface="Arial"/>
                <a:cs typeface="Arial"/>
              </a:defRPr>
            </a:lvl9pPr>
          </a:lstStyle>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Weighted binary cross entropy</a:t>
            </a:r>
          </a:p>
        </p:txBody>
      </p:sp>
      <p:sp>
        <p:nvSpPr>
          <p:cNvPr id="6" name="ℓ = −w y log(p) − (1 − y) log(1 − p)&#10;Training">
            <a:extLst xmlns:a="http://schemas.openxmlformats.org/drawingml/2006/main">
              <a:ext uri="{FF2B5EF4-FFF2-40B4-BE49-F238E27FC236}">
                <a16:creationId xmlns:a16="http://schemas.microsoft.com/office/drawing/2014/main" id="{5831C443-F7AF-4D89-8C22-3BF7706ECBE8}"/>
              </a:ext>
            </a:extLst>
          </p:cNvPr>
          <p:cNvSpPr>
            <a:spLocks xmlns:a="http://schemas.openxmlformats.org/drawingml/2006/main" noGrp="1"/>
          </p:cNvSpPr>
          <p:nvPr/>
        </p:nvSpPr>
        <p:spPr>
          <a:xfrm xmlns:a="http://schemas.openxmlformats.org/drawingml/2006/main">
            <a:off x="609600" y="3448050"/>
            <a:ext cx="10763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D3A"/>
                </a:solidFill>
                <a:latin typeface="Arial"/>
                <a:ea typeface="Arial"/>
                <a:cs typeface="Arial"/>
              </a:defRPr>
            </a:defPPr>
            <a:lvl1pPr>
              <a:defRPr sz="1950" b="0">
                <a:solidFill>
                  <a:srgbClr val="152D3A"/>
                </a:solidFill>
                <a:latin typeface="Arial"/>
                <a:ea typeface="Arial"/>
                <a:cs typeface="Arial"/>
              </a:defRPr>
            </a:lvl1pPr>
            <a:lvl2pPr>
              <a:defRPr sz="1950" b="0">
                <a:solidFill>
                  <a:srgbClr val="152D3A"/>
                </a:solidFill>
                <a:latin typeface="Arial"/>
                <a:ea typeface="Arial"/>
                <a:cs typeface="Arial"/>
              </a:defRPr>
            </a:lvl2pPr>
            <a:lvl3pPr>
              <a:defRPr sz="1950" b="0">
                <a:solidFill>
                  <a:srgbClr val="152D3A"/>
                </a:solidFill>
                <a:latin typeface="Arial"/>
                <a:ea typeface="Arial"/>
                <a:cs typeface="Arial"/>
              </a:defRPr>
            </a:lvl3pPr>
            <a:lvl4pPr>
              <a:defRPr sz="1950" b="0">
                <a:solidFill>
                  <a:srgbClr val="152D3A"/>
                </a:solidFill>
                <a:latin typeface="Arial"/>
                <a:ea typeface="Arial"/>
                <a:cs typeface="Arial"/>
              </a:defRPr>
            </a:lvl4pPr>
            <a:lvl5pPr>
              <a:defRPr sz="1950" b="0">
                <a:solidFill>
                  <a:srgbClr val="152D3A"/>
                </a:solidFill>
                <a:latin typeface="Arial"/>
                <a:ea typeface="Arial"/>
                <a:cs typeface="Arial"/>
              </a:defRPr>
            </a:lvl5pPr>
            <a:lvl6pPr>
              <a:defRPr sz="1950" b="0">
                <a:solidFill>
                  <a:srgbClr val="152D3A"/>
                </a:solidFill>
                <a:latin typeface="Arial"/>
                <a:ea typeface="Arial"/>
                <a:cs typeface="Arial"/>
              </a:defRPr>
            </a:lvl6pPr>
            <a:lvl7pPr>
              <a:defRPr sz="1950" b="0">
                <a:solidFill>
                  <a:srgbClr val="152D3A"/>
                </a:solidFill>
                <a:latin typeface="Arial"/>
                <a:ea typeface="Arial"/>
                <a:cs typeface="Arial"/>
              </a:defRPr>
            </a:lvl7pPr>
            <a:lvl8pPr>
              <a:defRPr sz="1950" b="0">
                <a:solidFill>
                  <a:srgbClr val="152D3A"/>
                </a:solidFill>
                <a:latin typeface="Arial"/>
                <a:ea typeface="Arial"/>
                <a:cs typeface="Arial"/>
              </a:defRPr>
            </a:lvl8pPr>
            <a:lvl9pPr>
              <a:defRPr sz="1950" b="0">
                <a:solidFill>
                  <a:srgbClr val="152D3A"/>
                </a:solidFill>
                <a:latin typeface="Arial"/>
                <a:ea typeface="Arial"/>
                <a:cs typeface="Arial"/>
              </a:defRPr>
            </a:lvl9pPr>
          </a:lstStyle>
          <a:p xmlns:a="http://schemas.openxmlformats.org/drawingml/2006/main">
            <a:pPr>
              <a:defRPr sz="1950" b="0">
                <a:solidFill>
                  <a:srgbClr val="152D3A"/>
                </a:solidFill>
                <a:latin typeface="Arial"/>
                <a:ea typeface="Arial"/>
                <a:cs typeface="Arial"/>
              </a:defRPr>
            </a:pPr>
            <a:r>
              <a:rPr sz="1950" b="0">
                <a:solidFill>
                  <a:srgbClr val="152D3A"/>
                </a:solidFill>
                <a:latin typeface="Arial"/>
                <a:ea typeface="Arial"/>
                <a:cs typeface="Arial"/>
              </a:rPr>
              <a:t>ℓ = −w y log(p) − (1 − y) log(1 − p)</a:t>
            </a:r>
          </a:p>
          <a:p xmlns:a="http://schemas.openxmlformats.org/drawingml/2006/main">
            <a:pPr>
              <a:defRPr sz="1950" b="0">
                <a:solidFill>
                  <a:srgbClr val="152D3A"/>
                </a:solidFill>
                <a:latin typeface="Arial"/>
                <a:ea typeface="Arial"/>
                <a:cs typeface="Arial"/>
              </a:defRPr>
            </a:pPr>
            <a:r>
              <a:rPr sz="1950" b="0">
                <a:solidFill>
                  <a:srgbClr val="152D3A"/>
                </a:solidFill>
                <a:latin typeface="Arial"/>
                <a:ea typeface="Arial"/>
                <a:cs typeface="Arial"/>
              </a:rPr>
              <a:t>Training class counts determine w.</a:t>
            </a:r>
          </a:p>
        </p:txBody>
      </p:sp>
      <p:sp>
        <p:nvSpPr>
          <p:cNvPr id="7" name="Validation-selected thresholds">
            <a:extLst xmlns:a="http://schemas.openxmlformats.org/drawingml/2006/main">
              <a:ext uri="{FF2B5EF4-FFF2-40B4-BE49-F238E27FC236}">
                <a16:creationId xmlns:a16="http://schemas.microsoft.com/office/drawing/2014/main" id="{91559460-3849-46BE-A5BA-CE0F76B29D8D}"/>
              </a:ext>
            </a:extLst>
          </p:cNvPr>
          <p:cNvSpPr>
            <a:spLocks xmlns:a="http://schemas.openxmlformats.org/drawingml/2006/main" noGrp="1"/>
          </p:cNvSpPr>
          <p:nvPr/>
        </p:nvSpPr>
        <p:spPr>
          <a:xfrm xmlns:a="http://schemas.openxmlformats.org/drawingml/2006/main">
            <a:off x="609600" y="44577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B"/>
                </a:solidFill>
                <a:latin typeface="Arial"/>
                <a:ea typeface="Arial"/>
                <a:cs typeface="Arial"/>
              </a:defRPr>
            </a:defPPr>
            <a:lvl1pPr>
              <a:defRPr sz="2175" b="1">
                <a:solidFill>
                  <a:srgbClr val="087E8B"/>
                </a:solidFill>
                <a:latin typeface="Arial"/>
                <a:ea typeface="Arial"/>
                <a:cs typeface="Arial"/>
              </a:defRPr>
            </a:lvl1pPr>
            <a:lvl2pPr>
              <a:defRPr sz="2175" b="1">
                <a:solidFill>
                  <a:srgbClr val="087E8B"/>
                </a:solidFill>
                <a:latin typeface="Arial"/>
                <a:ea typeface="Arial"/>
                <a:cs typeface="Arial"/>
              </a:defRPr>
            </a:lvl2pPr>
            <a:lvl3pPr>
              <a:defRPr sz="2175" b="1">
                <a:solidFill>
                  <a:srgbClr val="087E8B"/>
                </a:solidFill>
                <a:latin typeface="Arial"/>
                <a:ea typeface="Arial"/>
                <a:cs typeface="Arial"/>
              </a:defRPr>
            </a:lvl3pPr>
            <a:lvl4pPr>
              <a:defRPr sz="2175" b="1">
                <a:solidFill>
                  <a:srgbClr val="087E8B"/>
                </a:solidFill>
                <a:latin typeface="Arial"/>
                <a:ea typeface="Arial"/>
                <a:cs typeface="Arial"/>
              </a:defRPr>
            </a:lvl4pPr>
            <a:lvl5pPr>
              <a:defRPr sz="2175" b="1">
                <a:solidFill>
                  <a:srgbClr val="087E8B"/>
                </a:solidFill>
                <a:latin typeface="Arial"/>
                <a:ea typeface="Arial"/>
                <a:cs typeface="Arial"/>
              </a:defRPr>
            </a:lvl5pPr>
            <a:lvl6pPr>
              <a:defRPr sz="2175" b="1">
                <a:solidFill>
                  <a:srgbClr val="087E8B"/>
                </a:solidFill>
                <a:latin typeface="Arial"/>
                <a:ea typeface="Arial"/>
                <a:cs typeface="Arial"/>
              </a:defRPr>
            </a:lvl6pPr>
            <a:lvl7pPr>
              <a:defRPr sz="2175" b="1">
                <a:solidFill>
                  <a:srgbClr val="087E8B"/>
                </a:solidFill>
                <a:latin typeface="Arial"/>
                <a:ea typeface="Arial"/>
                <a:cs typeface="Arial"/>
              </a:defRPr>
            </a:lvl7pPr>
            <a:lvl8pPr>
              <a:defRPr sz="2175" b="1">
                <a:solidFill>
                  <a:srgbClr val="087E8B"/>
                </a:solidFill>
                <a:latin typeface="Arial"/>
                <a:ea typeface="Arial"/>
                <a:cs typeface="Arial"/>
              </a:defRPr>
            </a:lvl8pPr>
            <a:lvl9pPr>
              <a:defRPr sz="2175" b="1">
                <a:solidFill>
                  <a:srgbClr val="087E8B"/>
                </a:solidFill>
                <a:latin typeface="Arial"/>
                <a:ea typeface="Arial"/>
                <a:cs typeface="Arial"/>
              </a:defRPr>
            </a:lvl9pPr>
          </a:lstStyle>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Validation-selected thresholds</a:t>
            </a:r>
          </a:p>
        </p:txBody>
      </p:sp>
      <p:sp>
        <p:nvSpPr>
          <p:cNvPr id="8" name="Independent sigmoid scores allow overlapping ">
            <a:extLst xmlns:a="http://schemas.openxmlformats.org/drawingml/2006/main">
              <a:ext uri="{FF2B5EF4-FFF2-40B4-BE49-F238E27FC236}">
                <a16:creationId xmlns:a16="http://schemas.microsoft.com/office/drawing/2014/main" id="{3C962794-ECB8-4E0B-811C-33DE7EBC62C8}"/>
              </a:ext>
            </a:extLst>
          </p:cNvPr>
          <p:cNvSpPr>
            <a:spLocks xmlns:a="http://schemas.openxmlformats.org/drawingml/2006/main" noGrp="1"/>
          </p:cNvSpPr>
          <p:nvPr/>
        </p:nvSpPr>
        <p:spPr>
          <a:xfrm xmlns:a="http://schemas.openxmlformats.org/drawingml/2006/main">
            <a:off x="609600" y="4953000"/>
            <a:ext cx="10763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D3A"/>
                </a:solidFill>
                <a:latin typeface="Arial"/>
                <a:ea typeface="Arial"/>
                <a:cs typeface="Arial"/>
              </a:defRPr>
            </a:defPPr>
            <a:lvl1pPr>
              <a:defRPr sz="1950" b="0">
                <a:solidFill>
                  <a:srgbClr val="152D3A"/>
                </a:solidFill>
                <a:latin typeface="Arial"/>
                <a:ea typeface="Arial"/>
                <a:cs typeface="Arial"/>
              </a:defRPr>
            </a:lvl1pPr>
            <a:lvl2pPr>
              <a:defRPr sz="1950" b="0">
                <a:solidFill>
                  <a:srgbClr val="152D3A"/>
                </a:solidFill>
                <a:latin typeface="Arial"/>
                <a:ea typeface="Arial"/>
                <a:cs typeface="Arial"/>
              </a:defRPr>
            </a:lvl2pPr>
            <a:lvl3pPr>
              <a:defRPr sz="1950" b="0">
                <a:solidFill>
                  <a:srgbClr val="152D3A"/>
                </a:solidFill>
                <a:latin typeface="Arial"/>
                <a:ea typeface="Arial"/>
                <a:cs typeface="Arial"/>
              </a:defRPr>
            </a:lvl3pPr>
            <a:lvl4pPr>
              <a:defRPr sz="1950" b="0">
                <a:solidFill>
                  <a:srgbClr val="152D3A"/>
                </a:solidFill>
                <a:latin typeface="Arial"/>
                <a:ea typeface="Arial"/>
                <a:cs typeface="Arial"/>
              </a:defRPr>
            </a:lvl4pPr>
            <a:lvl5pPr>
              <a:defRPr sz="1950" b="0">
                <a:solidFill>
                  <a:srgbClr val="152D3A"/>
                </a:solidFill>
                <a:latin typeface="Arial"/>
                <a:ea typeface="Arial"/>
                <a:cs typeface="Arial"/>
              </a:defRPr>
            </a:lvl5pPr>
            <a:lvl6pPr>
              <a:defRPr sz="1950" b="0">
                <a:solidFill>
                  <a:srgbClr val="152D3A"/>
                </a:solidFill>
                <a:latin typeface="Arial"/>
                <a:ea typeface="Arial"/>
                <a:cs typeface="Arial"/>
              </a:defRPr>
            </a:lvl6pPr>
            <a:lvl7pPr>
              <a:defRPr sz="1950" b="0">
                <a:solidFill>
                  <a:srgbClr val="152D3A"/>
                </a:solidFill>
                <a:latin typeface="Arial"/>
                <a:ea typeface="Arial"/>
                <a:cs typeface="Arial"/>
              </a:defRPr>
            </a:lvl7pPr>
            <a:lvl8pPr>
              <a:defRPr sz="1950" b="0">
                <a:solidFill>
                  <a:srgbClr val="152D3A"/>
                </a:solidFill>
                <a:latin typeface="Arial"/>
                <a:ea typeface="Arial"/>
                <a:cs typeface="Arial"/>
              </a:defRPr>
            </a:lvl8pPr>
            <a:lvl9pPr>
              <a:defRPr sz="1950" b="0">
                <a:solidFill>
                  <a:srgbClr val="152D3A"/>
                </a:solidFill>
                <a:latin typeface="Arial"/>
                <a:ea typeface="Arial"/>
                <a:cs typeface="Arial"/>
              </a:defRPr>
            </a:lvl9pPr>
          </a:lstStyle>
          <a:p xmlns:a="http://schemas.openxmlformats.org/drawingml/2006/main">
            <a:pPr>
              <a:defRPr sz="1950" b="0">
                <a:solidFill>
                  <a:srgbClr val="152D3A"/>
                </a:solidFill>
                <a:latin typeface="Arial"/>
                <a:ea typeface="Arial"/>
                <a:cs typeface="Arial"/>
              </a:defRPr>
            </a:pPr>
            <a:r>
              <a:rPr sz="1950" b="0">
                <a:solidFill>
                  <a:srgbClr val="152D3A"/>
                </a:solidFill>
                <a:latin typeface="Arial"/>
                <a:ea typeface="Arial"/>
                <a:cs typeface="Arial"/>
              </a:rPr>
              <a:t>Independent sigmoid scores allow overlapping labels.</a:t>
            </a:r>
          </a:p>
          <a:p xmlns:a="http://schemas.openxmlformats.org/drawingml/2006/main">
            <a:pPr>
              <a:defRPr sz="1950" b="0">
                <a:solidFill>
                  <a:srgbClr val="152D3A"/>
                </a:solidFill>
                <a:latin typeface="Arial"/>
                <a:ea typeface="Arial"/>
                <a:cs typeface="Arial"/>
              </a:defRPr>
            </a:pPr>
            <a:r>
              <a:rPr sz="1950" b="0">
                <a:solidFill>
                  <a:srgbClr val="152D3A"/>
                </a:solidFill>
                <a:latin typeface="Arial"/>
                <a:ea typeface="Arial"/>
                <a:cs typeface="Arial"/>
              </a:rPr>
              <a:t>Validation F1 selects one threshold per category.</a:t>
            </a:r>
          </a:p>
        </p:txBody>
      </p:sp>
    </p:spTree>
    <p:extLst>
      <p:ext uri="{BB962C8B-B14F-4D97-AF65-F5344CB8AC3E}">
        <p14:creationId xmlns:p14="http://schemas.microsoft.com/office/powerpoint/2010/main" val="1330461194"/>
      </p:ext>
    </p:extLst>
  </p:cSld>
</p:sld>
</file>

<file path=ppt/slides/slide8.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6" name="Training protocol and comparison models">
            <a:extLst xmlns:a="http://schemas.openxmlformats.org/drawingml/2006/main">
              <a:ext uri="{FF2B5EF4-FFF2-40B4-BE49-F238E27FC236}">
                <a16:creationId xmlns:a16="http://schemas.microsoft.com/office/drawing/2014/main" id="{4F3D8D1D-41FA-4F43-A35A-DB3D7BDB6B63}"/>
              </a:ext>
            </a:extLst>
          </p:cNvPr>
          <p:cNvSpPr>
            <a:spLocks xmlns:a="http://schemas.openxmlformats.org/drawingml/2006/main" noGrp="1"/>
          </p:cNvSpPr>
          <p:nvPr/>
        </p:nvSpPr>
        <p:spPr>
          <a:xfrm xmlns:a="http://schemas.openxmlformats.org/drawingml/2006/main">
            <a:off x="609600" y="40005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D3A"/>
                </a:solidFill>
                <a:latin typeface="Arial"/>
                <a:ea typeface="Arial"/>
                <a:cs typeface="Arial"/>
              </a:defRPr>
            </a:defPPr>
            <a:lvl1pPr>
              <a:defRPr sz="3150" b="1">
                <a:solidFill>
                  <a:srgbClr val="152D3A"/>
                </a:solidFill>
                <a:latin typeface="Arial"/>
                <a:ea typeface="Arial"/>
                <a:cs typeface="Arial"/>
              </a:defRPr>
            </a:lvl1pPr>
            <a:lvl2pPr>
              <a:defRPr sz="3150" b="1">
                <a:solidFill>
                  <a:srgbClr val="152D3A"/>
                </a:solidFill>
                <a:latin typeface="Arial"/>
                <a:ea typeface="Arial"/>
                <a:cs typeface="Arial"/>
              </a:defRPr>
            </a:lvl2pPr>
            <a:lvl3pPr>
              <a:defRPr sz="3150" b="1">
                <a:solidFill>
                  <a:srgbClr val="152D3A"/>
                </a:solidFill>
                <a:latin typeface="Arial"/>
                <a:ea typeface="Arial"/>
                <a:cs typeface="Arial"/>
              </a:defRPr>
            </a:lvl3pPr>
            <a:lvl4pPr>
              <a:defRPr sz="3150" b="1">
                <a:solidFill>
                  <a:srgbClr val="152D3A"/>
                </a:solidFill>
                <a:latin typeface="Arial"/>
                <a:ea typeface="Arial"/>
                <a:cs typeface="Arial"/>
              </a:defRPr>
            </a:lvl4pPr>
            <a:lvl5pPr>
              <a:defRPr sz="3150" b="1">
                <a:solidFill>
                  <a:srgbClr val="152D3A"/>
                </a:solidFill>
                <a:latin typeface="Arial"/>
                <a:ea typeface="Arial"/>
                <a:cs typeface="Arial"/>
              </a:defRPr>
            </a:lvl5pPr>
            <a:lvl6pPr>
              <a:defRPr sz="3150" b="1">
                <a:solidFill>
                  <a:srgbClr val="152D3A"/>
                </a:solidFill>
                <a:latin typeface="Arial"/>
                <a:ea typeface="Arial"/>
                <a:cs typeface="Arial"/>
              </a:defRPr>
            </a:lvl6pPr>
            <a:lvl7pPr>
              <a:defRPr sz="3150" b="1">
                <a:solidFill>
                  <a:srgbClr val="152D3A"/>
                </a:solidFill>
                <a:latin typeface="Arial"/>
                <a:ea typeface="Arial"/>
                <a:cs typeface="Arial"/>
              </a:defRPr>
            </a:lvl7pPr>
            <a:lvl8pPr>
              <a:defRPr sz="3150" b="1">
                <a:solidFill>
                  <a:srgbClr val="152D3A"/>
                </a:solidFill>
                <a:latin typeface="Arial"/>
                <a:ea typeface="Arial"/>
                <a:cs typeface="Arial"/>
              </a:defRPr>
            </a:lvl8pPr>
            <a:lvl9pPr>
              <a:defRPr sz="3150" b="1">
                <a:solidFill>
                  <a:srgbClr val="152D3A"/>
                </a:solidFill>
                <a:latin typeface="Arial"/>
                <a:ea typeface="Arial"/>
                <a:cs typeface="Arial"/>
              </a:defRPr>
            </a:lvl9pPr>
          </a:lstStyle>
          <a:p xmlns:a="http://schemas.openxmlformats.org/drawingml/2006/main">
            <a:pPr>
              <a:defRPr sz="3150" b="1">
                <a:solidFill>
                  <a:srgbClr val="152D3A"/>
                </a:solidFill>
                <a:latin typeface="Arial"/>
                <a:ea typeface="Arial"/>
                <a:cs typeface="Arial"/>
              </a:defRPr>
            </a:pPr>
            <a:r>
              <a:rPr sz="3150" b="1">
                <a:solidFill>
                  <a:srgbClr val="152D3A"/>
                </a:solidFill>
                <a:latin typeface="Arial"/>
                <a:ea typeface="Arial"/>
                <a:cs typeface="Arial"/>
              </a:rPr>
              <a:t>Training protocol and comparison models</a:t>
            </a:r>
          </a:p>
        </p:txBody>
      </p:sp>
      <p:sp>
        <p:nvSpPr>
          <p:cNvPr id="2" name="08">
            <a:extLst xmlns:a="http://schemas.openxmlformats.org/drawingml/2006/main">
              <a:ext uri="{FF2B5EF4-FFF2-40B4-BE49-F238E27FC236}">
                <a16:creationId xmlns:a16="http://schemas.microsoft.com/office/drawing/2014/main" id="{0A25029B-058D-413A-9381-6EAF19F9D5E5}"/>
              </a:ext>
            </a:extLst>
          </p:cNvPr>
          <p:cNvSpPr>
            <a:spLocks xmlns:a="http://schemas.openxmlformats.org/drawingml/2006/main" noGrp="1"/>
          </p:cNvSpPr>
          <p:nvPr/>
        </p:nvSpPr>
        <p:spPr>
          <a:xfrm xmlns:a="http://schemas.openxmlformats.org/drawingml/2006/main">
            <a:off x="11144250" y="63817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775"/>
                </a:solidFill>
                <a:latin typeface="Arial"/>
                <a:ea typeface="Arial"/>
                <a:cs typeface="Arial"/>
              </a:defRPr>
            </a:defPPr>
            <a:lvl1pPr>
              <a:defRPr sz="1200" b="0">
                <a:solidFill>
                  <a:srgbClr val="536775"/>
                </a:solidFill>
                <a:latin typeface="Arial"/>
                <a:ea typeface="Arial"/>
                <a:cs typeface="Arial"/>
              </a:defRPr>
            </a:lvl1pPr>
            <a:lvl2pPr>
              <a:defRPr sz="1200" b="0">
                <a:solidFill>
                  <a:srgbClr val="536775"/>
                </a:solidFill>
                <a:latin typeface="Arial"/>
                <a:ea typeface="Arial"/>
                <a:cs typeface="Arial"/>
              </a:defRPr>
            </a:lvl2pPr>
            <a:lvl3pPr>
              <a:defRPr sz="1200" b="0">
                <a:solidFill>
                  <a:srgbClr val="536775"/>
                </a:solidFill>
                <a:latin typeface="Arial"/>
                <a:ea typeface="Arial"/>
                <a:cs typeface="Arial"/>
              </a:defRPr>
            </a:lvl3pPr>
            <a:lvl4pPr>
              <a:defRPr sz="1200" b="0">
                <a:solidFill>
                  <a:srgbClr val="536775"/>
                </a:solidFill>
                <a:latin typeface="Arial"/>
                <a:ea typeface="Arial"/>
                <a:cs typeface="Arial"/>
              </a:defRPr>
            </a:lvl4pPr>
            <a:lvl5pPr>
              <a:defRPr sz="1200" b="0">
                <a:solidFill>
                  <a:srgbClr val="536775"/>
                </a:solidFill>
                <a:latin typeface="Arial"/>
                <a:ea typeface="Arial"/>
                <a:cs typeface="Arial"/>
              </a:defRPr>
            </a:lvl5pPr>
            <a:lvl6pPr>
              <a:defRPr sz="1200" b="0">
                <a:solidFill>
                  <a:srgbClr val="536775"/>
                </a:solidFill>
                <a:latin typeface="Arial"/>
                <a:ea typeface="Arial"/>
                <a:cs typeface="Arial"/>
              </a:defRPr>
            </a:lvl6pPr>
            <a:lvl7pPr>
              <a:defRPr sz="1200" b="0">
                <a:solidFill>
                  <a:srgbClr val="536775"/>
                </a:solidFill>
                <a:latin typeface="Arial"/>
                <a:ea typeface="Arial"/>
                <a:cs typeface="Arial"/>
              </a:defRPr>
            </a:lvl7pPr>
            <a:lvl8pPr>
              <a:defRPr sz="1200" b="0">
                <a:solidFill>
                  <a:srgbClr val="536775"/>
                </a:solidFill>
                <a:latin typeface="Arial"/>
                <a:ea typeface="Arial"/>
                <a:cs typeface="Arial"/>
              </a:defRPr>
            </a:lvl8pPr>
            <a:lvl9pPr>
              <a:defRPr sz="1200" b="0">
                <a:solidFill>
                  <a:srgbClr val="536775"/>
                </a:solidFill>
                <a:latin typeface="Arial"/>
                <a:ea typeface="Arial"/>
                <a:cs typeface="Arial"/>
              </a:defRPr>
            </a:lvl9pPr>
          </a:lstStyle>
          <a:p xmlns:a="http://schemas.openxmlformats.org/drawingml/2006/main">
            <a:pPr>
              <a:defRPr sz="1200" b="0">
                <a:solidFill>
                  <a:srgbClr val="536775"/>
                </a:solidFill>
                <a:latin typeface="Arial"/>
                <a:ea typeface="Arial"/>
                <a:cs typeface="Arial"/>
              </a:defRPr>
            </a:pPr>
            <a:r>
              <a:rPr sz="1200" b="0">
                <a:solidFill>
                  <a:srgbClr val="536775"/>
                </a:solidFill>
                <a:latin typeface="Arial"/>
                <a:ea typeface="Arial"/>
                <a:cs typeface="Arial"/>
              </a:rPr>
              <a:t>08</a:t>
            </a:r>
          </a:p>
        </p:txBody>
      </p:sp>
      <p:graphicFrame>
        <p:nvGraphicFramePr>
          <p:cNvPr id="3" name="">
            <a:extLst xmlns:a="http://schemas.openxmlformats.org/drawingml/2006/main">
              <a:ext uri="{FF2B5EF4-FFF2-40B4-BE49-F238E27FC236}">
                <a16:creationId xmlns:a16="http://schemas.microsoft.com/office/drawing/2014/main" id="{61144EFA-60FB-467F-B476-53E9C6D31965}"/>
              </a:ext>
            </a:extLst>
          </p:cNvPr>
          <p:cNvGraphicFramePr/>
          <p:nvPr/>
        </p:nvGraphicFramePr>
        <p:xfrm>
          <a:off xmlns:a="http://schemas.openxmlformats.org/drawingml/2006/main" x="609600" y="1409700"/>
          <a:ext xmlns:a="http://schemas.openxmlformats.org/drawingml/2006/main" cx="10972800" cy="3648075"/>
        </p:xfrm>
        <a:graphic xmlns:a="http://schemas.openxmlformats.org/drawingml/2006/main">
          <a:graphicData uri="http://schemas.openxmlformats.org/drawingml/2006/table">
            <a:tbl>
              <a:tblPr/>
              <a:tblGrid>
                <a:gridCol w="4762500"/>
                <a:gridCol w="6210300"/>
              </a:tblGrid>
              <a:tr h="521154">
                <a:tc>
                  <a:txBody>
                    <a:bodyPr/>
                    <a:lstStyle/>
                    <a:p>
                      <a:r>
                        <a:rPr sz="1950" b="1">
                          <a:solidFill>
                            <a:srgbClr val="FFFFFF"/>
                          </a:solidFill>
                          <a:latin typeface="Arial"/>
                          <a:ea typeface="Arial"/>
                          <a:cs typeface="Arial"/>
                        </a:rPr>
                        <a:t>Setting</a:t>
                      </a:r>
                    </a:p>
                  </a:txBody>
                  <a:tcPr marL="133350" marR="114300" marT="95250" marB="95250" anchor="ctr">
                    <a:lnL w="9525">
                      <a:solidFill>
                        <a:srgbClr val="D5DFE4"/>
                      </a:solidFill>
                      <a:prstDash val="solid"/>
                    </a:lnL>
                    <a:lnR w="9525">
                      <a:solidFill>
                        <a:srgbClr val="D5DFE4"/>
                      </a:solidFill>
                      <a:prstDash val="solid"/>
                    </a:lnR>
                    <a:lnT w="9525">
                      <a:solidFill>
                        <a:srgbClr val="D5DFE4"/>
                      </a:solidFill>
                      <a:prstDash val="solid"/>
                    </a:lnT>
                    <a:lnB w="9525">
                      <a:solidFill>
                        <a:srgbClr val="D5DFE4"/>
                      </a:solidFill>
                      <a:prstDash val="solid"/>
                    </a:lnB>
                    <a:solidFill>
                      <a:srgbClr val="152D3A"/>
                    </a:solidFill>
                  </a:tcPr>
                </a:tc>
                <a:tc>
                  <a:txBody>
                    <a:bodyPr/>
                    <a:lstStyle/>
                    <a:p>
                      <a:r>
                        <a:rPr sz="1950" b="1">
                          <a:solidFill>
                            <a:srgbClr val="FFFFFF"/>
                          </a:solidFill>
                          <a:latin typeface="Arial"/>
                          <a:ea typeface="Arial"/>
                          <a:cs typeface="Arial"/>
                        </a:rPr>
                        <a:t>Fixed value</a:t>
                      </a:r>
                    </a:p>
                  </a:txBody>
                  <a:tcPr marL="133350" marR="114300" marT="95250" marB="95250" anchor="ctr">
                    <a:lnR w="9525">
                      <a:solidFill>
                        <a:srgbClr val="D5DFE4"/>
                      </a:solidFill>
                      <a:prstDash val="solid"/>
                    </a:lnR>
                    <a:lnT w="9525">
                      <a:solidFill>
                        <a:srgbClr val="D5DFE4"/>
                      </a:solidFill>
                      <a:prstDash val="solid"/>
                    </a:lnT>
                    <a:lnB w="9525">
                      <a:solidFill>
                        <a:srgbClr val="D5DFE4"/>
                      </a:solidFill>
                      <a:prstDash val="solid"/>
                    </a:lnB>
                    <a:solidFill>
                      <a:srgbClr val="152D3A"/>
                    </a:solidFill>
                  </a:tcPr>
                </a:tc>
              </a:tr>
              <a:tr h="521154">
                <a:tc>
                  <a:txBody>
                    <a:bodyPr/>
                    <a:lstStyle/>
                    <a:p>
                      <a:r>
                        <a:rPr sz="1950" b="0">
                          <a:solidFill>
                            <a:srgbClr val="152D3A"/>
                          </a:solidFill>
                          <a:latin typeface="Arial"/>
                          <a:ea typeface="Arial"/>
                          <a:cs typeface="Arial"/>
                        </a:rPr>
                        <a:t>Optimizer / learning rate</a:t>
                      </a:r>
                    </a:p>
                  </a:txBody>
                  <a:tcPr marL="133350" marR="114300" marT="95250" marB="95250" anchor="ctr">
                    <a:lnL w="9525">
                      <a:solidFill>
                        <a:srgbClr val="D5DFE4"/>
                      </a:solidFill>
                      <a:prstDash val="solid"/>
                    </a:lnL>
                    <a:lnR w="9525">
                      <a:solidFill>
                        <a:srgbClr val="D5DFE4"/>
                      </a:solidFill>
                      <a:prstDash val="solid"/>
                    </a:lnR>
                    <a:lnB w="9525">
                      <a:solidFill>
                        <a:srgbClr val="D5DFE4"/>
                      </a:solidFill>
                      <a:prstDash val="solid"/>
                    </a:lnB>
                    <a:solidFill>
                      <a:srgbClr val="FFFFFF"/>
                    </a:solidFill>
                  </a:tcPr>
                </a:tc>
                <a:tc>
                  <a:txBody>
                    <a:bodyPr/>
                    <a:lstStyle/>
                    <a:p>
                      <a:r>
                        <a:rPr sz="1950" b="0">
                          <a:solidFill>
                            <a:srgbClr val="152D3A"/>
                          </a:solidFill>
                          <a:latin typeface="Arial"/>
                          <a:ea typeface="Arial"/>
                          <a:cs typeface="Arial"/>
                        </a:rPr>
                        <a:t>AdamW / 0.001</a:t>
                      </a:r>
                    </a:p>
                  </a:txBody>
                  <a:tcPr marL="133350" marR="114300" marT="95250" marB="95250" anchor="ctr">
                    <a:lnR w="9525">
                      <a:solidFill>
                        <a:srgbClr val="D5DFE4"/>
                      </a:solidFill>
                      <a:prstDash val="solid"/>
                    </a:lnR>
                    <a:lnB w="9525">
                      <a:solidFill>
                        <a:srgbClr val="D5DFE4"/>
                      </a:solidFill>
                      <a:prstDash val="solid"/>
                    </a:lnB>
                    <a:solidFill>
                      <a:srgbClr val="FFFFFF"/>
                    </a:solidFill>
                  </a:tcPr>
                </a:tc>
              </a:tr>
              <a:tr h="521154">
                <a:tc>
                  <a:txBody>
                    <a:bodyPr/>
                    <a:lstStyle/>
                    <a:p>
                      <a:r>
                        <a:rPr sz="1950" b="0">
                          <a:solidFill>
                            <a:srgbClr val="152D3A"/>
                          </a:solidFill>
                          <a:latin typeface="Arial"/>
                          <a:ea typeface="Arial"/>
                          <a:cs typeface="Arial"/>
                        </a:rPr>
                        <a:t>Weight decay / batch size</a:t>
                      </a:r>
                    </a:p>
                  </a:txBody>
                  <a:tcPr marL="133350" marR="114300" marT="95250" marB="95250" anchor="ctr">
                    <a:lnL w="9525">
                      <a:solidFill>
                        <a:srgbClr val="D5DFE4"/>
                      </a:solidFill>
                      <a:prstDash val="solid"/>
                    </a:lnL>
                    <a:lnR w="9525">
                      <a:solidFill>
                        <a:srgbClr val="D5DFE4"/>
                      </a:solidFill>
                      <a:prstDash val="solid"/>
                    </a:lnR>
                    <a:lnB w="9525">
                      <a:solidFill>
                        <a:srgbClr val="D5DFE4"/>
                      </a:solidFill>
                      <a:prstDash val="solid"/>
                    </a:lnB>
                    <a:solidFill>
                      <a:srgbClr val="EDF3F5"/>
                    </a:solidFill>
                  </a:tcPr>
                </a:tc>
                <a:tc>
                  <a:txBody>
                    <a:bodyPr/>
                    <a:lstStyle/>
                    <a:p>
                      <a:r>
                        <a:rPr sz="1950" b="0">
                          <a:solidFill>
                            <a:srgbClr val="152D3A"/>
                          </a:solidFill>
                          <a:latin typeface="Arial"/>
                          <a:ea typeface="Arial"/>
                          <a:cs typeface="Arial"/>
                        </a:rPr>
                        <a:t>0.0001 / 64</a:t>
                      </a:r>
                    </a:p>
                  </a:txBody>
                  <a:tcPr marL="133350" marR="114300" marT="95250" marB="95250" anchor="ctr">
                    <a:lnR w="9525">
                      <a:solidFill>
                        <a:srgbClr val="D5DFE4"/>
                      </a:solidFill>
                      <a:prstDash val="solid"/>
                    </a:lnR>
                    <a:lnB w="9525">
                      <a:solidFill>
                        <a:srgbClr val="D5DFE4"/>
                      </a:solidFill>
                      <a:prstDash val="solid"/>
                    </a:lnB>
                    <a:solidFill>
                      <a:srgbClr val="EDF3F5"/>
                    </a:solidFill>
                  </a:tcPr>
                </a:tc>
              </a:tr>
              <a:tr h="521154">
                <a:tc>
                  <a:txBody>
                    <a:bodyPr/>
                    <a:lstStyle/>
                    <a:p>
                      <a:r>
                        <a:rPr sz="1950" b="0">
                          <a:solidFill>
                            <a:srgbClr val="152D3A"/>
                          </a:solidFill>
                          <a:latin typeface="Arial"/>
                          <a:ea typeface="Arial"/>
                          <a:cs typeface="Arial"/>
                        </a:rPr>
                        <a:t>Maximum epochs / patience</a:t>
                      </a:r>
                    </a:p>
                  </a:txBody>
                  <a:tcPr marL="133350" marR="114300" marT="95250" marB="95250" anchor="ctr">
                    <a:lnL w="9525">
                      <a:solidFill>
                        <a:srgbClr val="D5DFE4"/>
                      </a:solidFill>
                      <a:prstDash val="solid"/>
                    </a:lnL>
                    <a:lnR w="9525">
                      <a:solidFill>
                        <a:srgbClr val="D5DFE4"/>
                      </a:solidFill>
                      <a:prstDash val="solid"/>
                    </a:lnR>
                    <a:lnB w="9525">
                      <a:solidFill>
                        <a:srgbClr val="D5DFE4"/>
                      </a:solidFill>
                      <a:prstDash val="solid"/>
                    </a:lnB>
                    <a:solidFill>
                      <a:srgbClr val="FFFFFF"/>
                    </a:solidFill>
                  </a:tcPr>
                </a:tc>
                <a:tc>
                  <a:txBody>
                    <a:bodyPr/>
                    <a:lstStyle/>
                    <a:p>
                      <a:r>
                        <a:rPr sz="1950" b="0">
                          <a:solidFill>
                            <a:srgbClr val="152D3A"/>
                          </a:solidFill>
                          <a:latin typeface="Arial"/>
                          <a:ea typeface="Arial"/>
                          <a:cs typeface="Arial"/>
                        </a:rPr>
                        <a:t>25 / 5 epochs</a:t>
                      </a:r>
                    </a:p>
                  </a:txBody>
                  <a:tcPr marL="133350" marR="114300" marT="95250" marB="95250" anchor="ctr">
                    <a:lnR w="9525">
                      <a:solidFill>
                        <a:srgbClr val="D5DFE4"/>
                      </a:solidFill>
                      <a:prstDash val="solid"/>
                    </a:lnR>
                    <a:lnB w="9525">
                      <a:solidFill>
                        <a:srgbClr val="D5DFE4"/>
                      </a:solidFill>
                      <a:prstDash val="solid"/>
                    </a:lnB>
                    <a:solidFill>
                      <a:srgbClr val="FFFFFF"/>
                    </a:solidFill>
                  </a:tcPr>
                </a:tc>
              </a:tr>
              <a:tr h="521154">
                <a:tc>
                  <a:txBody>
                    <a:bodyPr/>
                    <a:lstStyle/>
                    <a:p>
                      <a:r>
                        <a:rPr sz="1950" b="0">
                          <a:solidFill>
                            <a:srgbClr val="152D3A"/>
                          </a:solidFill>
                          <a:latin typeface="Arial"/>
                          <a:ea typeface="Arial"/>
                          <a:cs typeface="Arial"/>
                        </a:rPr>
                        <a:t>Checkpoint selection</a:t>
                      </a:r>
                    </a:p>
                  </a:txBody>
                  <a:tcPr marL="133350" marR="114300" marT="95250" marB="95250" anchor="ctr">
                    <a:lnL w="9525">
                      <a:solidFill>
                        <a:srgbClr val="D5DFE4"/>
                      </a:solidFill>
                      <a:prstDash val="solid"/>
                    </a:lnL>
                    <a:lnR w="9525">
                      <a:solidFill>
                        <a:srgbClr val="D5DFE4"/>
                      </a:solidFill>
                      <a:prstDash val="solid"/>
                    </a:lnR>
                    <a:lnB w="9525">
                      <a:solidFill>
                        <a:srgbClr val="D5DFE4"/>
                      </a:solidFill>
                      <a:prstDash val="solid"/>
                    </a:lnB>
                    <a:solidFill>
                      <a:srgbClr val="EDF3F5"/>
                    </a:solidFill>
                  </a:tcPr>
                </a:tc>
                <a:tc>
                  <a:txBody>
                    <a:bodyPr/>
                    <a:lstStyle/>
                    <a:p>
                      <a:r>
                        <a:rPr sz="1950" b="0">
                          <a:solidFill>
                            <a:srgbClr val="152D3A"/>
                          </a:solidFill>
                          <a:latin typeface="Arial"/>
                          <a:ea typeface="Arial"/>
                          <a:cs typeface="Arial"/>
                        </a:rPr>
                        <a:t>Highest validation macro AUROC</a:t>
                      </a:r>
                    </a:p>
                  </a:txBody>
                  <a:tcPr marL="133350" marR="114300" marT="95250" marB="95250" anchor="ctr">
                    <a:lnR w="9525">
                      <a:solidFill>
                        <a:srgbClr val="D5DFE4"/>
                      </a:solidFill>
                      <a:prstDash val="solid"/>
                    </a:lnR>
                    <a:lnB w="9525">
                      <a:solidFill>
                        <a:srgbClr val="D5DFE4"/>
                      </a:solidFill>
                      <a:prstDash val="solid"/>
                    </a:lnB>
                    <a:solidFill>
                      <a:srgbClr val="EDF3F5"/>
                    </a:solidFill>
                  </a:tcPr>
                </a:tc>
              </a:tr>
              <a:tr h="521154">
                <a:tc>
                  <a:txBody>
                    <a:bodyPr/>
                    <a:lstStyle/>
                    <a:p>
                      <a:r>
                        <a:rPr sz="1950" b="0">
                          <a:solidFill>
                            <a:srgbClr val="152D3A"/>
                          </a:solidFill>
                          <a:latin typeface="Arial"/>
                          <a:ea typeface="Arial"/>
                          <a:cs typeface="Arial"/>
                        </a:rPr>
                        <a:t>Seeds</a:t>
                      </a:r>
                    </a:p>
                  </a:txBody>
                  <a:tcPr marL="133350" marR="114300" marT="95250" marB="95250" anchor="ctr">
                    <a:lnL w="9525">
                      <a:solidFill>
                        <a:srgbClr val="D5DFE4"/>
                      </a:solidFill>
                      <a:prstDash val="solid"/>
                    </a:lnL>
                    <a:lnR w="9525">
                      <a:solidFill>
                        <a:srgbClr val="D5DFE4"/>
                      </a:solidFill>
                      <a:prstDash val="solid"/>
                    </a:lnR>
                    <a:lnB w="9525">
                      <a:solidFill>
                        <a:srgbClr val="D5DFE4"/>
                      </a:solidFill>
                      <a:prstDash val="solid"/>
                    </a:lnB>
                    <a:solidFill>
                      <a:srgbClr val="FFFFFF"/>
                    </a:solidFill>
                  </a:tcPr>
                </a:tc>
                <a:tc>
                  <a:txBody>
                    <a:bodyPr/>
                    <a:lstStyle/>
                    <a:p>
                      <a:r>
                        <a:rPr sz="1950" b="0">
                          <a:solidFill>
                            <a:srgbClr val="152D3A"/>
                          </a:solidFill>
                          <a:latin typeface="Arial"/>
                          <a:ea typeface="Arial"/>
                          <a:cs typeface="Arial"/>
                        </a:rPr>
                        <a:t>42, 123, 2026</a:t>
                      </a:r>
                    </a:p>
                  </a:txBody>
                  <a:tcPr marL="133350" marR="114300" marT="95250" marB="95250" anchor="ctr">
                    <a:lnR w="9525">
                      <a:solidFill>
                        <a:srgbClr val="D5DFE4"/>
                      </a:solidFill>
                      <a:prstDash val="solid"/>
                    </a:lnR>
                    <a:lnB w="9525">
                      <a:solidFill>
                        <a:srgbClr val="D5DFE4"/>
                      </a:solidFill>
                      <a:prstDash val="solid"/>
                    </a:lnB>
                    <a:solidFill>
                      <a:srgbClr val="FFFFFF"/>
                    </a:solidFill>
                  </a:tcPr>
                </a:tc>
              </a:tr>
              <a:tr h="521154">
                <a:tc>
                  <a:txBody>
                    <a:bodyPr/>
                    <a:lstStyle/>
                    <a:p>
                      <a:r>
                        <a:rPr sz="1950" b="0">
                          <a:solidFill>
                            <a:srgbClr val="152D3A"/>
                          </a:solidFill>
                          <a:latin typeface="Arial"/>
                          <a:ea typeface="Arial"/>
                          <a:cs typeface="Arial"/>
                        </a:rPr>
                        <a:t>Compute environment</a:t>
                      </a:r>
                    </a:p>
                  </a:txBody>
                  <a:tcPr marL="133350" marR="114300" marT="95250" marB="95250" anchor="ctr">
                    <a:lnL w="9525">
                      <a:solidFill>
                        <a:srgbClr val="D5DFE4"/>
                      </a:solidFill>
                      <a:prstDash val="solid"/>
                    </a:lnL>
                    <a:lnR w="9525">
                      <a:solidFill>
                        <a:srgbClr val="D5DFE4"/>
                      </a:solidFill>
                      <a:prstDash val="solid"/>
                    </a:lnR>
                    <a:lnB w="9525">
                      <a:solidFill>
                        <a:srgbClr val="D5DFE4"/>
                      </a:solidFill>
                      <a:prstDash val="solid"/>
                    </a:lnB>
                    <a:solidFill>
                      <a:srgbClr val="EDF3F5"/>
                    </a:solidFill>
                  </a:tcPr>
                </a:tc>
                <a:tc>
                  <a:txBody>
                    <a:bodyPr/>
                    <a:lstStyle/>
                    <a:p>
                      <a:r>
                        <a:rPr sz="1950" b="0">
                          <a:solidFill>
                            <a:srgbClr val="152D3A"/>
                          </a:solidFill>
                          <a:latin typeface="Arial"/>
                          <a:ea typeface="Arial"/>
                          <a:cs typeface="Arial"/>
                        </a:rPr>
                        <a:t>Intel Core Ultra 5 245K, 32 GB RAM</a:t>
                      </a:r>
                    </a:p>
                  </a:txBody>
                  <a:tcPr marL="133350" marR="114300" marT="95250" marB="95250" anchor="ctr">
                    <a:lnR w="9525">
                      <a:solidFill>
                        <a:srgbClr val="D5DFE4"/>
                      </a:solidFill>
                      <a:prstDash val="solid"/>
                    </a:lnR>
                    <a:lnB w="9525">
                      <a:solidFill>
                        <a:srgbClr val="D5DFE4"/>
                      </a:solidFill>
                      <a:prstDash val="solid"/>
                    </a:lnB>
                    <a:solidFill>
                      <a:srgbClr val="EDF3F5"/>
                    </a:solidFill>
                  </a:tcPr>
                </a:tc>
              </a:tr>
            </a:tbl>
          </a:graphicData>
        </a:graphic>
      </p:graphicFrame>
      <p:sp>
        <p:nvSpPr>
          <p:cNvPr id="4" name="12 neural runs and one logistic feature basel">
            <a:extLst xmlns:a="http://schemas.openxmlformats.org/drawingml/2006/main">
              <a:ext uri="{FF2B5EF4-FFF2-40B4-BE49-F238E27FC236}">
                <a16:creationId xmlns:a16="http://schemas.microsoft.com/office/drawing/2014/main" id="{CBADAA65-7D9B-4518-8334-06B6E2DBAA75}"/>
              </a:ext>
            </a:extLst>
          </p:cNvPr>
          <p:cNvSpPr>
            <a:spLocks xmlns:a="http://schemas.openxmlformats.org/drawingml/2006/main" noGrp="1"/>
          </p:cNvSpPr>
          <p:nvPr/>
        </p:nvSpPr>
        <p:spPr>
          <a:xfrm xmlns:a="http://schemas.openxmlformats.org/drawingml/2006/main">
            <a:off x="609600" y="53625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87E8B"/>
                </a:solidFill>
                <a:latin typeface="Arial"/>
                <a:ea typeface="Arial"/>
                <a:cs typeface="Arial"/>
              </a:defRPr>
            </a:defPPr>
            <a:lvl1pPr>
              <a:defRPr sz="2250" b="1">
                <a:solidFill>
                  <a:srgbClr val="087E8B"/>
                </a:solidFill>
                <a:latin typeface="Arial"/>
                <a:ea typeface="Arial"/>
                <a:cs typeface="Arial"/>
              </a:defRPr>
            </a:lvl1pPr>
            <a:lvl2pPr>
              <a:defRPr sz="2250" b="1">
                <a:solidFill>
                  <a:srgbClr val="087E8B"/>
                </a:solidFill>
                <a:latin typeface="Arial"/>
                <a:ea typeface="Arial"/>
                <a:cs typeface="Arial"/>
              </a:defRPr>
            </a:lvl2pPr>
            <a:lvl3pPr>
              <a:defRPr sz="2250" b="1">
                <a:solidFill>
                  <a:srgbClr val="087E8B"/>
                </a:solidFill>
                <a:latin typeface="Arial"/>
                <a:ea typeface="Arial"/>
                <a:cs typeface="Arial"/>
              </a:defRPr>
            </a:lvl3pPr>
            <a:lvl4pPr>
              <a:defRPr sz="2250" b="1">
                <a:solidFill>
                  <a:srgbClr val="087E8B"/>
                </a:solidFill>
                <a:latin typeface="Arial"/>
                <a:ea typeface="Arial"/>
                <a:cs typeface="Arial"/>
              </a:defRPr>
            </a:lvl4pPr>
            <a:lvl5pPr>
              <a:defRPr sz="2250" b="1">
                <a:solidFill>
                  <a:srgbClr val="087E8B"/>
                </a:solidFill>
                <a:latin typeface="Arial"/>
                <a:ea typeface="Arial"/>
                <a:cs typeface="Arial"/>
              </a:defRPr>
            </a:lvl5pPr>
            <a:lvl6pPr>
              <a:defRPr sz="2250" b="1">
                <a:solidFill>
                  <a:srgbClr val="087E8B"/>
                </a:solidFill>
                <a:latin typeface="Arial"/>
                <a:ea typeface="Arial"/>
                <a:cs typeface="Arial"/>
              </a:defRPr>
            </a:lvl6pPr>
            <a:lvl7pPr>
              <a:defRPr sz="2250" b="1">
                <a:solidFill>
                  <a:srgbClr val="087E8B"/>
                </a:solidFill>
                <a:latin typeface="Arial"/>
                <a:ea typeface="Arial"/>
                <a:cs typeface="Arial"/>
              </a:defRPr>
            </a:lvl7pPr>
            <a:lvl8pPr>
              <a:defRPr sz="2250" b="1">
                <a:solidFill>
                  <a:srgbClr val="087E8B"/>
                </a:solidFill>
                <a:latin typeface="Arial"/>
                <a:ea typeface="Arial"/>
                <a:cs typeface="Arial"/>
              </a:defRPr>
            </a:lvl8pPr>
            <a:lvl9pPr>
              <a:defRPr sz="2250" b="1">
                <a:solidFill>
                  <a:srgbClr val="087E8B"/>
                </a:solidFill>
                <a:latin typeface="Arial"/>
                <a:ea typeface="Arial"/>
                <a:cs typeface="Arial"/>
              </a:defRPr>
            </a:lvl9pPr>
          </a:lstStyle>
          <a:p xmlns:a="http://schemas.openxmlformats.org/drawingml/2006/main">
            <a:pPr>
              <a:defRPr sz="2250" b="1">
                <a:solidFill>
                  <a:srgbClr val="087E8B"/>
                </a:solidFill>
                <a:latin typeface="Arial"/>
                <a:ea typeface="Arial"/>
                <a:cs typeface="Arial"/>
              </a:defRPr>
            </a:pPr>
            <a:r>
              <a:rPr sz="2250" b="1">
                <a:solidFill>
                  <a:srgbClr val="087E8B"/>
                </a:solidFill>
                <a:latin typeface="Arial"/>
                <a:ea typeface="Arial"/>
                <a:cs typeface="Arial"/>
              </a:rPr>
              <a:t>12 neural runs and one logistic feature baseline</a:t>
            </a:r>
          </a:p>
        </p:txBody>
      </p:sp>
      <p:sp>
        <p:nvSpPr>
          <p:cNvPr id="5" name="Windows, Python 3.12.14, PyTorch 2.14.1+cpu. ">
            <a:extLst xmlns:a="http://schemas.openxmlformats.org/drawingml/2006/main">
              <a:ext uri="{FF2B5EF4-FFF2-40B4-BE49-F238E27FC236}">
                <a16:creationId xmlns:a16="http://schemas.microsoft.com/office/drawing/2014/main" id="{9200932D-517A-490D-8A09-7B1FB0D9521D}"/>
              </a:ext>
            </a:extLst>
          </p:cNvPr>
          <p:cNvSpPr>
            <a:spLocks xmlns:a="http://schemas.openxmlformats.org/drawingml/2006/main" noGrp="1"/>
          </p:cNvSpPr>
          <p:nvPr/>
        </p:nvSpPr>
        <p:spPr>
          <a:xfrm xmlns:a="http://schemas.openxmlformats.org/drawingml/2006/main">
            <a:off x="609600" y="59912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775"/>
                </a:solidFill>
                <a:latin typeface="Arial"/>
                <a:ea typeface="Arial"/>
                <a:cs typeface="Arial"/>
              </a:defRPr>
            </a:defPPr>
            <a:lvl1pPr>
              <a:defRPr sz="1275" b="0">
                <a:solidFill>
                  <a:srgbClr val="536775"/>
                </a:solidFill>
                <a:latin typeface="Arial"/>
                <a:ea typeface="Arial"/>
                <a:cs typeface="Arial"/>
              </a:defRPr>
            </a:lvl1pPr>
            <a:lvl2pPr>
              <a:defRPr sz="1275" b="0">
                <a:solidFill>
                  <a:srgbClr val="536775"/>
                </a:solidFill>
                <a:latin typeface="Arial"/>
                <a:ea typeface="Arial"/>
                <a:cs typeface="Arial"/>
              </a:defRPr>
            </a:lvl2pPr>
            <a:lvl3pPr>
              <a:defRPr sz="1275" b="0">
                <a:solidFill>
                  <a:srgbClr val="536775"/>
                </a:solidFill>
                <a:latin typeface="Arial"/>
                <a:ea typeface="Arial"/>
                <a:cs typeface="Arial"/>
              </a:defRPr>
            </a:lvl3pPr>
            <a:lvl4pPr>
              <a:defRPr sz="1275" b="0">
                <a:solidFill>
                  <a:srgbClr val="536775"/>
                </a:solidFill>
                <a:latin typeface="Arial"/>
                <a:ea typeface="Arial"/>
                <a:cs typeface="Arial"/>
              </a:defRPr>
            </a:lvl4pPr>
            <a:lvl5pPr>
              <a:defRPr sz="1275" b="0">
                <a:solidFill>
                  <a:srgbClr val="536775"/>
                </a:solidFill>
                <a:latin typeface="Arial"/>
                <a:ea typeface="Arial"/>
                <a:cs typeface="Arial"/>
              </a:defRPr>
            </a:lvl5pPr>
            <a:lvl6pPr>
              <a:defRPr sz="1275" b="0">
                <a:solidFill>
                  <a:srgbClr val="536775"/>
                </a:solidFill>
                <a:latin typeface="Arial"/>
                <a:ea typeface="Arial"/>
                <a:cs typeface="Arial"/>
              </a:defRPr>
            </a:lvl6pPr>
            <a:lvl7pPr>
              <a:defRPr sz="1275" b="0">
                <a:solidFill>
                  <a:srgbClr val="536775"/>
                </a:solidFill>
                <a:latin typeface="Arial"/>
                <a:ea typeface="Arial"/>
                <a:cs typeface="Arial"/>
              </a:defRPr>
            </a:lvl7pPr>
            <a:lvl8pPr>
              <a:defRPr sz="1275" b="0">
                <a:solidFill>
                  <a:srgbClr val="536775"/>
                </a:solidFill>
                <a:latin typeface="Arial"/>
                <a:ea typeface="Arial"/>
                <a:cs typeface="Arial"/>
              </a:defRPr>
            </a:lvl8pPr>
            <a:lvl9pPr>
              <a:defRPr sz="1275" b="0">
                <a:solidFill>
                  <a:srgbClr val="536775"/>
                </a:solidFill>
                <a:latin typeface="Arial"/>
                <a:ea typeface="Arial"/>
                <a:cs typeface="Arial"/>
              </a:defRPr>
            </a:lvl9pPr>
          </a:lstStyle>
          <a:p xmlns:a="http://schemas.openxmlformats.org/drawingml/2006/main">
            <a:pPr>
              <a:defRPr sz="1275" b="0">
                <a:solidFill>
                  <a:srgbClr val="536775"/>
                </a:solidFill>
                <a:latin typeface="Arial"/>
                <a:ea typeface="Arial"/>
                <a:cs typeface="Arial"/>
              </a:defRPr>
            </a:pPr>
            <a:r>
              <a:rPr sz="1275" b="0">
                <a:solidFill>
                  <a:srgbClr val="536775"/>
                </a:solidFill>
                <a:latin typeface="Arial"/>
                <a:ea typeface="Arial"/>
                <a:cs typeface="Arial"/>
              </a:rPr>
              <a:t>Windows, Python 3.12.14, PyTorch 2.14.1+cpu. Neural hyperparameters remain fixed across comparisons.</a:t>
            </a:r>
          </a:p>
        </p:txBody>
      </p:sp>
    </p:spTree>
    <p:extLst>
      <p:ext uri="{BB962C8B-B14F-4D97-AF65-F5344CB8AC3E}">
        <p14:creationId xmlns:p14="http://schemas.microsoft.com/office/powerpoint/2010/main" val="1085472378"/>
      </p:ext>
    </p:extLst>
  </p:cSld>
</p:sld>
</file>

<file path=ppt/slides/slide9.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6" name="Measured performance on held-out patients">
            <a:extLst xmlns:a="http://schemas.openxmlformats.org/drawingml/2006/main">
              <a:ext uri="{FF2B5EF4-FFF2-40B4-BE49-F238E27FC236}">
                <a16:creationId xmlns:a16="http://schemas.microsoft.com/office/drawing/2014/main" id="{5CEEBF46-B656-4F2C-AABE-82B92757E60B}"/>
              </a:ext>
            </a:extLst>
          </p:cNvPr>
          <p:cNvSpPr>
            <a:spLocks xmlns:a="http://schemas.openxmlformats.org/drawingml/2006/main" noGrp="1"/>
          </p:cNvSpPr>
          <p:nvPr/>
        </p:nvSpPr>
        <p:spPr>
          <a:xfrm xmlns:a="http://schemas.openxmlformats.org/drawingml/2006/main">
            <a:off x="609600" y="40005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D3A"/>
                </a:solidFill>
                <a:latin typeface="Arial"/>
                <a:ea typeface="Arial"/>
                <a:cs typeface="Arial"/>
              </a:defRPr>
            </a:defPPr>
            <a:lvl1pPr>
              <a:defRPr sz="3150" b="1">
                <a:solidFill>
                  <a:srgbClr val="152D3A"/>
                </a:solidFill>
                <a:latin typeface="Arial"/>
                <a:ea typeface="Arial"/>
                <a:cs typeface="Arial"/>
              </a:defRPr>
            </a:lvl1pPr>
            <a:lvl2pPr>
              <a:defRPr sz="3150" b="1">
                <a:solidFill>
                  <a:srgbClr val="152D3A"/>
                </a:solidFill>
                <a:latin typeface="Arial"/>
                <a:ea typeface="Arial"/>
                <a:cs typeface="Arial"/>
              </a:defRPr>
            </a:lvl2pPr>
            <a:lvl3pPr>
              <a:defRPr sz="3150" b="1">
                <a:solidFill>
                  <a:srgbClr val="152D3A"/>
                </a:solidFill>
                <a:latin typeface="Arial"/>
                <a:ea typeface="Arial"/>
                <a:cs typeface="Arial"/>
              </a:defRPr>
            </a:lvl3pPr>
            <a:lvl4pPr>
              <a:defRPr sz="3150" b="1">
                <a:solidFill>
                  <a:srgbClr val="152D3A"/>
                </a:solidFill>
                <a:latin typeface="Arial"/>
                <a:ea typeface="Arial"/>
                <a:cs typeface="Arial"/>
              </a:defRPr>
            </a:lvl4pPr>
            <a:lvl5pPr>
              <a:defRPr sz="3150" b="1">
                <a:solidFill>
                  <a:srgbClr val="152D3A"/>
                </a:solidFill>
                <a:latin typeface="Arial"/>
                <a:ea typeface="Arial"/>
                <a:cs typeface="Arial"/>
              </a:defRPr>
            </a:lvl5pPr>
            <a:lvl6pPr>
              <a:defRPr sz="3150" b="1">
                <a:solidFill>
                  <a:srgbClr val="152D3A"/>
                </a:solidFill>
                <a:latin typeface="Arial"/>
                <a:ea typeface="Arial"/>
                <a:cs typeface="Arial"/>
              </a:defRPr>
            </a:lvl6pPr>
            <a:lvl7pPr>
              <a:defRPr sz="3150" b="1">
                <a:solidFill>
                  <a:srgbClr val="152D3A"/>
                </a:solidFill>
                <a:latin typeface="Arial"/>
                <a:ea typeface="Arial"/>
                <a:cs typeface="Arial"/>
              </a:defRPr>
            </a:lvl7pPr>
            <a:lvl8pPr>
              <a:defRPr sz="3150" b="1">
                <a:solidFill>
                  <a:srgbClr val="152D3A"/>
                </a:solidFill>
                <a:latin typeface="Arial"/>
                <a:ea typeface="Arial"/>
                <a:cs typeface="Arial"/>
              </a:defRPr>
            </a:lvl8pPr>
            <a:lvl9pPr>
              <a:defRPr sz="3150" b="1">
                <a:solidFill>
                  <a:srgbClr val="152D3A"/>
                </a:solidFill>
                <a:latin typeface="Arial"/>
                <a:ea typeface="Arial"/>
                <a:cs typeface="Arial"/>
              </a:defRPr>
            </a:lvl9pPr>
          </a:lstStyle>
          <a:p xmlns:a="http://schemas.openxmlformats.org/drawingml/2006/main">
            <a:pPr>
              <a:defRPr sz="3150" b="1">
                <a:solidFill>
                  <a:srgbClr val="152D3A"/>
                </a:solidFill>
                <a:latin typeface="Arial"/>
                <a:ea typeface="Arial"/>
                <a:cs typeface="Arial"/>
              </a:defRPr>
            </a:pPr>
            <a:r>
              <a:rPr sz="3150" b="1">
                <a:solidFill>
                  <a:srgbClr val="152D3A"/>
                </a:solidFill>
                <a:latin typeface="Arial"/>
                <a:ea typeface="Arial"/>
                <a:cs typeface="Arial"/>
              </a:rPr>
              <a:t>Measured performance on held-out patients</a:t>
            </a:r>
          </a:p>
        </p:txBody>
      </p:sp>
      <p:sp>
        <p:nvSpPr>
          <p:cNvPr id="2" name="09">
            <a:extLst xmlns:a="http://schemas.openxmlformats.org/drawingml/2006/main">
              <a:ext uri="{FF2B5EF4-FFF2-40B4-BE49-F238E27FC236}">
                <a16:creationId xmlns:a16="http://schemas.microsoft.com/office/drawing/2014/main" id="{4F0712FD-A7D7-4442-9A43-6FEA912CB1B3}"/>
              </a:ext>
            </a:extLst>
          </p:cNvPr>
          <p:cNvSpPr>
            <a:spLocks xmlns:a="http://schemas.openxmlformats.org/drawingml/2006/main" noGrp="1"/>
          </p:cNvSpPr>
          <p:nvPr/>
        </p:nvSpPr>
        <p:spPr>
          <a:xfrm xmlns:a="http://schemas.openxmlformats.org/drawingml/2006/main">
            <a:off x="11144250" y="63817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775"/>
                </a:solidFill>
                <a:latin typeface="Arial"/>
                <a:ea typeface="Arial"/>
                <a:cs typeface="Arial"/>
              </a:defRPr>
            </a:defPPr>
            <a:lvl1pPr>
              <a:defRPr sz="1200" b="0">
                <a:solidFill>
                  <a:srgbClr val="536775"/>
                </a:solidFill>
                <a:latin typeface="Arial"/>
                <a:ea typeface="Arial"/>
                <a:cs typeface="Arial"/>
              </a:defRPr>
            </a:lvl1pPr>
            <a:lvl2pPr>
              <a:defRPr sz="1200" b="0">
                <a:solidFill>
                  <a:srgbClr val="536775"/>
                </a:solidFill>
                <a:latin typeface="Arial"/>
                <a:ea typeface="Arial"/>
                <a:cs typeface="Arial"/>
              </a:defRPr>
            </a:lvl2pPr>
            <a:lvl3pPr>
              <a:defRPr sz="1200" b="0">
                <a:solidFill>
                  <a:srgbClr val="536775"/>
                </a:solidFill>
                <a:latin typeface="Arial"/>
                <a:ea typeface="Arial"/>
                <a:cs typeface="Arial"/>
              </a:defRPr>
            </a:lvl3pPr>
            <a:lvl4pPr>
              <a:defRPr sz="1200" b="0">
                <a:solidFill>
                  <a:srgbClr val="536775"/>
                </a:solidFill>
                <a:latin typeface="Arial"/>
                <a:ea typeface="Arial"/>
                <a:cs typeface="Arial"/>
              </a:defRPr>
            </a:lvl4pPr>
            <a:lvl5pPr>
              <a:defRPr sz="1200" b="0">
                <a:solidFill>
                  <a:srgbClr val="536775"/>
                </a:solidFill>
                <a:latin typeface="Arial"/>
                <a:ea typeface="Arial"/>
                <a:cs typeface="Arial"/>
              </a:defRPr>
            </a:lvl5pPr>
            <a:lvl6pPr>
              <a:defRPr sz="1200" b="0">
                <a:solidFill>
                  <a:srgbClr val="536775"/>
                </a:solidFill>
                <a:latin typeface="Arial"/>
                <a:ea typeface="Arial"/>
                <a:cs typeface="Arial"/>
              </a:defRPr>
            </a:lvl6pPr>
            <a:lvl7pPr>
              <a:defRPr sz="1200" b="0">
                <a:solidFill>
                  <a:srgbClr val="536775"/>
                </a:solidFill>
                <a:latin typeface="Arial"/>
                <a:ea typeface="Arial"/>
                <a:cs typeface="Arial"/>
              </a:defRPr>
            </a:lvl7pPr>
            <a:lvl8pPr>
              <a:defRPr sz="1200" b="0">
                <a:solidFill>
                  <a:srgbClr val="536775"/>
                </a:solidFill>
                <a:latin typeface="Arial"/>
                <a:ea typeface="Arial"/>
                <a:cs typeface="Arial"/>
              </a:defRPr>
            </a:lvl8pPr>
            <a:lvl9pPr>
              <a:defRPr sz="1200" b="0">
                <a:solidFill>
                  <a:srgbClr val="536775"/>
                </a:solidFill>
                <a:latin typeface="Arial"/>
                <a:ea typeface="Arial"/>
                <a:cs typeface="Arial"/>
              </a:defRPr>
            </a:lvl9pPr>
          </a:lstStyle>
          <a:p xmlns:a="http://schemas.openxmlformats.org/drawingml/2006/main">
            <a:pPr>
              <a:defRPr sz="1200" b="0">
                <a:solidFill>
                  <a:srgbClr val="536775"/>
                </a:solidFill>
                <a:latin typeface="Arial"/>
                <a:ea typeface="Arial"/>
                <a:cs typeface="Arial"/>
              </a:defRPr>
            </a:pPr>
            <a:r>
              <a:rPr sz="1200" b="0">
                <a:solidFill>
                  <a:srgbClr val="536775"/>
                </a:solidFill>
                <a:latin typeface="Arial"/>
                <a:ea typeface="Arial"/>
                <a:cs typeface="Arial"/>
              </a:rPr>
              <a:t>09</a:t>
            </a:r>
          </a:p>
        </p:txBody>
      </p:sp>
      <p:graphicFrame>
        <p:nvGraphicFramePr>
          <p:cNvPr id="3" name="">
            <a:extLst xmlns:a="http://schemas.openxmlformats.org/drawingml/2006/main">
              <a:ext uri="{FF2B5EF4-FFF2-40B4-BE49-F238E27FC236}">
                <a16:creationId xmlns:a16="http://schemas.microsoft.com/office/drawing/2014/main" id="{369C6DA6-7654-426D-96EE-0DB765B16DED}"/>
              </a:ext>
            </a:extLst>
          </p:cNvPr>
          <p:cNvGraphicFramePr/>
          <p:nvPr/>
        </p:nvGraphicFramePr>
        <p:xfrm>
          <a:off xmlns:a="http://schemas.openxmlformats.org/drawingml/2006/main" x="609600" y="1476375"/>
          <a:ext xmlns:a="http://schemas.openxmlformats.org/drawingml/2006/main" cx="10972800" cy="3324225"/>
        </p:xfrm>
        <a:graphic xmlns:a="http://schemas.openxmlformats.org/drawingml/2006/main">
          <a:graphicData uri="http://schemas.openxmlformats.org/drawingml/2006/table">
            <a:tbl>
              <a:tblPr/>
              <a:tblGrid>
                <a:gridCol w="3571875"/>
                <a:gridCol w="2466975"/>
                <a:gridCol w="2466975"/>
                <a:gridCol w="2466975"/>
              </a:tblGrid>
              <a:tr h="554038">
                <a:tc>
                  <a:txBody>
                    <a:bodyPr/>
                    <a:lstStyle/>
                    <a:p>
                      <a:r>
                        <a:rPr sz="1800" b="1">
                          <a:solidFill>
                            <a:srgbClr val="FFFFFF"/>
                          </a:solidFill>
                          <a:latin typeface="Arial"/>
                          <a:ea typeface="Arial"/>
                          <a:cs typeface="Arial"/>
                        </a:rPr>
                        <a:t>Model</a:t>
                      </a:r>
                    </a:p>
                  </a:txBody>
                  <a:tcPr marL="133350" marR="114300" marT="95250" marB="95250" anchor="ctr">
                    <a:lnL w="9525">
                      <a:solidFill>
                        <a:srgbClr val="D5DFE4"/>
                      </a:solidFill>
                      <a:prstDash val="solid"/>
                    </a:lnL>
                    <a:lnR w="9525">
                      <a:solidFill>
                        <a:srgbClr val="D5DFE4"/>
                      </a:solidFill>
                      <a:prstDash val="solid"/>
                    </a:lnR>
                    <a:lnT w="9525">
                      <a:solidFill>
                        <a:srgbClr val="D5DFE4"/>
                      </a:solidFill>
                      <a:prstDash val="solid"/>
                    </a:lnT>
                    <a:lnB w="9525">
                      <a:solidFill>
                        <a:srgbClr val="D5DFE4"/>
                      </a:solidFill>
                      <a:prstDash val="solid"/>
                    </a:lnB>
                    <a:solidFill>
                      <a:srgbClr val="152D3A"/>
                    </a:solidFill>
                  </a:tcPr>
                </a:tc>
                <a:tc>
                  <a:txBody>
                    <a:bodyPr/>
                    <a:lstStyle/>
                    <a:p>
                      <a:r>
                        <a:rPr sz="1800" b="1">
                          <a:solidFill>
                            <a:srgbClr val="FFFFFF"/>
                          </a:solidFill>
                          <a:latin typeface="Arial"/>
                          <a:ea typeface="Arial"/>
                          <a:cs typeface="Arial"/>
                        </a:rPr>
                        <a:t>Macro AUROC</a:t>
                      </a:r>
                    </a:p>
                  </a:txBody>
                  <a:tcPr marL="133350" marR="114300" marT="95250" marB="95250" anchor="ctr">
                    <a:lnR w="9525">
                      <a:solidFill>
                        <a:srgbClr val="D5DFE4"/>
                      </a:solidFill>
                      <a:prstDash val="solid"/>
                    </a:lnR>
                    <a:lnT w="9525">
                      <a:solidFill>
                        <a:srgbClr val="D5DFE4"/>
                      </a:solidFill>
                      <a:prstDash val="solid"/>
                    </a:lnT>
                    <a:lnB w="9525">
                      <a:solidFill>
                        <a:srgbClr val="D5DFE4"/>
                      </a:solidFill>
                      <a:prstDash val="solid"/>
                    </a:lnB>
                    <a:solidFill>
                      <a:srgbClr val="152D3A"/>
                    </a:solidFill>
                  </a:tcPr>
                </a:tc>
                <a:tc>
                  <a:txBody>
                    <a:bodyPr/>
                    <a:lstStyle/>
                    <a:p>
                      <a:r>
                        <a:rPr sz="1800" b="1">
                          <a:solidFill>
                            <a:srgbClr val="FFFFFF"/>
                          </a:solidFill>
                          <a:latin typeface="Arial"/>
                          <a:ea typeface="Arial"/>
                          <a:cs typeface="Arial"/>
                        </a:rPr>
                        <a:t>Macro AP</a:t>
                      </a:r>
                    </a:p>
                  </a:txBody>
                  <a:tcPr marL="133350" marR="114300" marT="95250" marB="95250" anchor="ctr">
                    <a:lnR w="9525">
                      <a:solidFill>
                        <a:srgbClr val="D5DFE4"/>
                      </a:solidFill>
                      <a:prstDash val="solid"/>
                    </a:lnR>
                    <a:lnT w="9525">
                      <a:solidFill>
                        <a:srgbClr val="D5DFE4"/>
                      </a:solidFill>
                      <a:prstDash val="solid"/>
                    </a:lnT>
                    <a:lnB w="9525">
                      <a:solidFill>
                        <a:srgbClr val="D5DFE4"/>
                      </a:solidFill>
                      <a:prstDash val="solid"/>
                    </a:lnB>
                    <a:solidFill>
                      <a:srgbClr val="152D3A"/>
                    </a:solidFill>
                  </a:tcPr>
                </a:tc>
                <a:tc>
                  <a:txBody>
                    <a:bodyPr/>
                    <a:lstStyle/>
                    <a:p>
                      <a:r>
                        <a:rPr sz="1800" b="1">
                          <a:solidFill>
                            <a:srgbClr val="FFFFFF"/>
                          </a:solidFill>
                          <a:latin typeface="Arial"/>
                          <a:ea typeface="Arial"/>
                          <a:cs typeface="Arial"/>
                        </a:rPr>
                        <a:t>Macro F1</a:t>
                      </a:r>
                    </a:p>
                  </a:txBody>
                  <a:tcPr marL="133350" marR="114300" marT="95250" marB="95250" anchor="ctr">
                    <a:lnR w="9525">
                      <a:solidFill>
                        <a:srgbClr val="D5DFE4"/>
                      </a:solidFill>
                      <a:prstDash val="solid"/>
                    </a:lnR>
                    <a:lnT w="9525">
                      <a:solidFill>
                        <a:srgbClr val="D5DFE4"/>
                      </a:solidFill>
                      <a:prstDash val="solid"/>
                    </a:lnT>
                    <a:lnB w="9525">
                      <a:solidFill>
                        <a:srgbClr val="D5DFE4"/>
                      </a:solidFill>
                      <a:prstDash val="solid"/>
                    </a:lnB>
                    <a:solidFill>
                      <a:srgbClr val="152D3A"/>
                    </a:solidFill>
                  </a:tcPr>
                </a:tc>
              </a:tr>
              <a:tr h="554038">
                <a:tc>
                  <a:txBody>
                    <a:bodyPr/>
                    <a:lstStyle/>
                    <a:p>
                      <a:r>
                        <a:rPr sz="1800" b="0">
                          <a:solidFill>
                            <a:srgbClr val="152D3A"/>
                          </a:solidFill>
                          <a:latin typeface="Arial"/>
                          <a:ea typeface="Arial"/>
                          <a:cs typeface="Arial"/>
                        </a:rPr>
                        <a:t>Compact CNN, weighted</a:t>
                      </a:r>
                    </a:p>
                  </a:txBody>
                  <a:tcPr marL="133350" marR="114300" marT="95250" marB="95250" anchor="ctr">
                    <a:lnL w="9525">
                      <a:solidFill>
                        <a:srgbClr val="D5DFE4"/>
                      </a:solidFill>
                      <a:prstDash val="solid"/>
                    </a:lnL>
                    <a:lnR w="9525">
                      <a:solidFill>
                        <a:srgbClr val="D5DFE4"/>
                      </a:solidFill>
                      <a:prstDash val="solid"/>
                    </a:lnR>
                    <a:lnB w="9525">
                      <a:solidFill>
                        <a:srgbClr val="D5DFE4"/>
                      </a:solidFill>
                      <a:prstDash val="solid"/>
                    </a:lnB>
                    <a:solidFill>
                      <a:srgbClr val="FFFFFF"/>
                    </a:solidFill>
                  </a:tcPr>
                </a:tc>
                <a:tc>
                  <a:txBody>
                    <a:bodyPr/>
                    <a:lstStyle/>
                    <a:p>
                      <a:r>
                        <a:rPr sz="1800" b="0">
                          <a:solidFill>
                            <a:srgbClr val="152D3A"/>
                          </a:solidFill>
                          <a:latin typeface="Arial"/>
                          <a:ea typeface="Arial"/>
                          <a:cs typeface="Arial"/>
                        </a:rPr>
                        <a:t>0.920 ± 0.0016</a:t>
                      </a:r>
                    </a:p>
                  </a:txBody>
                  <a:tcPr marL="133350" marR="114300" marT="95250" marB="95250" anchor="ctr">
                    <a:lnR w="9525">
                      <a:solidFill>
                        <a:srgbClr val="D5DFE4"/>
                      </a:solidFill>
                      <a:prstDash val="solid"/>
                    </a:lnR>
                    <a:lnB w="9525">
                      <a:solidFill>
                        <a:srgbClr val="D5DFE4"/>
                      </a:solidFill>
                      <a:prstDash val="solid"/>
                    </a:lnB>
                    <a:solidFill>
                      <a:srgbClr val="FFFFFF"/>
                    </a:solidFill>
                  </a:tcPr>
                </a:tc>
                <a:tc>
                  <a:txBody>
                    <a:bodyPr/>
                    <a:lstStyle/>
                    <a:p>
                      <a:r>
                        <a:rPr sz="1800" b="0">
                          <a:solidFill>
                            <a:srgbClr val="152D3A"/>
                          </a:solidFill>
                          <a:latin typeface="Arial"/>
                          <a:ea typeface="Arial"/>
                          <a:cs typeface="Arial"/>
                        </a:rPr>
                        <a:t>0.802 ± 0.0045</a:t>
                      </a:r>
                    </a:p>
                  </a:txBody>
                  <a:tcPr marL="133350" marR="114300" marT="95250" marB="95250" anchor="ctr">
                    <a:lnR w="9525">
                      <a:solidFill>
                        <a:srgbClr val="D5DFE4"/>
                      </a:solidFill>
                      <a:prstDash val="solid"/>
                    </a:lnR>
                    <a:lnB w="9525">
                      <a:solidFill>
                        <a:srgbClr val="D5DFE4"/>
                      </a:solidFill>
                      <a:prstDash val="solid"/>
                    </a:lnB>
                    <a:solidFill>
                      <a:srgbClr val="FFFFFF"/>
                    </a:solidFill>
                  </a:tcPr>
                </a:tc>
                <a:tc>
                  <a:txBody>
                    <a:bodyPr/>
                    <a:lstStyle/>
                    <a:p>
                      <a:r>
                        <a:rPr sz="1800" b="0">
                          <a:solidFill>
                            <a:srgbClr val="152D3A"/>
                          </a:solidFill>
                          <a:latin typeface="Arial"/>
                          <a:ea typeface="Arial"/>
                          <a:cs typeface="Arial"/>
                        </a:rPr>
                        <a:t>0.737 ± 0.0025</a:t>
                      </a:r>
                    </a:p>
                  </a:txBody>
                  <a:tcPr marL="133350" marR="114300" marT="95250" marB="95250" anchor="ctr">
                    <a:lnR w="9525">
                      <a:solidFill>
                        <a:srgbClr val="D5DFE4"/>
                      </a:solidFill>
                      <a:prstDash val="solid"/>
                    </a:lnR>
                    <a:lnB w="9525">
                      <a:solidFill>
                        <a:srgbClr val="D5DFE4"/>
                      </a:solidFill>
                      <a:prstDash val="solid"/>
                    </a:lnB>
                    <a:solidFill>
                      <a:srgbClr val="FFFFFF"/>
                    </a:solidFill>
                  </a:tcPr>
                </a:tc>
              </a:tr>
              <a:tr h="554038">
                <a:tc>
                  <a:txBody>
                    <a:bodyPr/>
                    <a:lstStyle/>
                    <a:p>
                      <a:r>
                        <a:rPr sz="1800" b="0">
                          <a:solidFill>
                            <a:srgbClr val="152D3A"/>
                          </a:solidFill>
                          <a:latin typeface="Arial"/>
                          <a:ea typeface="Arial"/>
                          <a:cs typeface="Arial"/>
                        </a:rPr>
                        <a:t>1D ResNet</a:t>
                      </a:r>
                    </a:p>
                  </a:txBody>
                  <a:tcPr marL="133350" marR="114300" marT="95250" marB="95250" anchor="ctr">
                    <a:lnL w="9525">
                      <a:solidFill>
                        <a:srgbClr val="D5DFE4"/>
                      </a:solidFill>
                      <a:prstDash val="solid"/>
                    </a:lnL>
                    <a:lnR w="9525">
                      <a:solidFill>
                        <a:srgbClr val="D5DFE4"/>
                      </a:solidFill>
                      <a:prstDash val="solid"/>
                    </a:lnR>
                    <a:lnB w="9525">
                      <a:solidFill>
                        <a:srgbClr val="D5DFE4"/>
                      </a:solidFill>
                      <a:prstDash val="solid"/>
                    </a:lnB>
                    <a:solidFill>
                      <a:srgbClr val="EDF3F5"/>
                    </a:solidFill>
                  </a:tcPr>
                </a:tc>
                <a:tc>
                  <a:txBody>
                    <a:bodyPr/>
                    <a:lstStyle/>
                    <a:p>
                      <a:r>
                        <a:rPr sz="1800" b="0">
                          <a:solidFill>
                            <a:srgbClr val="152D3A"/>
                          </a:solidFill>
                          <a:latin typeface="Arial"/>
                          <a:ea typeface="Arial"/>
                          <a:cs typeface="Arial"/>
                        </a:rPr>
                        <a:t>0.914 ± 0.0018</a:t>
                      </a:r>
                    </a:p>
                  </a:txBody>
                  <a:tcPr marL="133350" marR="114300" marT="95250" marB="95250" anchor="ctr">
                    <a:lnR w="9525">
                      <a:solidFill>
                        <a:srgbClr val="D5DFE4"/>
                      </a:solidFill>
                      <a:prstDash val="solid"/>
                    </a:lnR>
                    <a:lnB w="9525">
                      <a:solidFill>
                        <a:srgbClr val="D5DFE4"/>
                      </a:solidFill>
                      <a:prstDash val="solid"/>
                    </a:lnB>
                    <a:solidFill>
                      <a:srgbClr val="EDF3F5"/>
                    </a:solidFill>
                  </a:tcPr>
                </a:tc>
                <a:tc>
                  <a:txBody>
                    <a:bodyPr/>
                    <a:lstStyle/>
                    <a:p>
                      <a:r>
                        <a:rPr sz="1800" b="0">
                          <a:solidFill>
                            <a:srgbClr val="152D3A"/>
                          </a:solidFill>
                          <a:latin typeface="Arial"/>
                          <a:ea typeface="Arial"/>
                          <a:cs typeface="Arial"/>
                        </a:rPr>
                        <a:t>0.793 ± 0.0028</a:t>
                      </a:r>
                    </a:p>
                  </a:txBody>
                  <a:tcPr marL="133350" marR="114300" marT="95250" marB="95250" anchor="ctr">
                    <a:lnR w="9525">
                      <a:solidFill>
                        <a:srgbClr val="D5DFE4"/>
                      </a:solidFill>
                      <a:prstDash val="solid"/>
                    </a:lnR>
                    <a:lnB w="9525">
                      <a:solidFill>
                        <a:srgbClr val="D5DFE4"/>
                      </a:solidFill>
                      <a:prstDash val="solid"/>
                    </a:lnB>
                    <a:solidFill>
                      <a:srgbClr val="EDF3F5"/>
                    </a:solidFill>
                  </a:tcPr>
                </a:tc>
                <a:tc>
                  <a:txBody>
                    <a:bodyPr/>
                    <a:lstStyle/>
                    <a:p>
                      <a:r>
                        <a:rPr sz="1800" b="0">
                          <a:solidFill>
                            <a:srgbClr val="152D3A"/>
                          </a:solidFill>
                          <a:latin typeface="Arial"/>
                          <a:ea typeface="Arial"/>
                          <a:cs typeface="Arial"/>
                        </a:rPr>
                        <a:t>0.722 ± 0.0022</a:t>
                      </a:r>
                    </a:p>
                  </a:txBody>
                  <a:tcPr marL="133350" marR="114300" marT="95250" marB="95250" anchor="ctr">
                    <a:lnR w="9525">
                      <a:solidFill>
                        <a:srgbClr val="D5DFE4"/>
                      </a:solidFill>
                      <a:prstDash val="solid"/>
                    </a:lnR>
                    <a:lnB w="9525">
                      <a:solidFill>
                        <a:srgbClr val="D5DFE4"/>
                      </a:solidFill>
                      <a:prstDash val="solid"/>
                    </a:lnB>
                    <a:solidFill>
                      <a:srgbClr val="EDF3F5"/>
                    </a:solidFill>
                  </a:tcPr>
                </a:tc>
              </a:tr>
              <a:tr h="554038">
                <a:tc>
                  <a:txBody>
                    <a:bodyPr/>
                    <a:lstStyle/>
                    <a:p>
                      <a:r>
                        <a:rPr sz="1800" b="0">
                          <a:solidFill>
                            <a:srgbClr val="152D3A"/>
                          </a:solidFill>
                          <a:latin typeface="Arial"/>
                          <a:ea typeface="Arial"/>
                          <a:cs typeface="Arial"/>
                        </a:rPr>
                        <a:t>InceptionTime variant</a:t>
                      </a:r>
                    </a:p>
                  </a:txBody>
                  <a:tcPr marL="133350" marR="114300" marT="95250" marB="95250" anchor="ctr">
                    <a:lnL w="9525">
                      <a:solidFill>
                        <a:srgbClr val="D5DFE4"/>
                      </a:solidFill>
                      <a:prstDash val="solid"/>
                    </a:lnL>
                    <a:lnR w="9525">
                      <a:solidFill>
                        <a:srgbClr val="D5DFE4"/>
                      </a:solidFill>
                      <a:prstDash val="solid"/>
                    </a:lnR>
                    <a:lnB w="9525">
                      <a:solidFill>
                        <a:srgbClr val="D5DFE4"/>
                      </a:solidFill>
                      <a:prstDash val="solid"/>
                    </a:lnB>
                    <a:solidFill>
                      <a:srgbClr val="FFFFFF"/>
                    </a:solidFill>
                  </a:tcPr>
                </a:tc>
                <a:tc>
                  <a:txBody>
                    <a:bodyPr/>
                    <a:lstStyle/>
                    <a:p>
                      <a:r>
                        <a:rPr sz="1800" b="0">
                          <a:solidFill>
                            <a:srgbClr val="152D3A"/>
                          </a:solidFill>
                          <a:latin typeface="Arial"/>
                          <a:ea typeface="Arial"/>
                          <a:cs typeface="Arial"/>
                        </a:rPr>
                        <a:t>0.914 ± 0.0004</a:t>
                      </a:r>
                    </a:p>
                  </a:txBody>
                  <a:tcPr marL="133350" marR="114300" marT="95250" marB="95250" anchor="ctr">
                    <a:lnR w="9525">
                      <a:solidFill>
                        <a:srgbClr val="D5DFE4"/>
                      </a:solidFill>
                      <a:prstDash val="solid"/>
                    </a:lnR>
                    <a:lnB w="9525">
                      <a:solidFill>
                        <a:srgbClr val="D5DFE4"/>
                      </a:solidFill>
                      <a:prstDash val="solid"/>
                    </a:lnB>
                    <a:solidFill>
                      <a:srgbClr val="FFFFFF"/>
                    </a:solidFill>
                  </a:tcPr>
                </a:tc>
                <a:tc>
                  <a:txBody>
                    <a:bodyPr/>
                    <a:lstStyle/>
                    <a:p>
                      <a:r>
                        <a:rPr sz="1800" b="0">
                          <a:solidFill>
                            <a:srgbClr val="152D3A"/>
                          </a:solidFill>
                          <a:latin typeface="Arial"/>
                          <a:ea typeface="Arial"/>
                          <a:cs typeface="Arial"/>
                        </a:rPr>
                        <a:t>0.795 ± 0.0023</a:t>
                      </a:r>
                    </a:p>
                  </a:txBody>
                  <a:tcPr marL="133350" marR="114300" marT="95250" marB="95250" anchor="ctr">
                    <a:lnR w="9525">
                      <a:solidFill>
                        <a:srgbClr val="D5DFE4"/>
                      </a:solidFill>
                      <a:prstDash val="solid"/>
                    </a:lnR>
                    <a:lnB w="9525">
                      <a:solidFill>
                        <a:srgbClr val="D5DFE4"/>
                      </a:solidFill>
                      <a:prstDash val="solid"/>
                    </a:lnB>
                    <a:solidFill>
                      <a:srgbClr val="FFFFFF"/>
                    </a:solidFill>
                  </a:tcPr>
                </a:tc>
                <a:tc>
                  <a:txBody>
                    <a:bodyPr/>
                    <a:lstStyle/>
                    <a:p>
                      <a:r>
                        <a:rPr sz="1800" b="0">
                          <a:solidFill>
                            <a:srgbClr val="152D3A"/>
                          </a:solidFill>
                          <a:latin typeface="Arial"/>
                          <a:ea typeface="Arial"/>
                          <a:cs typeface="Arial"/>
                        </a:rPr>
                        <a:t>0.726 ± 0.0024</a:t>
                      </a:r>
                    </a:p>
                  </a:txBody>
                  <a:tcPr marL="133350" marR="114300" marT="95250" marB="95250" anchor="ctr">
                    <a:lnR w="9525">
                      <a:solidFill>
                        <a:srgbClr val="D5DFE4"/>
                      </a:solidFill>
                      <a:prstDash val="solid"/>
                    </a:lnR>
                    <a:lnB w="9525">
                      <a:solidFill>
                        <a:srgbClr val="D5DFE4"/>
                      </a:solidFill>
                      <a:prstDash val="solid"/>
                    </a:lnB>
                    <a:solidFill>
                      <a:srgbClr val="FFFFFF"/>
                    </a:solidFill>
                  </a:tcPr>
                </a:tc>
              </a:tr>
              <a:tr h="554038">
                <a:tc>
                  <a:txBody>
                    <a:bodyPr/>
                    <a:lstStyle/>
                    <a:p>
                      <a:r>
                        <a:rPr sz="1800" b="0">
                          <a:solidFill>
                            <a:srgbClr val="152D3A"/>
                          </a:solidFill>
                          <a:latin typeface="Arial"/>
                          <a:ea typeface="Arial"/>
                          <a:cs typeface="Arial"/>
                        </a:rPr>
                        <a:t>CNN, unweighted</a:t>
                      </a:r>
                    </a:p>
                  </a:txBody>
                  <a:tcPr marL="133350" marR="114300" marT="95250" marB="95250" anchor="ctr">
                    <a:lnL w="9525">
                      <a:solidFill>
                        <a:srgbClr val="D5DFE4"/>
                      </a:solidFill>
                      <a:prstDash val="solid"/>
                    </a:lnL>
                    <a:lnR w="9525">
                      <a:solidFill>
                        <a:srgbClr val="D5DFE4"/>
                      </a:solidFill>
                      <a:prstDash val="solid"/>
                    </a:lnR>
                    <a:lnB w="9525">
                      <a:solidFill>
                        <a:srgbClr val="D5DFE4"/>
                      </a:solidFill>
                      <a:prstDash val="solid"/>
                    </a:lnB>
                    <a:solidFill>
                      <a:srgbClr val="EDF3F5"/>
                    </a:solidFill>
                  </a:tcPr>
                </a:tc>
                <a:tc>
                  <a:txBody>
                    <a:bodyPr/>
                    <a:lstStyle/>
                    <a:p>
                      <a:r>
                        <a:rPr sz="1800" b="0">
                          <a:solidFill>
                            <a:srgbClr val="152D3A"/>
                          </a:solidFill>
                          <a:latin typeface="Arial"/>
                          <a:ea typeface="Arial"/>
                          <a:cs typeface="Arial"/>
                        </a:rPr>
                        <a:t>0.920 ± 0.0029</a:t>
                      </a:r>
                    </a:p>
                  </a:txBody>
                  <a:tcPr marL="133350" marR="114300" marT="95250" marB="95250" anchor="ctr">
                    <a:lnR w="9525">
                      <a:solidFill>
                        <a:srgbClr val="D5DFE4"/>
                      </a:solidFill>
                      <a:prstDash val="solid"/>
                    </a:lnR>
                    <a:lnB w="9525">
                      <a:solidFill>
                        <a:srgbClr val="D5DFE4"/>
                      </a:solidFill>
                      <a:prstDash val="solid"/>
                    </a:lnB>
                    <a:solidFill>
                      <a:srgbClr val="EDF3F5"/>
                    </a:solidFill>
                  </a:tcPr>
                </a:tc>
                <a:tc>
                  <a:txBody>
                    <a:bodyPr/>
                    <a:lstStyle/>
                    <a:p>
                      <a:r>
                        <a:rPr sz="1800" b="0">
                          <a:solidFill>
                            <a:srgbClr val="152D3A"/>
                          </a:solidFill>
                          <a:latin typeface="Arial"/>
                          <a:ea typeface="Arial"/>
                          <a:cs typeface="Arial"/>
                        </a:rPr>
                        <a:t>0.807 ± 0.0043</a:t>
                      </a:r>
                    </a:p>
                  </a:txBody>
                  <a:tcPr marL="133350" marR="114300" marT="95250" marB="95250" anchor="ctr">
                    <a:lnR w="9525">
                      <a:solidFill>
                        <a:srgbClr val="D5DFE4"/>
                      </a:solidFill>
                      <a:prstDash val="solid"/>
                    </a:lnR>
                    <a:lnB w="9525">
                      <a:solidFill>
                        <a:srgbClr val="D5DFE4"/>
                      </a:solidFill>
                      <a:prstDash val="solid"/>
                    </a:lnB>
                    <a:solidFill>
                      <a:srgbClr val="EDF3F5"/>
                    </a:solidFill>
                  </a:tcPr>
                </a:tc>
                <a:tc>
                  <a:txBody>
                    <a:bodyPr/>
                    <a:lstStyle/>
                    <a:p>
                      <a:r>
                        <a:rPr sz="1800" b="0">
                          <a:solidFill>
                            <a:srgbClr val="152D3A"/>
                          </a:solidFill>
                          <a:latin typeface="Arial"/>
                          <a:ea typeface="Arial"/>
                          <a:cs typeface="Arial"/>
                        </a:rPr>
                        <a:t>0.740 ± 0.0088</a:t>
                      </a:r>
                    </a:p>
                  </a:txBody>
                  <a:tcPr marL="133350" marR="114300" marT="95250" marB="95250" anchor="ctr">
                    <a:lnR w="9525">
                      <a:solidFill>
                        <a:srgbClr val="D5DFE4"/>
                      </a:solidFill>
                      <a:prstDash val="solid"/>
                    </a:lnR>
                    <a:lnB w="9525">
                      <a:solidFill>
                        <a:srgbClr val="D5DFE4"/>
                      </a:solidFill>
                      <a:prstDash val="solid"/>
                    </a:lnB>
                    <a:solidFill>
                      <a:srgbClr val="EDF3F5"/>
                    </a:solidFill>
                  </a:tcPr>
                </a:tc>
              </a:tr>
              <a:tr h="554038">
                <a:tc>
                  <a:txBody>
                    <a:bodyPr/>
                    <a:lstStyle/>
                    <a:p>
                      <a:r>
                        <a:rPr sz="1800" b="0">
                          <a:solidFill>
                            <a:srgbClr val="152D3A"/>
                          </a:solidFill>
                          <a:latin typeface="Arial"/>
                          <a:ea typeface="Arial"/>
                          <a:cs typeface="Arial"/>
                        </a:rPr>
                        <a:t>Logistic features</a:t>
                      </a:r>
                    </a:p>
                  </a:txBody>
                  <a:tcPr marL="133350" marR="114300" marT="95250" marB="95250" anchor="ctr">
                    <a:lnL w="9525">
                      <a:solidFill>
                        <a:srgbClr val="D5DFE4"/>
                      </a:solidFill>
                      <a:prstDash val="solid"/>
                    </a:lnL>
                    <a:lnR w="9525">
                      <a:solidFill>
                        <a:srgbClr val="D5DFE4"/>
                      </a:solidFill>
                      <a:prstDash val="solid"/>
                    </a:lnR>
                    <a:lnB w="9525">
                      <a:solidFill>
                        <a:srgbClr val="D5DFE4"/>
                      </a:solidFill>
                      <a:prstDash val="solid"/>
                    </a:lnB>
                    <a:solidFill>
                      <a:srgbClr val="FFFFFF"/>
                    </a:solidFill>
                  </a:tcPr>
                </a:tc>
                <a:tc>
                  <a:txBody>
                    <a:bodyPr/>
                    <a:lstStyle/>
                    <a:p>
                      <a:r>
                        <a:rPr sz="1800" b="0">
                          <a:solidFill>
                            <a:srgbClr val="152D3A"/>
                          </a:solidFill>
                          <a:latin typeface="Arial"/>
                          <a:ea typeface="Arial"/>
                          <a:cs typeface="Arial"/>
                        </a:rPr>
                        <a:t>0.817</a:t>
                      </a:r>
                    </a:p>
                  </a:txBody>
                  <a:tcPr marL="133350" marR="114300" marT="95250" marB="95250" anchor="ctr">
                    <a:lnR w="9525">
                      <a:solidFill>
                        <a:srgbClr val="D5DFE4"/>
                      </a:solidFill>
                      <a:prstDash val="solid"/>
                    </a:lnR>
                    <a:lnB w="9525">
                      <a:solidFill>
                        <a:srgbClr val="D5DFE4"/>
                      </a:solidFill>
                      <a:prstDash val="solid"/>
                    </a:lnB>
                    <a:solidFill>
                      <a:srgbClr val="FFFFFF"/>
                    </a:solidFill>
                  </a:tcPr>
                </a:tc>
                <a:tc>
                  <a:txBody>
                    <a:bodyPr/>
                    <a:lstStyle/>
                    <a:p>
                      <a:r>
                        <a:rPr sz="1800" b="0">
                          <a:solidFill>
                            <a:srgbClr val="152D3A"/>
                          </a:solidFill>
                          <a:latin typeface="Arial"/>
                          <a:ea typeface="Arial"/>
                          <a:cs typeface="Arial"/>
                        </a:rPr>
                        <a:t>0.613</a:t>
                      </a:r>
                    </a:p>
                  </a:txBody>
                  <a:tcPr marL="133350" marR="114300" marT="95250" marB="95250" anchor="ctr">
                    <a:lnR w="9525">
                      <a:solidFill>
                        <a:srgbClr val="D5DFE4"/>
                      </a:solidFill>
                      <a:prstDash val="solid"/>
                    </a:lnR>
                    <a:lnB w="9525">
                      <a:solidFill>
                        <a:srgbClr val="D5DFE4"/>
                      </a:solidFill>
                      <a:prstDash val="solid"/>
                    </a:lnB>
                    <a:solidFill>
                      <a:srgbClr val="FFFFFF"/>
                    </a:solidFill>
                  </a:tcPr>
                </a:tc>
                <a:tc>
                  <a:txBody>
                    <a:bodyPr/>
                    <a:lstStyle/>
                    <a:p>
                      <a:r>
                        <a:rPr sz="1800" b="0">
                          <a:solidFill>
                            <a:srgbClr val="152D3A"/>
                          </a:solidFill>
                          <a:latin typeface="Arial"/>
                          <a:ea typeface="Arial"/>
                          <a:cs typeface="Arial"/>
                        </a:rPr>
                        <a:t>0.600</a:t>
                      </a:r>
                    </a:p>
                  </a:txBody>
                  <a:tcPr marL="133350" marR="114300" marT="95250" marB="95250" anchor="ctr">
                    <a:lnR w="9525">
                      <a:solidFill>
                        <a:srgbClr val="D5DFE4"/>
                      </a:solidFill>
                      <a:prstDash val="solid"/>
                    </a:lnR>
                    <a:lnB w="9525">
                      <a:solidFill>
                        <a:srgbClr val="D5DFE4"/>
                      </a:solidFill>
                      <a:prstDash val="solid"/>
                    </a:lnB>
                    <a:solidFill>
                      <a:srgbClr val="FFFFFF"/>
                    </a:solidFill>
                  </a:tcPr>
                </a:tc>
              </a:tr>
            </a:tbl>
          </a:graphicData>
        </a:graphic>
      </p:graphicFrame>
      <p:sp>
        <p:nvSpPr>
          <p:cNvPr id="4" name="Class weighting did not improve average perfo">
            <a:extLst xmlns:a="http://schemas.openxmlformats.org/drawingml/2006/main">
              <a:ext uri="{FF2B5EF4-FFF2-40B4-BE49-F238E27FC236}">
                <a16:creationId xmlns:a16="http://schemas.microsoft.com/office/drawing/2014/main" id="{45872B7A-C77B-4B9A-A5B6-F0440364D915}"/>
              </a:ext>
            </a:extLst>
          </p:cNvPr>
          <p:cNvSpPr>
            <a:spLocks xmlns:a="http://schemas.openxmlformats.org/drawingml/2006/main" noGrp="1"/>
          </p:cNvSpPr>
          <p:nvPr/>
        </p:nvSpPr>
        <p:spPr>
          <a:xfrm xmlns:a="http://schemas.openxmlformats.org/drawingml/2006/main">
            <a:off x="609600" y="51911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87E8B"/>
                </a:solidFill>
                <a:latin typeface="Arial"/>
                <a:ea typeface="Arial"/>
                <a:cs typeface="Arial"/>
              </a:defRPr>
            </a:defPPr>
            <a:lvl1pPr>
              <a:defRPr sz="2250" b="1">
                <a:solidFill>
                  <a:srgbClr val="087E8B"/>
                </a:solidFill>
                <a:latin typeface="Arial"/>
                <a:ea typeface="Arial"/>
                <a:cs typeface="Arial"/>
              </a:defRPr>
            </a:lvl1pPr>
            <a:lvl2pPr>
              <a:defRPr sz="2250" b="1">
                <a:solidFill>
                  <a:srgbClr val="087E8B"/>
                </a:solidFill>
                <a:latin typeface="Arial"/>
                <a:ea typeface="Arial"/>
                <a:cs typeface="Arial"/>
              </a:defRPr>
            </a:lvl2pPr>
            <a:lvl3pPr>
              <a:defRPr sz="2250" b="1">
                <a:solidFill>
                  <a:srgbClr val="087E8B"/>
                </a:solidFill>
                <a:latin typeface="Arial"/>
                <a:ea typeface="Arial"/>
                <a:cs typeface="Arial"/>
              </a:defRPr>
            </a:lvl3pPr>
            <a:lvl4pPr>
              <a:defRPr sz="2250" b="1">
                <a:solidFill>
                  <a:srgbClr val="087E8B"/>
                </a:solidFill>
                <a:latin typeface="Arial"/>
                <a:ea typeface="Arial"/>
                <a:cs typeface="Arial"/>
              </a:defRPr>
            </a:lvl4pPr>
            <a:lvl5pPr>
              <a:defRPr sz="2250" b="1">
                <a:solidFill>
                  <a:srgbClr val="087E8B"/>
                </a:solidFill>
                <a:latin typeface="Arial"/>
                <a:ea typeface="Arial"/>
                <a:cs typeface="Arial"/>
              </a:defRPr>
            </a:lvl5pPr>
            <a:lvl6pPr>
              <a:defRPr sz="2250" b="1">
                <a:solidFill>
                  <a:srgbClr val="087E8B"/>
                </a:solidFill>
                <a:latin typeface="Arial"/>
                <a:ea typeface="Arial"/>
                <a:cs typeface="Arial"/>
              </a:defRPr>
            </a:lvl6pPr>
            <a:lvl7pPr>
              <a:defRPr sz="2250" b="1">
                <a:solidFill>
                  <a:srgbClr val="087E8B"/>
                </a:solidFill>
                <a:latin typeface="Arial"/>
                <a:ea typeface="Arial"/>
                <a:cs typeface="Arial"/>
              </a:defRPr>
            </a:lvl7pPr>
            <a:lvl8pPr>
              <a:defRPr sz="2250" b="1">
                <a:solidFill>
                  <a:srgbClr val="087E8B"/>
                </a:solidFill>
                <a:latin typeface="Arial"/>
                <a:ea typeface="Arial"/>
                <a:cs typeface="Arial"/>
              </a:defRPr>
            </a:lvl8pPr>
            <a:lvl9pPr>
              <a:defRPr sz="2250" b="1">
                <a:solidFill>
                  <a:srgbClr val="087E8B"/>
                </a:solidFill>
                <a:latin typeface="Arial"/>
                <a:ea typeface="Arial"/>
                <a:cs typeface="Arial"/>
              </a:defRPr>
            </a:lvl9pPr>
          </a:lstStyle>
          <a:p xmlns:a="http://schemas.openxmlformats.org/drawingml/2006/main">
            <a:pPr>
              <a:defRPr sz="2250" b="1">
                <a:solidFill>
                  <a:srgbClr val="087E8B"/>
                </a:solidFill>
                <a:latin typeface="Arial"/>
                <a:ea typeface="Arial"/>
                <a:cs typeface="Arial"/>
              </a:defRPr>
            </a:pPr>
            <a:r>
              <a:rPr sz="2250" b="1">
                <a:solidFill>
                  <a:srgbClr val="087E8B"/>
                </a:solidFill>
                <a:latin typeface="Arial"/>
                <a:ea typeface="Arial"/>
                <a:cs typeface="Arial"/>
              </a:rPr>
              <a:t>Class weighting did not improve average performance here.</a:t>
            </a:r>
          </a:p>
        </p:txBody>
      </p:sp>
      <p:sp>
        <p:nvSpPr>
          <p:cNvPr id="5" name="Neural values: mean ± sample SD over three se">
            <a:extLst xmlns:a="http://schemas.openxmlformats.org/drawingml/2006/main">
              <a:ext uri="{FF2B5EF4-FFF2-40B4-BE49-F238E27FC236}">
                <a16:creationId xmlns:a16="http://schemas.microsoft.com/office/drawing/2014/main" id="{11197F9A-EF96-4F14-93A1-74B7EB38896A}"/>
              </a:ext>
            </a:extLst>
          </p:cNvPr>
          <p:cNvSpPr>
            <a:spLocks xmlns:a="http://schemas.openxmlformats.org/drawingml/2006/main" noGrp="1"/>
          </p:cNvSpPr>
          <p:nvPr/>
        </p:nvSpPr>
        <p:spPr>
          <a:xfrm xmlns:a="http://schemas.openxmlformats.org/drawingml/2006/main">
            <a:off x="609600" y="59912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775"/>
                </a:solidFill>
                <a:latin typeface="Arial"/>
                <a:ea typeface="Arial"/>
                <a:cs typeface="Arial"/>
              </a:defRPr>
            </a:defPPr>
            <a:lvl1pPr>
              <a:defRPr sz="1275" b="0">
                <a:solidFill>
                  <a:srgbClr val="536775"/>
                </a:solidFill>
                <a:latin typeface="Arial"/>
                <a:ea typeface="Arial"/>
                <a:cs typeface="Arial"/>
              </a:defRPr>
            </a:lvl1pPr>
            <a:lvl2pPr>
              <a:defRPr sz="1275" b="0">
                <a:solidFill>
                  <a:srgbClr val="536775"/>
                </a:solidFill>
                <a:latin typeface="Arial"/>
                <a:ea typeface="Arial"/>
                <a:cs typeface="Arial"/>
              </a:defRPr>
            </a:lvl2pPr>
            <a:lvl3pPr>
              <a:defRPr sz="1275" b="0">
                <a:solidFill>
                  <a:srgbClr val="536775"/>
                </a:solidFill>
                <a:latin typeface="Arial"/>
                <a:ea typeface="Arial"/>
                <a:cs typeface="Arial"/>
              </a:defRPr>
            </a:lvl3pPr>
            <a:lvl4pPr>
              <a:defRPr sz="1275" b="0">
                <a:solidFill>
                  <a:srgbClr val="536775"/>
                </a:solidFill>
                <a:latin typeface="Arial"/>
                <a:ea typeface="Arial"/>
                <a:cs typeface="Arial"/>
              </a:defRPr>
            </a:lvl4pPr>
            <a:lvl5pPr>
              <a:defRPr sz="1275" b="0">
                <a:solidFill>
                  <a:srgbClr val="536775"/>
                </a:solidFill>
                <a:latin typeface="Arial"/>
                <a:ea typeface="Arial"/>
                <a:cs typeface="Arial"/>
              </a:defRPr>
            </a:lvl5pPr>
            <a:lvl6pPr>
              <a:defRPr sz="1275" b="0">
                <a:solidFill>
                  <a:srgbClr val="536775"/>
                </a:solidFill>
                <a:latin typeface="Arial"/>
                <a:ea typeface="Arial"/>
                <a:cs typeface="Arial"/>
              </a:defRPr>
            </a:lvl6pPr>
            <a:lvl7pPr>
              <a:defRPr sz="1275" b="0">
                <a:solidFill>
                  <a:srgbClr val="536775"/>
                </a:solidFill>
                <a:latin typeface="Arial"/>
                <a:ea typeface="Arial"/>
                <a:cs typeface="Arial"/>
              </a:defRPr>
            </a:lvl7pPr>
            <a:lvl8pPr>
              <a:defRPr sz="1275" b="0">
                <a:solidFill>
                  <a:srgbClr val="536775"/>
                </a:solidFill>
                <a:latin typeface="Arial"/>
                <a:ea typeface="Arial"/>
                <a:cs typeface="Arial"/>
              </a:defRPr>
            </a:lvl8pPr>
            <a:lvl9pPr>
              <a:defRPr sz="1275" b="0">
                <a:solidFill>
                  <a:srgbClr val="536775"/>
                </a:solidFill>
                <a:latin typeface="Arial"/>
                <a:ea typeface="Arial"/>
                <a:cs typeface="Arial"/>
              </a:defRPr>
            </a:lvl9pPr>
          </a:lstStyle>
          <a:p xmlns:a="http://schemas.openxmlformats.org/drawingml/2006/main">
            <a:pPr>
              <a:defRPr sz="1275" b="0">
                <a:solidFill>
                  <a:srgbClr val="536775"/>
                </a:solidFill>
                <a:latin typeface="Arial"/>
                <a:ea typeface="Arial"/>
                <a:cs typeface="Arial"/>
              </a:defRPr>
            </a:pPr>
            <a:r>
              <a:rPr sz="1275" b="0">
                <a:solidFill>
                  <a:srgbClr val="536775"/>
                </a:solidFill>
                <a:latin typeface="Arial"/>
                <a:ea typeface="Arial"/>
                <a:cs typeface="Arial"/>
              </a:rPr>
              <a:t>Neural values: mean ± sample SD over three seeds. Logistic baseline: one fit. Test set: 2,158 ECGs.</a:t>
            </a:r>
          </a:p>
        </p:txBody>
      </p:sp>
    </p:spTree>
    <p:extLst>
      <p:ext uri="{BB962C8B-B14F-4D97-AF65-F5344CB8AC3E}">
        <p14:creationId xmlns:p14="http://schemas.microsoft.com/office/powerpoint/2010/main" val="1862430657"/>
      </p:ext>
    </p:extLst>
  </p:cSld>
</p:sld>
</file>

<file path=ppt/slides/slide10.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7" name="CPU inference cost and model size">
            <a:extLst xmlns:a="http://schemas.openxmlformats.org/drawingml/2006/main">
              <a:ext uri="{FF2B5EF4-FFF2-40B4-BE49-F238E27FC236}">
                <a16:creationId xmlns:a16="http://schemas.microsoft.com/office/drawing/2014/main" id="{8F857C51-04EC-4365-A48C-2596F33F561D}"/>
              </a:ext>
            </a:extLst>
          </p:cNvPr>
          <p:cNvSpPr>
            <a:spLocks xmlns:a="http://schemas.openxmlformats.org/drawingml/2006/main" noGrp="1"/>
          </p:cNvSpPr>
          <p:nvPr/>
        </p:nvSpPr>
        <p:spPr>
          <a:xfrm xmlns:a="http://schemas.openxmlformats.org/drawingml/2006/main">
            <a:off x="609600" y="40005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D3A"/>
                </a:solidFill>
                <a:latin typeface="Arial"/>
                <a:ea typeface="Arial"/>
                <a:cs typeface="Arial"/>
              </a:defRPr>
            </a:defPPr>
            <a:lvl1pPr>
              <a:defRPr sz="3150" b="1">
                <a:solidFill>
                  <a:srgbClr val="152D3A"/>
                </a:solidFill>
                <a:latin typeface="Arial"/>
                <a:ea typeface="Arial"/>
                <a:cs typeface="Arial"/>
              </a:defRPr>
            </a:lvl1pPr>
            <a:lvl2pPr>
              <a:defRPr sz="3150" b="1">
                <a:solidFill>
                  <a:srgbClr val="152D3A"/>
                </a:solidFill>
                <a:latin typeface="Arial"/>
                <a:ea typeface="Arial"/>
                <a:cs typeface="Arial"/>
              </a:defRPr>
            </a:lvl2pPr>
            <a:lvl3pPr>
              <a:defRPr sz="3150" b="1">
                <a:solidFill>
                  <a:srgbClr val="152D3A"/>
                </a:solidFill>
                <a:latin typeface="Arial"/>
                <a:ea typeface="Arial"/>
                <a:cs typeface="Arial"/>
              </a:defRPr>
            </a:lvl3pPr>
            <a:lvl4pPr>
              <a:defRPr sz="3150" b="1">
                <a:solidFill>
                  <a:srgbClr val="152D3A"/>
                </a:solidFill>
                <a:latin typeface="Arial"/>
                <a:ea typeface="Arial"/>
                <a:cs typeface="Arial"/>
              </a:defRPr>
            </a:lvl4pPr>
            <a:lvl5pPr>
              <a:defRPr sz="3150" b="1">
                <a:solidFill>
                  <a:srgbClr val="152D3A"/>
                </a:solidFill>
                <a:latin typeface="Arial"/>
                <a:ea typeface="Arial"/>
                <a:cs typeface="Arial"/>
              </a:defRPr>
            </a:lvl5pPr>
            <a:lvl6pPr>
              <a:defRPr sz="3150" b="1">
                <a:solidFill>
                  <a:srgbClr val="152D3A"/>
                </a:solidFill>
                <a:latin typeface="Arial"/>
                <a:ea typeface="Arial"/>
                <a:cs typeface="Arial"/>
              </a:defRPr>
            </a:lvl6pPr>
            <a:lvl7pPr>
              <a:defRPr sz="3150" b="1">
                <a:solidFill>
                  <a:srgbClr val="152D3A"/>
                </a:solidFill>
                <a:latin typeface="Arial"/>
                <a:ea typeface="Arial"/>
                <a:cs typeface="Arial"/>
              </a:defRPr>
            </a:lvl7pPr>
            <a:lvl8pPr>
              <a:defRPr sz="3150" b="1">
                <a:solidFill>
                  <a:srgbClr val="152D3A"/>
                </a:solidFill>
                <a:latin typeface="Arial"/>
                <a:ea typeface="Arial"/>
                <a:cs typeface="Arial"/>
              </a:defRPr>
            </a:lvl8pPr>
            <a:lvl9pPr>
              <a:defRPr sz="3150" b="1">
                <a:solidFill>
                  <a:srgbClr val="152D3A"/>
                </a:solidFill>
                <a:latin typeface="Arial"/>
                <a:ea typeface="Arial"/>
                <a:cs typeface="Arial"/>
              </a:defRPr>
            </a:lvl9pPr>
          </a:lstStyle>
          <a:p xmlns:a="http://schemas.openxmlformats.org/drawingml/2006/main">
            <a:pPr>
              <a:defRPr sz="3150" b="1">
                <a:solidFill>
                  <a:srgbClr val="152D3A"/>
                </a:solidFill>
                <a:latin typeface="Arial"/>
                <a:ea typeface="Arial"/>
                <a:cs typeface="Arial"/>
              </a:defRPr>
            </a:pPr>
            <a:r>
              <a:rPr sz="3150" b="1">
                <a:solidFill>
                  <a:srgbClr val="152D3A"/>
                </a:solidFill>
                <a:latin typeface="Arial"/>
                <a:ea typeface="Arial"/>
                <a:cs typeface="Arial"/>
              </a:rPr>
              <a:t>CPU inference cost and model size</a:t>
            </a:r>
          </a:p>
        </p:txBody>
      </p:sp>
      <p:sp>
        <p:nvSpPr>
          <p:cNvPr id="2" name="10">
            <a:extLst xmlns:a="http://schemas.openxmlformats.org/drawingml/2006/main">
              <a:ext uri="{FF2B5EF4-FFF2-40B4-BE49-F238E27FC236}">
                <a16:creationId xmlns:a16="http://schemas.microsoft.com/office/drawing/2014/main" id="{61A01C10-E96F-45CB-B3D9-7238B4B5F13B}"/>
              </a:ext>
            </a:extLst>
          </p:cNvPr>
          <p:cNvSpPr>
            <a:spLocks xmlns:a="http://schemas.openxmlformats.org/drawingml/2006/main" noGrp="1"/>
          </p:cNvSpPr>
          <p:nvPr/>
        </p:nvSpPr>
        <p:spPr>
          <a:xfrm xmlns:a="http://schemas.openxmlformats.org/drawingml/2006/main">
            <a:off x="11144250" y="63817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775"/>
                </a:solidFill>
                <a:latin typeface="Arial"/>
                <a:ea typeface="Arial"/>
                <a:cs typeface="Arial"/>
              </a:defRPr>
            </a:defPPr>
            <a:lvl1pPr>
              <a:defRPr sz="1200" b="0">
                <a:solidFill>
                  <a:srgbClr val="536775"/>
                </a:solidFill>
                <a:latin typeface="Arial"/>
                <a:ea typeface="Arial"/>
                <a:cs typeface="Arial"/>
              </a:defRPr>
            </a:lvl1pPr>
            <a:lvl2pPr>
              <a:defRPr sz="1200" b="0">
                <a:solidFill>
                  <a:srgbClr val="536775"/>
                </a:solidFill>
                <a:latin typeface="Arial"/>
                <a:ea typeface="Arial"/>
                <a:cs typeface="Arial"/>
              </a:defRPr>
            </a:lvl2pPr>
            <a:lvl3pPr>
              <a:defRPr sz="1200" b="0">
                <a:solidFill>
                  <a:srgbClr val="536775"/>
                </a:solidFill>
                <a:latin typeface="Arial"/>
                <a:ea typeface="Arial"/>
                <a:cs typeface="Arial"/>
              </a:defRPr>
            </a:lvl3pPr>
            <a:lvl4pPr>
              <a:defRPr sz="1200" b="0">
                <a:solidFill>
                  <a:srgbClr val="536775"/>
                </a:solidFill>
                <a:latin typeface="Arial"/>
                <a:ea typeface="Arial"/>
                <a:cs typeface="Arial"/>
              </a:defRPr>
            </a:lvl4pPr>
            <a:lvl5pPr>
              <a:defRPr sz="1200" b="0">
                <a:solidFill>
                  <a:srgbClr val="536775"/>
                </a:solidFill>
                <a:latin typeface="Arial"/>
                <a:ea typeface="Arial"/>
                <a:cs typeface="Arial"/>
              </a:defRPr>
            </a:lvl5pPr>
            <a:lvl6pPr>
              <a:defRPr sz="1200" b="0">
                <a:solidFill>
                  <a:srgbClr val="536775"/>
                </a:solidFill>
                <a:latin typeface="Arial"/>
                <a:ea typeface="Arial"/>
                <a:cs typeface="Arial"/>
              </a:defRPr>
            </a:lvl6pPr>
            <a:lvl7pPr>
              <a:defRPr sz="1200" b="0">
                <a:solidFill>
                  <a:srgbClr val="536775"/>
                </a:solidFill>
                <a:latin typeface="Arial"/>
                <a:ea typeface="Arial"/>
                <a:cs typeface="Arial"/>
              </a:defRPr>
            </a:lvl7pPr>
            <a:lvl8pPr>
              <a:defRPr sz="1200" b="0">
                <a:solidFill>
                  <a:srgbClr val="536775"/>
                </a:solidFill>
                <a:latin typeface="Arial"/>
                <a:ea typeface="Arial"/>
                <a:cs typeface="Arial"/>
              </a:defRPr>
            </a:lvl8pPr>
            <a:lvl9pPr>
              <a:defRPr sz="1200" b="0">
                <a:solidFill>
                  <a:srgbClr val="536775"/>
                </a:solidFill>
                <a:latin typeface="Arial"/>
                <a:ea typeface="Arial"/>
                <a:cs typeface="Arial"/>
              </a:defRPr>
            </a:lvl9pPr>
          </a:lstStyle>
          <a:p xmlns:a="http://schemas.openxmlformats.org/drawingml/2006/main">
            <a:pPr>
              <a:defRPr sz="1200" b="0">
                <a:solidFill>
                  <a:srgbClr val="536775"/>
                </a:solidFill>
                <a:latin typeface="Arial"/>
                <a:ea typeface="Arial"/>
                <a:cs typeface="Arial"/>
              </a:defRPr>
            </a:pPr>
            <a:r>
              <a:rPr sz="1200" b="0">
                <a:solidFill>
                  <a:srgbClr val="536775"/>
                </a:solidFill>
                <a:latin typeface="Arial"/>
                <a:ea typeface="Arial"/>
                <a:cs typeface="Arial"/>
              </a:rPr>
              <a:t>10</a:t>
            </a:r>
          </a:p>
        </p:txBody>
      </p:sp>
      <p:graphicFrame>
        <p:nvGraphicFramePr>
          <p:cNvPr id="3" name="Chart">
            <a:extLst xmlns:a="http://schemas.openxmlformats.org/drawingml/2006/main">
              <a:ext uri="{FF2B5EF4-FFF2-40B4-BE49-F238E27FC236}">
                <a16:creationId xmlns:a16="http://schemas.microsoft.com/office/drawing/2014/main" id="{ED55F0A7-1D3E-435F-9AE0-F713FE399689}"/>
              </a:ext>
            </a:extLst>
          </p:cNvPr>
          <p:cNvGraphicFramePr/>
          <p:nvPr/>
        </p:nvGraphicFramePr>
        <p:xfrm>
          <a:off xmlns:a="http://schemas.openxmlformats.org/drawingml/2006/main" x="552450" y="1438275"/>
          <a:ext xmlns:a="http://schemas.openxmlformats.org/drawingml/2006/main" cx="7334250" cy="4162425"/>
        </p:xfrm>
        <a:graphic xmlns:a="http://schemas.openxmlformats.org/drawingml/2006/main">
          <a:graphicData uri="http://schemas.openxmlformats.org/drawingml/2006/chart">
            <c:chart xmlns:r="http://schemas.openxmlformats.org/officeDocument/2006/relationships" xmlns:c="http://schemas.openxmlformats.org/drawingml/2006/chart" r:id="Raafb61484aa040a7"/>
          </a:graphicData>
        </a:graphic>
      </p:graphicFrame>
      <p:sp>
        <p:nvSpPr>
          <p:cNvPr id="4" name="Trainable parameters">
            <a:extLst xmlns:a="http://schemas.openxmlformats.org/drawingml/2006/main">
              <a:ext uri="{FF2B5EF4-FFF2-40B4-BE49-F238E27FC236}">
                <a16:creationId xmlns:a16="http://schemas.microsoft.com/office/drawing/2014/main" id="{C4766191-0691-4E37-A0D9-8020B32E82EC}"/>
              </a:ext>
            </a:extLst>
          </p:cNvPr>
          <p:cNvSpPr>
            <a:spLocks xmlns:a="http://schemas.openxmlformats.org/drawingml/2006/main" noGrp="1"/>
          </p:cNvSpPr>
          <p:nvPr/>
        </p:nvSpPr>
        <p:spPr>
          <a:xfrm xmlns:a="http://schemas.openxmlformats.org/drawingml/2006/main">
            <a:off x="8315325" y="16383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8B"/>
                </a:solidFill>
                <a:latin typeface="Arial"/>
                <a:ea typeface="Arial"/>
                <a:cs typeface="Arial"/>
              </a:defRPr>
            </a:defPPr>
            <a:lvl1pPr>
              <a:defRPr sz="1950" b="1">
                <a:solidFill>
                  <a:srgbClr val="087E8B"/>
                </a:solidFill>
                <a:latin typeface="Arial"/>
                <a:ea typeface="Arial"/>
                <a:cs typeface="Arial"/>
              </a:defRPr>
            </a:lvl1pPr>
            <a:lvl2pPr>
              <a:defRPr sz="1950" b="1">
                <a:solidFill>
                  <a:srgbClr val="087E8B"/>
                </a:solidFill>
                <a:latin typeface="Arial"/>
                <a:ea typeface="Arial"/>
                <a:cs typeface="Arial"/>
              </a:defRPr>
            </a:lvl2pPr>
            <a:lvl3pPr>
              <a:defRPr sz="1950" b="1">
                <a:solidFill>
                  <a:srgbClr val="087E8B"/>
                </a:solidFill>
                <a:latin typeface="Arial"/>
                <a:ea typeface="Arial"/>
                <a:cs typeface="Arial"/>
              </a:defRPr>
            </a:lvl3pPr>
            <a:lvl4pPr>
              <a:defRPr sz="1950" b="1">
                <a:solidFill>
                  <a:srgbClr val="087E8B"/>
                </a:solidFill>
                <a:latin typeface="Arial"/>
                <a:ea typeface="Arial"/>
                <a:cs typeface="Arial"/>
              </a:defRPr>
            </a:lvl4pPr>
            <a:lvl5pPr>
              <a:defRPr sz="1950" b="1">
                <a:solidFill>
                  <a:srgbClr val="087E8B"/>
                </a:solidFill>
                <a:latin typeface="Arial"/>
                <a:ea typeface="Arial"/>
                <a:cs typeface="Arial"/>
              </a:defRPr>
            </a:lvl5pPr>
            <a:lvl6pPr>
              <a:defRPr sz="1950" b="1">
                <a:solidFill>
                  <a:srgbClr val="087E8B"/>
                </a:solidFill>
                <a:latin typeface="Arial"/>
                <a:ea typeface="Arial"/>
                <a:cs typeface="Arial"/>
              </a:defRPr>
            </a:lvl6pPr>
            <a:lvl7pPr>
              <a:defRPr sz="1950" b="1">
                <a:solidFill>
                  <a:srgbClr val="087E8B"/>
                </a:solidFill>
                <a:latin typeface="Arial"/>
                <a:ea typeface="Arial"/>
                <a:cs typeface="Arial"/>
              </a:defRPr>
            </a:lvl7pPr>
            <a:lvl8pPr>
              <a:defRPr sz="1950" b="1">
                <a:solidFill>
                  <a:srgbClr val="087E8B"/>
                </a:solidFill>
                <a:latin typeface="Arial"/>
                <a:ea typeface="Arial"/>
                <a:cs typeface="Arial"/>
              </a:defRPr>
            </a:lvl8pPr>
            <a:lvl9pPr>
              <a:defRPr sz="1950" b="1">
                <a:solidFill>
                  <a:srgbClr val="087E8B"/>
                </a:solidFill>
                <a:latin typeface="Arial"/>
                <a:ea typeface="Arial"/>
                <a:cs typeface="Arial"/>
              </a:defRPr>
            </a:lvl9pPr>
          </a:lstStyle>
          <a:p xmlns:a="http://schemas.openxmlformats.org/drawingml/2006/main">
            <a:pPr>
              <a:defRPr sz="1950" b="1">
                <a:solidFill>
                  <a:srgbClr val="087E8B"/>
                </a:solidFill>
                <a:latin typeface="Arial"/>
                <a:ea typeface="Arial"/>
                <a:cs typeface="Arial"/>
              </a:defRPr>
            </a:pPr>
            <a:r>
              <a:rPr sz="1950" b="1">
                <a:solidFill>
                  <a:srgbClr val="087E8B"/>
                </a:solidFill>
                <a:latin typeface="Arial"/>
                <a:ea typeface="Arial"/>
                <a:cs typeface="Arial"/>
              </a:rPr>
              <a:t>Trainable parameters</a:t>
            </a:r>
          </a:p>
        </p:txBody>
      </p:sp>
      <p:sp>
        <p:nvSpPr>
          <p:cNvPr id="5" name="Compact CNN&#10;221,573&#10;&#10;1D ResNet&#10;244,005&#10;&#10;Incep">
            <a:extLst xmlns:a="http://schemas.openxmlformats.org/drawingml/2006/main">
              <a:ext uri="{FF2B5EF4-FFF2-40B4-BE49-F238E27FC236}">
                <a16:creationId xmlns:a16="http://schemas.microsoft.com/office/drawing/2014/main" id="{F2BA7ACE-70D9-4D71-852E-12B7EA89CADC}"/>
              </a:ext>
            </a:extLst>
          </p:cNvPr>
          <p:cNvSpPr>
            <a:spLocks xmlns:a="http://schemas.openxmlformats.org/drawingml/2006/main" noGrp="1"/>
          </p:cNvSpPr>
          <p:nvPr/>
        </p:nvSpPr>
        <p:spPr>
          <a:xfrm xmlns:a="http://schemas.openxmlformats.org/drawingml/2006/main">
            <a:off x="8315325" y="2257425"/>
            <a:ext cx="3190875"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52D3A"/>
                </a:solidFill>
                <a:latin typeface="Arial"/>
                <a:ea typeface="Arial"/>
                <a:cs typeface="Arial"/>
              </a:defRPr>
            </a:defPPr>
            <a:lvl1pPr>
              <a:defRPr sz="1875" b="0">
                <a:solidFill>
                  <a:srgbClr val="152D3A"/>
                </a:solidFill>
                <a:latin typeface="Arial"/>
                <a:ea typeface="Arial"/>
                <a:cs typeface="Arial"/>
              </a:defRPr>
            </a:lvl1pPr>
            <a:lvl2pPr>
              <a:defRPr sz="1875" b="0">
                <a:solidFill>
                  <a:srgbClr val="152D3A"/>
                </a:solidFill>
                <a:latin typeface="Arial"/>
                <a:ea typeface="Arial"/>
                <a:cs typeface="Arial"/>
              </a:defRPr>
            </a:lvl2pPr>
            <a:lvl3pPr>
              <a:defRPr sz="1875" b="0">
                <a:solidFill>
                  <a:srgbClr val="152D3A"/>
                </a:solidFill>
                <a:latin typeface="Arial"/>
                <a:ea typeface="Arial"/>
                <a:cs typeface="Arial"/>
              </a:defRPr>
            </a:lvl3pPr>
            <a:lvl4pPr>
              <a:defRPr sz="1875" b="0">
                <a:solidFill>
                  <a:srgbClr val="152D3A"/>
                </a:solidFill>
                <a:latin typeface="Arial"/>
                <a:ea typeface="Arial"/>
                <a:cs typeface="Arial"/>
              </a:defRPr>
            </a:lvl4pPr>
            <a:lvl5pPr>
              <a:defRPr sz="1875" b="0">
                <a:solidFill>
                  <a:srgbClr val="152D3A"/>
                </a:solidFill>
                <a:latin typeface="Arial"/>
                <a:ea typeface="Arial"/>
                <a:cs typeface="Arial"/>
              </a:defRPr>
            </a:lvl5pPr>
            <a:lvl6pPr>
              <a:defRPr sz="1875" b="0">
                <a:solidFill>
                  <a:srgbClr val="152D3A"/>
                </a:solidFill>
                <a:latin typeface="Arial"/>
                <a:ea typeface="Arial"/>
                <a:cs typeface="Arial"/>
              </a:defRPr>
            </a:lvl6pPr>
            <a:lvl7pPr>
              <a:defRPr sz="1875" b="0">
                <a:solidFill>
                  <a:srgbClr val="152D3A"/>
                </a:solidFill>
                <a:latin typeface="Arial"/>
                <a:ea typeface="Arial"/>
                <a:cs typeface="Arial"/>
              </a:defRPr>
            </a:lvl7pPr>
            <a:lvl8pPr>
              <a:defRPr sz="1875" b="0">
                <a:solidFill>
                  <a:srgbClr val="152D3A"/>
                </a:solidFill>
                <a:latin typeface="Arial"/>
                <a:ea typeface="Arial"/>
                <a:cs typeface="Arial"/>
              </a:defRPr>
            </a:lvl8pPr>
            <a:lvl9pPr>
              <a:defRPr sz="1875" b="0">
                <a:solidFill>
                  <a:srgbClr val="152D3A"/>
                </a:solidFill>
                <a:latin typeface="Arial"/>
                <a:ea typeface="Arial"/>
                <a:cs typeface="Arial"/>
              </a:defRPr>
            </a:lvl9pPr>
          </a:lstStyle>
          <a:p xmlns:a="http://schemas.openxmlformats.org/drawingml/2006/main">
            <a:pPr>
              <a:defRPr sz="1875" b="0">
                <a:solidFill>
                  <a:srgbClr val="152D3A"/>
                </a:solidFill>
                <a:latin typeface="Arial"/>
                <a:ea typeface="Arial"/>
                <a:cs typeface="Arial"/>
              </a:defRPr>
            </a:pPr>
            <a:r>
              <a:rPr sz="1875" b="0">
                <a:solidFill>
                  <a:srgbClr val="152D3A"/>
                </a:solidFill>
                <a:latin typeface="Arial"/>
                <a:ea typeface="Arial"/>
                <a:cs typeface="Arial"/>
              </a:rPr>
              <a:t>Compact CNN</a:t>
            </a:r>
          </a:p>
          <a:p xmlns:a="http://schemas.openxmlformats.org/drawingml/2006/main">
            <a:pPr>
              <a:defRPr sz="1875" b="0">
                <a:solidFill>
                  <a:srgbClr val="152D3A"/>
                </a:solidFill>
                <a:latin typeface="Arial"/>
                <a:ea typeface="Arial"/>
                <a:cs typeface="Arial"/>
              </a:defRPr>
            </a:pPr>
            <a:r>
              <a:rPr sz="1875" b="0">
                <a:solidFill>
                  <a:srgbClr val="152D3A"/>
                </a:solidFill>
                <a:latin typeface="Arial"/>
                <a:ea typeface="Arial"/>
                <a:cs typeface="Arial"/>
              </a:rPr>
              <a:t>221,573</a:t>
            </a:r>
          </a:p>
          <a:p xmlns:a="http://schemas.openxmlformats.org/drawingml/2006/main">
            <a:r>
              <a:t/>
            </a:r>
          </a:p>
          <a:p xmlns:a="http://schemas.openxmlformats.org/drawingml/2006/main">
            <a:pPr>
              <a:defRPr sz="1875" b="0">
                <a:solidFill>
                  <a:srgbClr val="152D3A"/>
                </a:solidFill>
                <a:latin typeface="Arial"/>
                <a:ea typeface="Arial"/>
                <a:cs typeface="Arial"/>
              </a:defRPr>
            </a:pPr>
            <a:r>
              <a:rPr sz="1875" b="0">
                <a:solidFill>
                  <a:srgbClr val="152D3A"/>
                </a:solidFill>
                <a:latin typeface="Arial"/>
                <a:ea typeface="Arial"/>
                <a:cs typeface="Arial"/>
              </a:rPr>
              <a:t>1D ResNet</a:t>
            </a:r>
          </a:p>
          <a:p xmlns:a="http://schemas.openxmlformats.org/drawingml/2006/main">
            <a:pPr>
              <a:defRPr sz="1875" b="0">
                <a:solidFill>
                  <a:srgbClr val="152D3A"/>
                </a:solidFill>
                <a:latin typeface="Arial"/>
                <a:ea typeface="Arial"/>
                <a:cs typeface="Arial"/>
              </a:defRPr>
            </a:pPr>
            <a:r>
              <a:rPr sz="1875" b="0">
                <a:solidFill>
                  <a:srgbClr val="152D3A"/>
                </a:solidFill>
                <a:latin typeface="Arial"/>
                <a:ea typeface="Arial"/>
                <a:cs typeface="Arial"/>
              </a:rPr>
              <a:t>244,005</a:t>
            </a:r>
          </a:p>
          <a:p xmlns:a="http://schemas.openxmlformats.org/drawingml/2006/main">
            <a:r>
              <a:t/>
            </a:r>
          </a:p>
          <a:p xmlns:a="http://schemas.openxmlformats.org/drawingml/2006/main">
            <a:pPr>
              <a:defRPr sz="1875" b="0">
                <a:solidFill>
                  <a:srgbClr val="152D3A"/>
                </a:solidFill>
                <a:latin typeface="Arial"/>
                <a:ea typeface="Arial"/>
                <a:cs typeface="Arial"/>
              </a:defRPr>
            </a:pPr>
            <a:r>
              <a:rPr sz="1875" b="0">
                <a:solidFill>
                  <a:srgbClr val="152D3A"/>
                </a:solidFill>
                <a:latin typeface="Arial"/>
                <a:ea typeface="Arial"/>
                <a:cs typeface="Arial"/>
              </a:rPr>
              <a:t>InceptionTime variant</a:t>
            </a:r>
          </a:p>
          <a:p xmlns:a="http://schemas.openxmlformats.org/drawingml/2006/main">
            <a:pPr>
              <a:defRPr sz="1875" b="0">
                <a:solidFill>
                  <a:srgbClr val="152D3A"/>
                </a:solidFill>
                <a:latin typeface="Arial"/>
                <a:ea typeface="Arial"/>
                <a:cs typeface="Arial"/>
              </a:defRPr>
            </a:pPr>
            <a:r>
              <a:rPr sz="1875" b="0">
                <a:solidFill>
                  <a:srgbClr val="152D3A"/>
                </a:solidFill>
                <a:latin typeface="Arial"/>
                <a:ea typeface="Arial"/>
                <a:cs typeface="Arial"/>
              </a:rPr>
              <a:t>115,729</a:t>
            </a:r>
          </a:p>
        </p:txBody>
      </p:sp>
      <p:sp>
        <p:nvSpPr>
          <p:cNvPr id="6" name="Batch size 1, four CPU threads. Average of ch">
            <a:extLst xmlns:a="http://schemas.openxmlformats.org/drawingml/2006/main">
              <a:ext uri="{FF2B5EF4-FFF2-40B4-BE49-F238E27FC236}">
                <a16:creationId xmlns:a16="http://schemas.microsoft.com/office/drawing/2014/main" id="{1A883F51-779F-41A4-B105-A481FCFC93C7}"/>
              </a:ext>
            </a:extLst>
          </p:cNvPr>
          <p:cNvSpPr>
            <a:spLocks xmlns:a="http://schemas.openxmlformats.org/drawingml/2006/main" noGrp="1"/>
          </p:cNvSpPr>
          <p:nvPr/>
        </p:nvSpPr>
        <p:spPr>
          <a:xfrm xmlns:a="http://schemas.openxmlformats.org/drawingml/2006/main">
            <a:off x="609600" y="59912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775"/>
                </a:solidFill>
                <a:latin typeface="Arial"/>
                <a:ea typeface="Arial"/>
                <a:cs typeface="Arial"/>
              </a:defRPr>
            </a:defPPr>
            <a:lvl1pPr>
              <a:defRPr sz="1275" b="0">
                <a:solidFill>
                  <a:srgbClr val="536775"/>
                </a:solidFill>
                <a:latin typeface="Arial"/>
                <a:ea typeface="Arial"/>
                <a:cs typeface="Arial"/>
              </a:defRPr>
            </a:lvl1pPr>
            <a:lvl2pPr>
              <a:defRPr sz="1275" b="0">
                <a:solidFill>
                  <a:srgbClr val="536775"/>
                </a:solidFill>
                <a:latin typeface="Arial"/>
                <a:ea typeface="Arial"/>
                <a:cs typeface="Arial"/>
              </a:defRPr>
            </a:lvl2pPr>
            <a:lvl3pPr>
              <a:defRPr sz="1275" b="0">
                <a:solidFill>
                  <a:srgbClr val="536775"/>
                </a:solidFill>
                <a:latin typeface="Arial"/>
                <a:ea typeface="Arial"/>
                <a:cs typeface="Arial"/>
              </a:defRPr>
            </a:lvl3pPr>
            <a:lvl4pPr>
              <a:defRPr sz="1275" b="0">
                <a:solidFill>
                  <a:srgbClr val="536775"/>
                </a:solidFill>
                <a:latin typeface="Arial"/>
                <a:ea typeface="Arial"/>
                <a:cs typeface="Arial"/>
              </a:defRPr>
            </a:lvl4pPr>
            <a:lvl5pPr>
              <a:defRPr sz="1275" b="0">
                <a:solidFill>
                  <a:srgbClr val="536775"/>
                </a:solidFill>
                <a:latin typeface="Arial"/>
                <a:ea typeface="Arial"/>
                <a:cs typeface="Arial"/>
              </a:defRPr>
            </a:lvl5pPr>
            <a:lvl6pPr>
              <a:defRPr sz="1275" b="0">
                <a:solidFill>
                  <a:srgbClr val="536775"/>
                </a:solidFill>
                <a:latin typeface="Arial"/>
                <a:ea typeface="Arial"/>
                <a:cs typeface="Arial"/>
              </a:defRPr>
            </a:lvl6pPr>
            <a:lvl7pPr>
              <a:defRPr sz="1275" b="0">
                <a:solidFill>
                  <a:srgbClr val="536775"/>
                </a:solidFill>
                <a:latin typeface="Arial"/>
                <a:ea typeface="Arial"/>
                <a:cs typeface="Arial"/>
              </a:defRPr>
            </a:lvl7pPr>
            <a:lvl8pPr>
              <a:defRPr sz="1275" b="0">
                <a:solidFill>
                  <a:srgbClr val="536775"/>
                </a:solidFill>
                <a:latin typeface="Arial"/>
                <a:ea typeface="Arial"/>
                <a:cs typeface="Arial"/>
              </a:defRPr>
            </a:lvl8pPr>
            <a:lvl9pPr>
              <a:defRPr sz="1275" b="0">
                <a:solidFill>
                  <a:srgbClr val="536775"/>
                </a:solidFill>
                <a:latin typeface="Arial"/>
                <a:ea typeface="Arial"/>
                <a:cs typeface="Arial"/>
              </a:defRPr>
            </a:lvl9pPr>
          </a:lstStyle>
          <a:p xmlns:a="http://schemas.openxmlformats.org/drawingml/2006/main">
            <a:pPr>
              <a:defRPr sz="1275" b="0">
                <a:solidFill>
                  <a:srgbClr val="536775"/>
                </a:solidFill>
                <a:latin typeface="Arial"/>
                <a:ea typeface="Arial"/>
                <a:cs typeface="Arial"/>
              </a:defRPr>
            </a:pPr>
            <a:r>
              <a:rPr sz="1275" b="0">
                <a:solidFill>
                  <a:srgbClr val="536775"/>
                </a:solidFill>
                <a:latin typeface="Arial"/>
                <a:ea typeface="Arial"/>
                <a:cs typeface="Arial"/>
              </a:rPr>
              <a:t>Batch size 1, four CPU threads. Average of checkpoint medians across seeds. Model forward pass only.</a:t>
            </a:r>
          </a:p>
        </p:txBody>
      </p:sp>
    </p:spTree>
    <p:extLst>
      <p:ext uri="{BB962C8B-B14F-4D97-AF65-F5344CB8AC3E}">
        <p14:creationId xmlns:p14="http://schemas.microsoft.com/office/powerpoint/2010/main" val="1191087570"/>
      </p:ext>
    </p:extLst>
  </p:cSld>
</p:sld>
</file>

<file path=ppt/slides/slide11.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Category errors and uncertainty">
            <a:extLst xmlns:a="http://schemas.openxmlformats.org/drawingml/2006/main">
              <a:ext uri="{FF2B5EF4-FFF2-40B4-BE49-F238E27FC236}">
                <a16:creationId xmlns:a16="http://schemas.microsoft.com/office/drawing/2014/main" id="{2CF1851E-5F35-4FD1-9589-3F151327FD83}"/>
              </a:ext>
            </a:extLst>
          </p:cNvPr>
          <p:cNvSpPr>
            <a:spLocks xmlns:a="http://schemas.openxmlformats.org/drawingml/2006/main" noGrp="1"/>
          </p:cNvSpPr>
          <p:nvPr/>
        </p:nvSpPr>
        <p:spPr>
          <a:xfrm xmlns:a="http://schemas.openxmlformats.org/drawingml/2006/main">
            <a:off x="609600" y="40005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D3A"/>
                </a:solidFill>
                <a:latin typeface="Arial"/>
                <a:ea typeface="Arial"/>
                <a:cs typeface="Arial"/>
              </a:defRPr>
            </a:defPPr>
            <a:lvl1pPr>
              <a:defRPr sz="3150" b="1">
                <a:solidFill>
                  <a:srgbClr val="152D3A"/>
                </a:solidFill>
                <a:latin typeface="Arial"/>
                <a:ea typeface="Arial"/>
                <a:cs typeface="Arial"/>
              </a:defRPr>
            </a:lvl1pPr>
            <a:lvl2pPr>
              <a:defRPr sz="3150" b="1">
                <a:solidFill>
                  <a:srgbClr val="152D3A"/>
                </a:solidFill>
                <a:latin typeface="Arial"/>
                <a:ea typeface="Arial"/>
                <a:cs typeface="Arial"/>
              </a:defRPr>
            </a:lvl2pPr>
            <a:lvl3pPr>
              <a:defRPr sz="3150" b="1">
                <a:solidFill>
                  <a:srgbClr val="152D3A"/>
                </a:solidFill>
                <a:latin typeface="Arial"/>
                <a:ea typeface="Arial"/>
                <a:cs typeface="Arial"/>
              </a:defRPr>
            </a:lvl3pPr>
            <a:lvl4pPr>
              <a:defRPr sz="3150" b="1">
                <a:solidFill>
                  <a:srgbClr val="152D3A"/>
                </a:solidFill>
                <a:latin typeface="Arial"/>
                <a:ea typeface="Arial"/>
                <a:cs typeface="Arial"/>
              </a:defRPr>
            </a:lvl4pPr>
            <a:lvl5pPr>
              <a:defRPr sz="3150" b="1">
                <a:solidFill>
                  <a:srgbClr val="152D3A"/>
                </a:solidFill>
                <a:latin typeface="Arial"/>
                <a:ea typeface="Arial"/>
                <a:cs typeface="Arial"/>
              </a:defRPr>
            </a:lvl5pPr>
            <a:lvl6pPr>
              <a:defRPr sz="3150" b="1">
                <a:solidFill>
                  <a:srgbClr val="152D3A"/>
                </a:solidFill>
                <a:latin typeface="Arial"/>
                <a:ea typeface="Arial"/>
                <a:cs typeface="Arial"/>
              </a:defRPr>
            </a:lvl6pPr>
            <a:lvl7pPr>
              <a:defRPr sz="3150" b="1">
                <a:solidFill>
                  <a:srgbClr val="152D3A"/>
                </a:solidFill>
                <a:latin typeface="Arial"/>
                <a:ea typeface="Arial"/>
                <a:cs typeface="Arial"/>
              </a:defRPr>
            </a:lvl7pPr>
            <a:lvl8pPr>
              <a:defRPr sz="3150" b="1">
                <a:solidFill>
                  <a:srgbClr val="152D3A"/>
                </a:solidFill>
                <a:latin typeface="Arial"/>
                <a:ea typeface="Arial"/>
                <a:cs typeface="Arial"/>
              </a:defRPr>
            </a:lvl8pPr>
            <a:lvl9pPr>
              <a:defRPr sz="3150" b="1">
                <a:solidFill>
                  <a:srgbClr val="152D3A"/>
                </a:solidFill>
                <a:latin typeface="Arial"/>
                <a:ea typeface="Arial"/>
                <a:cs typeface="Arial"/>
              </a:defRPr>
            </a:lvl9pPr>
          </a:lstStyle>
          <a:p xmlns:a="http://schemas.openxmlformats.org/drawingml/2006/main">
            <a:pPr>
              <a:defRPr sz="3150" b="1">
                <a:solidFill>
                  <a:srgbClr val="152D3A"/>
                </a:solidFill>
                <a:latin typeface="Arial"/>
                <a:ea typeface="Arial"/>
                <a:cs typeface="Arial"/>
              </a:defRPr>
            </a:pPr>
            <a:r>
              <a:rPr sz="3150" b="1">
                <a:solidFill>
                  <a:srgbClr val="152D3A"/>
                </a:solidFill>
                <a:latin typeface="Arial"/>
                <a:ea typeface="Arial"/>
                <a:cs typeface="Arial"/>
              </a:rPr>
              <a:t>Category errors and uncertainty</a:t>
            </a:r>
          </a:p>
        </p:txBody>
      </p:sp>
      <p:sp>
        <p:nvSpPr>
          <p:cNvPr id="2" name="11">
            <a:extLst xmlns:a="http://schemas.openxmlformats.org/drawingml/2006/main">
              <a:ext uri="{FF2B5EF4-FFF2-40B4-BE49-F238E27FC236}">
                <a16:creationId xmlns:a16="http://schemas.microsoft.com/office/drawing/2014/main" id="{BC4BACA7-E254-43FB-ACD4-FEC92845D724}"/>
              </a:ext>
            </a:extLst>
          </p:cNvPr>
          <p:cNvSpPr>
            <a:spLocks xmlns:a="http://schemas.openxmlformats.org/drawingml/2006/main" noGrp="1"/>
          </p:cNvSpPr>
          <p:nvPr/>
        </p:nvSpPr>
        <p:spPr>
          <a:xfrm xmlns:a="http://schemas.openxmlformats.org/drawingml/2006/main">
            <a:off x="11144250" y="63817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775"/>
                </a:solidFill>
                <a:latin typeface="Arial"/>
                <a:ea typeface="Arial"/>
                <a:cs typeface="Arial"/>
              </a:defRPr>
            </a:defPPr>
            <a:lvl1pPr>
              <a:defRPr sz="1200" b="0">
                <a:solidFill>
                  <a:srgbClr val="536775"/>
                </a:solidFill>
                <a:latin typeface="Arial"/>
                <a:ea typeface="Arial"/>
                <a:cs typeface="Arial"/>
              </a:defRPr>
            </a:lvl1pPr>
            <a:lvl2pPr>
              <a:defRPr sz="1200" b="0">
                <a:solidFill>
                  <a:srgbClr val="536775"/>
                </a:solidFill>
                <a:latin typeface="Arial"/>
                <a:ea typeface="Arial"/>
                <a:cs typeface="Arial"/>
              </a:defRPr>
            </a:lvl2pPr>
            <a:lvl3pPr>
              <a:defRPr sz="1200" b="0">
                <a:solidFill>
                  <a:srgbClr val="536775"/>
                </a:solidFill>
                <a:latin typeface="Arial"/>
                <a:ea typeface="Arial"/>
                <a:cs typeface="Arial"/>
              </a:defRPr>
            </a:lvl3pPr>
            <a:lvl4pPr>
              <a:defRPr sz="1200" b="0">
                <a:solidFill>
                  <a:srgbClr val="536775"/>
                </a:solidFill>
                <a:latin typeface="Arial"/>
                <a:ea typeface="Arial"/>
                <a:cs typeface="Arial"/>
              </a:defRPr>
            </a:lvl4pPr>
            <a:lvl5pPr>
              <a:defRPr sz="1200" b="0">
                <a:solidFill>
                  <a:srgbClr val="536775"/>
                </a:solidFill>
                <a:latin typeface="Arial"/>
                <a:ea typeface="Arial"/>
                <a:cs typeface="Arial"/>
              </a:defRPr>
            </a:lvl5pPr>
            <a:lvl6pPr>
              <a:defRPr sz="1200" b="0">
                <a:solidFill>
                  <a:srgbClr val="536775"/>
                </a:solidFill>
                <a:latin typeface="Arial"/>
                <a:ea typeface="Arial"/>
                <a:cs typeface="Arial"/>
              </a:defRPr>
            </a:lvl6pPr>
            <a:lvl7pPr>
              <a:defRPr sz="1200" b="0">
                <a:solidFill>
                  <a:srgbClr val="536775"/>
                </a:solidFill>
                <a:latin typeface="Arial"/>
                <a:ea typeface="Arial"/>
                <a:cs typeface="Arial"/>
              </a:defRPr>
            </a:lvl7pPr>
            <a:lvl8pPr>
              <a:defRPr sz="1200" b="0">
                <a:solidFill>
                  <a:srgbClr val="536775"/>
                </a:solidFill>
                <a:latin typeface="Arial"/>
                <a:ea typeface="Arial"/>
                <a:cs typeface="Arial"/>
              </a:defRPr>
            </a:lvl8pPr>
            <a:lvl9pPr>
              <a:defRPr sz="1200" b="0">
                <a:solidFill>
                  <a:srgbClr val="536775"/>
                </a:solidFill>
                <a:latin typeface="Arial"/>
                <a:ea typeface="Arial"/>
                <a:cs typeface="Arial"/>
              </a:defRPr>
            </a:lvl9pPr>
          </a:lstStyle>
          <a:p xmlns:a="http://schemas.openxmlformats.org/drawingml/2006/main">
            <a:pPr>
              <a:defRPr sz="1200" b="0">
                <a:solidFill>
                  <a:srgbClr val="536775"/>
                </a:solidFill>
                <a:latin typeface="Arial"/>
                <a:ea typeface="Arial"/>
                <a:cs typeface="Arial"/>
              </a:defRPr>
            </a:pPr>
            <a:r>
              <a:rPr sz="1200" b="0">
                <a:solidFill>
                  <a:srgbClr val="536775"/>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AF38A5D6-8F51-435D-840C-C0E2A16A2E19}"/>
              </a:ext>
            </a:extLst>
          </p:cNvPr>
          <p:cNvPicPr>
            <a:picLocks xmlns:a="http://schemas.openxmlformats.org/drawingml/2006/main" noChangeAspect="1"/>
          </p:cNvPicPr>
          <p:nvPr/>
        </p:nvPicPr>
        <p:blipFill>
          <a:blip xmlns:r="http://schemas.openxmlformats.org/officeDocument/2006/relationships" xmlns:a="http://schemas.openxmlformats.org/drawingml/2006/main" r:embed="R07680940b5dc40d6"/>
          <a:stretch xmlns:a="http://schemas.openxmlformats.org/drawingml/2006/main"/>
        </p:blipFill>
        <p:spPr>
          <a:xfrm xmlns:a="http://schemas.openxmlformats.org/drawingml/2006/main">
            <a:off x="850815" y="1276350"/>
            <a:ext cx="5918369" cy="4371975"/>
          </a:xfrm>
          <a:prstGeom xmlns:a="http://schemas.openxmlformats.org/drawingml/2006/main" prst="rect">
            <a:avLst/>
          </a:prstGeom>
        </p:spPr>
      </p:pic>
      <p:sp>
        <p:nvSpPr>
          <p:cNvPr id="4" name="Hypertrophy is harder">
            <a:extLst xmlns:a="http://schemas.openxmlformats.org/drawingml/2006/main">
              <a:ext uri="{FF2B5EF4-FFF2-40B4-BE49-F238E27FC236}">
                <a16:creationId xmlns:a16="http://schemas.microsoft.com/office/drawing/2014/main" id="{F46CE846-A5FE-40EB-8778-6D6455D3FC5F}"/>
              </a:ext>
            </a:extLst>
          </p:cNvPr>
          <p:cNvSpPr>
            <a:spLocks xmlns:a="http://schemas.openxmlformats.org/drawingml/2006/main" noGrp="1"/>
          </p:cNvSpPr>
          <p:nvPr/>
        </p:nvSpPr>
        <p:spPr>
          <a:xfrm xmlns:a="http://schemas.openxmlformats.org/drawingml/2006/main">
            <a:off x="7591425" y="1476375"/>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87E8B"/>
                </a:solidFill>
                <a:latin typeface="Arial"/>
                <a:ea typeface="Arial"/>
                <a:cs typeface="Arial"/>
              </a:defRPr>
            </a:defPPr>
            <a:lvl1pPr>
              <a:defRPr sz="2250" b="1">
                <a:solidFill>
                  <a:srgbClr val="087E8B"/>
                </a:solidFill>
                <a:latin typeface="Arial"/>
                <a:ea typeface="Arial"/>
                <a:cs typeface="Arial"/>
              </a:defRPr>
            </a:lvl1pPr>
            <a:lvl2pPr>
              <a:defRPr sz="2250" b="1">
                <a:solidFill>
                  <a:srgbClr val="087E8B"/>
                </a:solidFill>
                <a:latin typeface="Arial"/>
                <a:ea typeface="Arial"/>
                <a:cs typeface="Arial"/>
              </a:defRPr>
            </a:lvl2pPr>
            <a:lvl3pPr>
              <a:defRPr sz="2250" b="1">
                <a:solidFill>
                  <a:srgbClr val="087E8B"/>
                </a:solidFill>
                <a:latin typeface="Arial"/>
                <a:ea typeface="Arial"/>
                <a:cs typeface="Arial"/>
              </a:defRPr>
            </a:lvl3pPr>
            <a:lvl4pPr>
              <a:defRPr sz="2250" b="1">
                <a:solidFill>
                  <a:srgbClr val="087E8B"/>
                </a:solidFill>
                <a:latin typeface="Arial"/>
                <a:ea typeface="Arial"/>
                <a:cs typeface="Arial"/>
              </a:defRPr>
            </a:lvl4pPr>
            <a:lvl5pPr>
              <a:defRPr sz="2250" b="1">
                <a:solidFill>
                  <a:srgbClr val="087E8B"/>
                </a:solidFill>
                <a:latin typeface="Arial"/>
                <a:ea typeface="Arial"/>
                <a:cs typeface="Arial"/>
              </a:defRPr>
            </a:lvl5pPr>
            <a:lvl6pPr>
              <a:defRPr sz="2250" b="1">
                <a:solidFill>
                  <a:srgbClr val="087E8B"/>
                </a:solidFill>
                <a:latin typeface="Arial"/>
                <a:ea typeface="Arial"/>
                <a:cs typeface="Arial"/>
              </a:defRPr>
            </a:lvl6pPr>
            <a:lvl7pPr>
              <a:defRPr sz="2250" b="1">
                <a:solidFill>
                  <a:srgbClr val="087E8B"/>
                </a:solidFill>
                <a:latin typeface="Arial"/>
                <a:ea typeface="Arial"/>
                <a:cs typeface="Arial"/>
              </a:defRPr>
            </a:lvl7pPr>
            <a:lvl8pPr>
              <a:defRPr sz="2250" b="1">
                <a:solidFill>
                  <a:srgbClr val="087E8B"/>
                </a:solidFill>
                <a:latin typeface="Arial"/>
                <a:ea typeface="Arial"/>
                <a:cs typeface="Arial"/>
              </a:defRPr>
            </a:lvl8pPr>
            <a:lvl9pPr>
              <a:defRPr sz="2250" b="1">
                <a:solidFill>
                  <a:srgbClr val="087E8B"/>
                </a:solidFill>
                <a:latin typeface="Arial"/>
                <a:ea typeface="Arial"/>
                <a:cs typeface="Arial"/>
              </a:defRPr>
            </a:lvl9pPr>
          </a:lstStyle>
          <a:p xmlns:a="http://schemas.openxmlformats.org/drawingml/2006/main">
            <a:pPr>
              <a:defRPr sz="2250" b="1">
                <a:solidFill>
                  <a:srgbClr val="087E8B"/>
                </a:solidFill>
                <a:latin typeface="Arial"/>
                <a:ea typeface="Arial"/>
                <a:cs typeface="Arial"/>
              </a:defRPr>
            </a:pPr>
            <a:r>
              <a:rPr sz="2250" b="1">
                <a:solidFill>
                  <a:srgbClr val="087E8B"/>
                </a:solidFill>
                <a:latin typeface="Arial"/>
                <a:ea typeface="Arial"/>
                <a:cs typeface="Arial"/>
              </a:rPr>
              <a:t>Hypertrophy is harder</a:t>
            </a:r>
          </a:p>
        </p:txBody>
      </p:sp>
      <p:sp>
        <p:nvSpPr>
          <p:cNvPr id="5" name="HYP F1: 0.592&#10;HYP recall: 0.615&#10;262 positive ">
            <a:extLst xmlns:a="http://schemas.openxmlformats.org/drawingml/2006/main">
              <a:ext uri="{FF2B5EF4-FFF2-40B4-BE49-F238E27FC236}">
                <a16:creationId xmlns:a16="http://schemas.microsoft.com/office/drawing/2014/main" id="{D2B367ED-BD8E-4B5A-8C15-A157CBA7FC42}"/>
              </a:ext>
            </a:extLst>
          </p:cNvPr>
          <p:cNvSpPr>
            <a:spLocks xmlns:a="http://schemas.openxmlformats.org/drawingml/2006/main" noGrp="1"/>
          </p:cNvSpPr>
          <p:nvPr/>
        </p:nvSpPr>
        <p:spPr>
          <a:xfrm xmlns:a="http://schemas.openxmlformats.org/drawingml/2006/main">
            <a:off x="7591425" y="2133600"/>
            <a:ext cx="3905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D3A"/>
                </a:solidFill>
                <a:latin typeface="Arial"/>
                <a:ea typeface="Arial"/>
                <a:cs typeface="Arial"/>
              </a:defRPr>
            </a:defPPr>
            <a:lvl1pPr>
              <a:defRPr sz="2100" b="0">
                <a:solidFill>
                  <a:srgbClr val="152D3A"/>
                </a:solidFill>
                <a:latin typeface="Arial"/>
                <a:ea typeface="Arial"/>
                <a:cs typeface="Arial"/>
              </a:defRPr>
            </a:lvl1pPr>
            <a:lvl2pPr>
              <a:defRPr sz="2100" b="0">
                <a:solidFill>
                  <a:srgbClr val="152D3A"/>
                </a:solidFill>
                <a:latin typeface="Arial"/>
                <a:ea typeface="Arial"/>
                <a:cs typeface="Arial"/>
              </a:defRPr>
            </a:lvl2pPr>
            <a:lvl3pPr>
              <a:defRPr sz="2100" b="0">
                <a:solidFill>
                  <a:srgbClr val="152D3A"/>
                </a:solidFill>
                <a:latin typeface="Arial"/>
                <a:ea typeface="Arial"/>
                <a:cs typeface="Arial"/>
              </a:defRPr>
            </a:lvl3pPr>
            <a:lvl4pPr>
              <a:defRPr sz="2100" b="0">
                <a:solidFill>
                  <a:srgbClr val="152D3A"/>
                </a:solidFill>
                <a:latin typeface="Arial"/>
                <a:ea typeface="Arial"/>
                <a:cs typeface="Arial"/>
              </a:defRPr>
            </a:lvl4pPr>
            <a:lvl5pPr>
              <a:defRPr sz="2100" b="0">
                <a:solidFill>
                  <a:srgbClr val="152D3A"/>
                </a:solidFill>
                <a:latin typeface="Arial"/>
                <a:ea typeface="Arial"/>
                <a:cs typeface="Arial"/>
              </a:defRPr>
            </a:lvl5pPr>
            <a:lvl6pPr>
              <a:defRPr sz="2100" b="0">
                <a:solidFill>
                  <a:srgbClr val="152D3A"/>
                </a:solidFill>
                <a:latin typeface="Arial"/>
                <a:ea typeface="Arial"/>
                <a:cs typeface="Arial"/>
              </a:defRPr>
            </a:lvl6pPr>
            <a:lvl7pPr>
              <a:defRPr sz="2100" b="0">
                <a:solidFill>
                  <a:srgbClr val="152D3A"/>
                </a:solidFill>
                <a:latin typeface="Arial"/>
                <a:ea typeface="Arial"/>
                <a:cs typeface="Arial"/>
              </a:defRPr>
            </a:lvl7pPr>
            <a:lvl8pPr>
              <a:defRPr sz="2100" b="0">
                <a:solidFill>
                  <a:srgbClr val="152D3A"/>
                </a:solidFill>
                <a:latin typeface="Arial"/>
                <a:ea typeface="Arial"/>
                <a:cs typeface="Arial"/>
              </a:defRPr>
            </a:lvl8pPr>
            <a:lvl9pPr>
              <a:defRPr sz="2100" b="0">
                <a:solidFill>
                  <a:srgbClr val="152D3A"/>
                </a:solidFill>
                <a:latin typeface="Arial"/>
                <a:ea typeface="Arial"/>
                <a:cs typeface="Arial"/>
              </a:defRPr>
            </a:lvl9pPr>
          </a:lstStyle>
          <a:p xmlns:a="http://schemas.openxmlformats.org/drawingml/2006/main">
            <a:pPr>
              <a:defRPr sz="2100" b="0">
                <a:solidFill>
                  <a:srgbClr val="152D3A"/>
                </a:solidFill>
                <a:latin typeface="Arial"/>
                <a:ea typeface="Arial"/>
                <a:cs typeface="Arial"/>
              </a:defRPr>
            </a:pPr>
            <a:r>
              <a:rPr sz="2100" b="0">
                <a:solidFill>
                  <a:srgbClr val="152D3A"/>
                </a:solidFill>
                <a:latin typeface="Arial"/>
                <a:ea typeface="Arial"/>
                <a:cs typeface="Arial"/>
              </a:rPr>
              <a:t>HYP F1: 0.592</a:t>
            </a:r>
          </a:p>
          <a:p xmlns:a="http://schemas.openxmlformats.org/drawingml/2006/main">
            <a:pPr>
              <a:defRPr sz="2100" b="0">
                <a:solidFill>
                  <a:srgbClr val="152D3A"/>
                </a:solidFill>
                <a:latin typeface="Arial"/>
                <a:ea typeface="Arial"/>
                <a:cs typeface="Arial"/>
              </a:defRPr>
            </a:pPr>
            <a:r>
              <a:rPr sz="2100" b="0">
                <a:solidFill>
                  <a:srgbClr val="152D3A"/>
                </a:solidFill>
                <a:latin typeface="Arial"/>
                <a:ea typeface="Arial"/>
                <a:cs typeface="Arial"/>
              </a:rPr>
              <a:t>HYP recall: 0.615</a:t>
            </a:r>
          </a:p>
          <a:p xmlns:a="http://schemas.openxmlformats.org/drawingml/2006/main">
            <a:pPr>
              <a:defRPr sz="2100" b="0">
                <a:solidFill>
                  <a:srgbClr val="152D3A"/>
                </a:solidFill>
                <a:latin typeface="Arial"/>
                <a:ea typeface="Arial"/>
                <a:cs typeface="Arial"/>
              </a:defRPr>
            </a:pPr>
            <a:r>
              <a:rPr sz="2100" b="0">
                <a:solidFill>
                  <a:srgbClr val="152D3A"/>
                </a:solidFill>
                <a:latin typeface="Arial"/>
                <a:ea typeface="Arial"/>
                <a:cs typeface="Arial"/>
              </a:rPr>
              <a:t>262 positive test labels</a:t>
            </a:r>
          </a:p>
        </p:txBody>
      </p:sp>
      <p:sp>
        <p:nvSpPr>
          <p:cNvPr id="6" name="Selected checkpoint AUROC&#10;0.9178&#10;95% patient-">
            <a:extLst xmlns:a="http://schemas.openxmlformats.org/drawingml/2006/main">
              <a:ext uri="{FF2B5EF4-FFF2-40B4-BE49-F238E27FC236}">
                <a16:creationId xmlns:a16="http://schemas.microsoft.com/office/drawing/2014/main" id="{17F6CF21-F7EE-410D-9C2B-51361BD7B520}"/>
              </a:ext>
            </a:extLst>
          </p:cNvPr>
          <p:cNvSpPr>
            <a:spLocks xmlns:a="http://schemas.openxmlformats.org/drawingml/2006/main" noGrp="1"/>
          </p:cNvSpPr>
          <p:nvPr/>
        </p:nvSpPr>
        <p:spPr>
          <a:xfrm xmlns:a="http://schemas.openxmlformats.org/drawingml/2006/main">
            <a:off x="7591425" y="3895725"/>
            <a:ext cx="390525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D3A"/>
                </a:solidFill>
                <a:latin typeface="Arial"/>
                <a:ea typeface="Arial"/>
                <a:cs typeface="Arial"/>
              </a:defRPr>
            </a:defPPr>
            <a:lvl1pPr>
              <a:defRPr sz="1950" b="0">
                <a:solidFill>
                  <a:srgbClr val="152D3A"/>
                </a:solidFill>
                <a:latin typeface="Arial"/>
                <a:ea typeface="Arial"/>
                <a:cs typeface="Arial"/>
              </a:defRPr>
            </a:lvl1pPr>
            <a:lvl2pPr>
              <a:defRPr sz="1950" b="0">
                <a:solidFill>
                  <a:srgbClr val="152D3A"/>
                </a:solidFill>
                <a:latin typeface="Arial"/>
                <a:ea typeface="Arial"/>
                <a:cs typeface="Arial"/>
              </a:defRPr>
            </a:lvl2pPr>
            <a:lvl3pPr>
              <a:defRPr sz="1950" b="0">
                <a:solidFill>
                  <a:srgbClr val="152D3A"/>
                </a:solidFill>
                <a:latin typeface="Arial"/>
                <a:ea typeface="Arial"/>
                <a:cs typeface="Arial"/>
              </a:defRPr>
            </a:lvl3pPr>
            <a:lvl4pPr>
              <a:defRPr sz="1950" b="0">
                <a:solidFill>
                  <a:srgbClr val="152D3A"/>
                </a:solidFill>
                <a:latin typeface="Arial"/>
                <a:ea typeface="Arial"/>
                <a:cs typeface="Arial"/>
              </a:defRPr>
            </a:lvl4pPr>
            <a:lvl5pPr>
              <a:defRPr sz="1950" b="0">
                <a:solidFill>
                  <a:srgbClr val="152D3A"/>
                </a:solidFill>
                <a:latin typeface="Arial"/>
                <a:ea typeface="Arial"/>
                <a:cs typeface="Arial"/>
              </a:defRPr>
            </a:lvl5pPr>
            <a:lvl6pPr>
              <a:defRPr sz="1950" b="0">
                <a:solidFill>
                  <a:srgbClr val="152D3A"/>
                </a:solidFill>
                <a:latin typeface="Arial"/>
                <a:ea typeface="Arial"/>
                <a:cs typeface="Arial"/>
              </a:defRPr>
            </a:lvl6pPr>
            <a:lvl7pPr>
              <a:defRPr sz="1950" b="0">
                <a:solidFill>
                  <a:srgbClr val="152D3A"/>
                </a:solidFill>
                <a:latin typeface="Arial"/>
                <a:ea typeface="Arial"/>
                <a:cs typeface="Arial"/>
              </a:defRPr>
            </a:lvl7pPr>
            <a:lvl8pPr>
              <a:defRPr sz="1950" b="0">
                <a:solidFill>
                  <a:srgbClr val="152D3A"/>
                </a:solidFill>
                <a:latin typeface="Arial"/>
                <a:ea typeface="Arial"/>
                <a:cs typeface="Arial"/>
              </a:defRPr>
            </a:lvl8pPr>
            <a:lvl9pPr>
              <a:defRPr sz="1950" b="0">
                <a:solidFill>
                  <a:srgbClr val="152D3A"/>
                </a:solidFill>
                <a:latin typeface="Arial"/>
                <a:ea typeface="Arial"/>
                <a:cs typeface="Arial"/>
              </a:defRPr>
            </a:lvl9pPr>
          </a:lstStyle>
          <a:p xmlns:a="http://schemas.openxmlformats.org/drawingml/2006/main">
            <a:pPr>
              <a:defRPr sz="1950" b="0">
                <a:solidFill>
                  <a:srgbClr val="152D3A"/>
                </a:solidFill>
                <a:latin typeface="Arial"/>
                <a:ea typeface="Arial"/>
                <a:cs typeface="Arial"/>
              </a:defRPr>
            </a:pPr>
            <a:r>
              <a:rPr sz="1950" b="0">
                <a:solidFill>
                  <a:srgbClr val="152D3A"/>
                </a:solidFill>
                <a:latin typeface="Arial"/>
                <a:ea typeface="Arial"/>
                <a:cs typeface="Arial"/>
              </a:rPr>
              <a:t>Selected checkpoint AUROC</a:t>
            </a:r>
          </a:p>
          <a:p xmlns:a="http://schemas.openxmlformats.org/drawingml/2006/main">
            <a:pPr>
              <a:defRPr sz="1950" b="0">
                <a:solidFill>
                  <a:srgbClr val="152D3A"/>
                </a:solidFill>
                <a:latin typeface="Arial"/>
                <a:ea typeface="Arial"/>
                <a:cs typeface="Arial"/>
              </a:defRPr>
            </a:pPr>
            <a:r>
              <a:rPr sz="1950" b="0">
                <a:solidFill>
                  <a:srgbClr val="152D3A"/>
                </a:solidFill>
                <a:latin typeface="Arial"/>
                <a:ea typeface="Arial"/>
                <a:cs typeface="Arial"/>
              </a:rPr>
              <a:t>0.9178</a:t>
            </a:r>
          </a:p>
          <a:p xmlns:a="http://schemas.openxmlformats.org/drawingml/2006/main">
            <a:pPr>
              <a:defRPr sz="1950" b="0">
                <a:solidFill>
                  <a:srgbClr val="152D3A"/>
                </a:solidFill>
                <a:latin typeface="Arial"/>
                <a:ea typeface="Arial"/>
                <a:cs typeface="Arial"/>
              </a:defRPr>
            </a:pPr>
            <a:r>
              <a:rPr sz="1950" b="0">
                <a:solidFill>
                  <a:srgbClr val="152D3A"/>
                </a:solidFill>
                <a:latin typeface="Arial"/>
                <a:ea typeface="Arial"/>
                <a:cs typeface="Arial"/>
              </a:rPr>
              <a:t>95% patient-bootstrap interval</a:t>
            </a:r>
          </a:p>
          <a:p xmlns:a="http://schemas.openxmlformats.org/drawingml/2006/main">
            <a:pPr>
              <a:defRPr sz="1950" b="0">
                <a:solidFill>
                  <a:srgbClr val="152D3A"/>
                </a:solidFill>
                <a:latin typeface="Arial"/>
                <a:ea typeface="Arial"/>
                <a:cs typeface="Arial"/>
              </a:defRPr>
            </a:pPr>
            <a:r>
              <a:rPr sz="1950" b="0">
                <a:solidFill>
                  <a:srgbClr val="152D3A"/>
                </a:solidFill>
                <a:latin typeface="Arial"/>
                <a:ea typeface="Arial"/>
                <a:cs typeface="Arial"/>
              </a:rPr>
              <a:t>0.9099–0.9253</a:t>
            </a:r>
          </a:p>
        </p:txBody>
      </p:sp>
      <p:sp>
        <p:nvSpPr>
          <p:cNvPr id="7" name="Precision–recall curves and category scores u">
            <a:extLst xmlns:a="http://schemas.openxmlformats.org/drawingml/2006/main">
              <a:ext uri="{FF2B5EF4-FFF2-40B4-BE49-F238E27FC236}">
                <a16:creationId xmlns:a16="http://schemas.microsoft.com/office/drawing/2014/main" id="{640D6EE3-A4EC-4A01-91D6-CF989BD9C429}"/>
              </a:ext>
            </a:extLst>
          </p:cNvPr>
          <p:cNvSpPr>
            <a:spLocks xmlns:a="http://schemas.openxmlformats.org/drawingml/2006/main" noGrp="1"/>
          </p:cNvSpPr>
          <p:nvPr/>
        </p:nvSpPr>
        <p:spPr>
          <a:xfrm xmlns:a="http://schemas.openxmlformats.org/drawingml/2006/main">
            <a:off x="609600" y="59912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775"/>
                </a:solidFill>
                <a:latin typeface="Arial"/>
                <a:ea typeface="Arial"/>
                <a:cs typeface="Arial"/>
              </a:defRPr>
            </a:defPPr>
            <a:lvl1pPr>
              <a:defRPr sz="1275" b="0">
                <a:solidFill>
                  <a:srgbClr val="536775"/>
                </a:solidFill>
                <a:latin typeface="Arial"/>
                <a:ea typeface="Arial"/>
                <a:cs typeface="Arial"/>
              </a:defRPr>
            </a:lvl1pPr>
            <a:lvl2pPr>
              <a:defRPr sz="1275" b="0">
                <a:solidFill>
                  <a:srgbClr val="536775"/>
                </a:solidFill>
                <a:latin typeface="Arial"/>
                <a:ea typeface="Arial"/>
                <a:cs typeface="Arial"/>
              </a:defRPr>
            </a:lvl2pPr>
            <a:lvl3pPr>
              <a:defRPr sz="1275" b="0">
                <a:solidFill>
                  <a:srgbClr val="536775"/>
                </a:solidFill>
                <a:latin typeface="Arial"/>
                <a:ea typeface="Arial"/>
                <a:cs typeface="Arial"/>
              </a:defRPr>
            </a:lvl3pPr>
            <a:lvl4pPr>
              <a:defRPr sz="1275" b="0">
                <a:solidFill>
                  <a:srgbClr val="536775"/>
                </a:solidFill>
                <a:latin typeface="Arial"/>
                <a:ea typeface="Arial"/>
                <a:cs typeface="Arial"/>
              </a:defRPr>
            </a:lvl4pPr>
            <a:lvl5pPr>
              <a:defRPr sz="1275" b="0">
                <a:solidFill>
                  <a:srgbClr val="536775"/>
                </a:solidFill>
                <a:latin typeface="Arial"/>
                <a:ea typeface="Arial"/>
                <a:cs typeface="Arial"/>
              </a:defRPr>
            </a:lvl5pPr>
            <a:lvl6pPr>
              <a:defRPr sz="1275" b="0">
                <a:solidFill>
                  <a:srgbClr val="536775"/>
                </a:solidFill>
                <a:latin typeface="Arial"/>
                <a:ea typeface="Arial"/>
                <a:cs typeface="Arial"/>
              </a:defRPr>
            </a:lvl6pPr>
            <a:lvl7pPr>
              <a:defRPr sz="1275" b="0">
                <a:solidFill>
                  <a:srgbClr val="536775"/>
                </a:solidFill>
                <a:latin typeface="Arial"/>
                <a:ea typeface="Arial"/>
                <a:cs typeface="Arial"/>
              </a:defRPr>
            </a:lvl7pPr>
            <a:lvl8pPr>
              <a:defRPr sz="1275" b="0">
                <a:solidFill>
                  <a:srgbClr val="536775"/>
                </a:solidFill>
                <a:latin typeface="Arial"/>
                <a:ea typeface="Arial"/>
                <a:cs typeface="Arial"/>
              </a:defRPr>
            </a:lvl8pPr>
            <a:lvl9pPr>
              <a:defRPr sz="1275" b="0">
                <a:solidFill>
                  <a:srgbClr val="536775"/>
                </a:solidFill>
                <a:latin typeface="Arial"/>
                <a:ea typeface="Arial"/>
                <a:cs typeface="Arial"/>
              </a:defRPr>
            </a:lvl9pPr>
          </a:lstStyle>
          <a:p xmlns:a="http://schemas.openxmlformats.org/drawingml/2006/main">
            <a:pPr>
              <a:defRPr sz="1275" b="0">
                <a:solidFill>
                  <a:srgbClr val="536775"/>
                </a:solidFill>
                <a:latin typeface="Arial"/>
                <a:ea typeface="Arial"/>
                <a:cs typeface="Arial"/>
              </a:defRPr>
            </a:pPr>
            <a:r>
              <a:rPr sz="1275" b="0">
                <a:solidFill>
                  <a:srgbClr val="536775"/>
                </a:solidFill>
                <a:latin typeface="Arial"/>
                <a:ea typeface="Arial"/>
                <a:cs typeface="Arial"/>
              </a:rPr>
              <a:t>Precision–recall curves and category scores use the selected weighted compact CNN, seed 42.</a:t>
            </a:r>
          </a:p>
        </p:txBody>
      </p:sp>
    </p:spTree>
    <p:extLst>
      <p:ext uri="{BB962C8B-B14F-4D97-AF65-F5344CB8AC3E}">
        <p14:creationId xmlns:p14="http://schemas.microsoft.com/office/powerpoint/2010/main" val="1679728538"/>
      </p:ext>
    </p:extLst>
  </p:cSld>
</p:sld>
</file>

<file path=ppt/slides/slide12.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Occlusion responses for an MI example">
            <a:extLst xmlns:a="http://schemas.openxmlformats.org/drawingml/2006/main">
              <a:ext uri="{FF2B5EF4-FFF2-40B4-BE49-F238E27FC236}">
                <a16:creationId xmlns:a16="http://schemas.microsoft.com/office/drawing/2014/main" id="{6378F717-FE1D-473A-AAAE-C9867C4B7CD6}"/>
              </a:ext>
            </a:extLst>
          </p:cNvPr>
          <p:cNvSpPr>
            <a:spLocks xmlns:a="http://schemas.openxmlformats.org/drawingml/2006/main" noGrp="1"/>
          </p:cNvSpPr>
          <p:nvPr/>
        </p:nvSpPr>
        <p:spPr>
          <a:xfrm xmlns:a="http://schemas.openxmlformats.org/drawingml/2006/main">
            <a:off x="609600" y="40005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D3A"/>
                </a:solidFill>
                <a:latin typeface="Arial"/>
                <a:ea typeface="Arial"/>
                <a:cs typeface="Arial"/>
              </a:defRPr>
            </a:defPPr>
            <a:lvl1pPr>
              <a:defRPr sz="3150" b="1">
                <a:solidFill>
                  <a:srgbClr val="152D3A"/>
                </a:solidFill>
                <a:latin typeface="Arial"/>
                <a:ea typeface="Arial"/>
                <a:cs typeface="Arial"/>
              </a:defRPr>
            </a:lvl1pPr>
            <a:lvl2pPr>
              <a:defRPr sz="3150" b="1">
                <a:solidFill>
                  <a:srgbClr val="152D3A"/>
                </a:solidFill>
                <a:latin typeface="Arial"/>
                <a:ea typeface="Arial"/>
                <a:cs typeface="Arial"/>
              </a:defRPr>
            </a:lvl2pPr>
            <a:lvl3pPr>
              <a:defRPr sz="3150" b="1">
                <a:solidFill>
                  <a:srgbClr val="152D3A"/>
                </a:solidFill>
                <a:latin typeface="Arial"/>
                <a:ea typeface="Arial"/>
                <a:cs typeface="Arial"/>
              </a:defRPr>
            </a:lvl3pPr>
            <a:lvl4pPr>
              <a:defRPr sz="3150" b="1">
                <a:solidFill>
                  <a:srgbClr val="152D3A"/>
                </a:solidFill>
                <a:latin typeface="Arial"/>
                <a:ea typeface="Arial"/>
                <a:cs typeface="Arial"/>
              </a:defRPr>
            </a:lvl4pPr>
            <a:lvl5pPr>
              <a:defRPr sz="3150" b="1">
                <a:solidFill>
                  <a:srgbClr val="152D3A"/>
                </a:solidFill>
                <a:latin typeface="Arial"/>
                <a:ea typeface="Arial"/>
                <a:cs typeface="Arial"/>
              </a:defRPr>
            </a:lvl5pPr>
            <a:lvl6pPr>
              <a:defRPr sz="3150" b="1">
                <a:solidFill>
                  <a:srgbClr val="152D3A"/>
                </a:solidFill>
                <a:latin typeface="Arial"/>
                <a:ea typeface="Arial"/>
                <a:cs typeface="Arial"/>
              </a:defRPr>
            </a:lvl6pPr>
            <a:lvl7pPr>
              <a:defRPr sz="3150" b="1">
                <a:solidFill>
                  <a:srgbClr val="152D3A"/>
                </a:solidFill>
                <a:latin typeface="Arial"/>
                <a:ea typeface="Arial"/>
                <a:cs typeface="Arial"/>
              </a:defRPr>
            </a:lvl7pPr>
            <a:lvl8pPr>
              <a:defRPr sz="3150" b="1">
                <a:solidFill>
                  <a:srgbClr val="152D3A"/>
                </a:solidFill>
                <a:latin typeface="Arial"/>
                <a:ea typeface="Arial"/>
                <a:cs typeface="Arial"/>
              </a:defRPr>
            </a:lvl8pPr>
            <a:lvl9pPr>
              <a:defRPr sz="3150" b="1">
                <a:solidFill>
                  <a:srgbClr val="152D3A"/>
                </a:solidFill>
                <a:latin typeface="Arial"/>
                <a:ea typeface="Arial"/>
                <a:cs typeface="Arial"/>
              </a:defRPr>
            </a:lvl9pPr>
          </a:lstStyle>
          <a:p xmlns:a="http://schemas.openxmlformats.org/drawingml/2006/main">
            <a:pPr>
              <a:defRPr sz="3150" b="1">
                <a:solidFill>
                  <a:srgbClr val="152D3A"/>
                </a:solidFill>
                <a:latin typeface="Arial"/>
                <a:ea typeface="Arial"/>
                <a:cs typeface="Arial"/>
              </a:defRPr>
            </a:pPr>
            <a:r>
              <a:rPr sz="3150" b="1">
                <a:solidFill>
                  <a:srgbClr val="152D3A"/>
                </a:solidFill>
                <a:latin typeface="Arial"/>
                <a:ea typeface="Arial"/>
                <a:cs typeface="Arial"/>
              </a:rPr>
              <a:t>Occlusion responses for an MI example</a:t>
            </a:r>
          </a:p>
        </p:txBody>
      </p:sp>
      <p:sp>
        <p:nvSpPr>
          <p:cNvPr id="2" name="12">
            <a:extLst xmlns:a="http://schemas.openxmlformats.org/drawingml/2006/main">
              <a:ext uri="{FF2B5EF4-FFF2-40B4-BE49-F238E27FC236}">
                <a16:creationId xmlns:a16="http://schemas.microsoft.com/office/drawing/2014/main" id="{09CF9FB9-298B-4198-8291-A2F6DA8AFEB1}"/>
              </a:ext>
            </a:extLst>
          </p:cNvPr>
          <p:cNvSpPr>
            <a:spLocks xmlns:a="http://schemas.openxmlformats.org/drawingml/2006/main" noGrp="1"/>
          </p:cNvSpPr>
          <p:nvPr/>
        </p:nvSpPr>
        <p:spPr>
          <a:xfrm xmlns:a="http://schemas.openxmlformats.org/drawingml/2006/main">
            <a:off x="11144250" y="63817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775"/>
                </a:solidFill>
                <a:latin typeface="Arial"/>
                <a:ea typeface="Arial"/>
                <a:cs typeface="Arial"/>
              </a:defRPr>
            </a:defPPr>
            <a:lvl1pPr>
              <a:defRPr sz="1200" b="0">
                <a:solidFill>
                  <a:srgbClr val="536775"/>
                </a:solidFill>
                <a:latin typeface="Arial"/>
                <a:ea typeface="Arial"/>
                <a:cs typeface="Arial"/>
              </a:defRPr>
            </a:lvl1pPr>
            <a:lvl2pPr>
              <a:defRPr sz="1200" b="0">
                <a:solidFill>
                  <a:srgbClr val="536775"/>
                </a:solidFill>
                <a:latin typeface="Arial"/>
                <a:ea typeface="Arial"/>
                <a:cs typeface="Arial"/>
              </a:defRPr>
            </a:lvl2pPr>
            <a:lvl3pPr>
              <a:defRPr sz="1200" b="0">
                <a:solidFill>
                  <a:srgbClr val="536775"/>
                </a:solidFill>
                <a:latin typeface="Arial"/>
                <a:ea typeface="Arial"/>
                <a:cs typeface="Arial"/>
              </a:defRPr>
            </a:lvl3pPr>
            <a:lvl4pPr>
              <a:defRPr sz="1200" b="0">
                <a:solidFill>
                  <a:srgbClr val="536775"/>
                </a:solidFill>
                <a:latin typeface="Arial"/>
                <a:ea typeface="Arial"/>
                <a:cs typeface="Arial"/>
              </a:defRPr>
            </a:lvl4pPr>
            <a:lvl5pPr>
              <a:defRPr sz="1200" b="0">
                <a:solidFill>
                  <a:srgbClr val="536775"/>
                </a:solidFill>
                <a:latin typeface="Arial"/>
                <a:ea typeface="Arial"/>
                <a:cs typeface="Arial"/>
              </a:defRPr>
            </a:lvl5pPr>
            <a:lvl6pPr>
              <a:defRPr sz="1200" b="0">
                <a:solidFill>
                  <a:srgbClr val="536775"/>
                </a:solidFill>
                <a:latin typeface="Arial"/>
                <a:ea typeface="Arial"/>
                <a:cs typeface="Arial"/>
              </a:defRPr>
            </a:lvl6pPr>
            <a:lvl7pPr>
              <a:defRPr sz="1200" b="0">
                <a:solidFill>
                  <a:srgbClr val="536775"/>
                </a:solidFill>
                <a:latin typeface="Arial"/>
                <a:ea typeface="Arial"/>
                <a:cs typeface="Arial"/>
              </a:defRPr>
            </a:lvl7pPr>
            <a:lvl8pPr>
              <a:defRPr sz="1200" b="0">
                <a:solidFill>
                  <a:srgbClr val="536775"/>
                </a:solidFill>
                <a:latin typeface="Arial"/>
                <a:ea typeface="Arial"/>
                <a:cs typeface="Arial"/>
              </a:defRPr>
            </a:lvl8pPr>
            <a:lvl9pPr>
              <a:defRPr sz="1200" b="0">
                <a:solidFill>
                  <a:srgbClr val="536775"/>
                </a:solidFill>
                <a:latin typeface="Arial"/>
                <a:ea typeface="Arial"/>
                <a:cs typeface="Arial"/>
              </a:defRPr>
            </a:lvl9pPr>
          </a:lstStyle>
          <a:p xmlns:a="http://schemas.openxmlformats.org/drawingml/2006/main">
            <a:pPr>
              <a:defRPr sz="1200" b="0">
                <a:solidFill>
                  <a:srgbClr val="536775"/>
                </a:solidFill>
                <a:latin typeface="Arial"/>
                <a:ea typeface="Arial"/>
                <a:cs typeface="Arial"/>
              </a:defRPr>
            </a:pPr>
            <a:r>
              <a:rPr sz="1200" b="0">
                <a:solidFill>
                  <a:srgbClr val="536775"/>
                </a:solidFill>
                <a:latin typeface="Arial"/>
                <a:ea typeface="Arial"/>
                <a:cs typeface="Arial"/>
              </a:rPr>
              <a:t>12</a:t>
            </a:r>
          </a:p>
        </p:txBody>
      </p:sp>
      <p:pic>
        <p:nvPicPr>
          <p:cNvPr id="3" name="">
            <a:extLst xmlns:a="http://schemas.openxmlformats.org/drawingml/2006/main">
              <a:ext uri="{FF2B5EF4-FFF2-40B4-BE49-F238E27FC236}">
                <a16:creationId xmlns:a16="http://schemas.microsoft.com/office/drawing/2014/main" id="{DC941CD1-5C76-4E9B-AE6D-C6F30A9ED78C}"/>
              </a:ext>
            </a:extLst>
          </p:cNvPr>
          <p:cNvPicPr>
            <a:picLocks xmlns:a="http://schemas.openxmlformats.org/drawingml/2006/main" noChangeAspect="1"/>
          </p:cNvPicPr>
          <p:nvPr/>
        </p:nvPicPr>
        <p:blipFill>
          <a:blip xmlns:r="http://schemas.openxmlformats.org/officeDocument/2006/relationships" xmlns:a="http://schemas.openxmlformats.org/drawingml/2006/main" r:embed="Rc0cc37bf7dbd4d03"/>
          <a:stretch xmlns:a="http://schemas.openxmlformats.org/drawingml/2006/main"/>
        </p:blipFill>
        <p:spPr>
          <a:xfrm xmlns:a="http://schemas.openxmlformats.org/drawingml/2006/main">
            <a:off x="1377166" y="1285875"/>
            <a:ext cx="5484793" cy="4381500"/>
          </a:xfrm>
          <a:prstGeom xmlns:a="http://schemas.openxmlformats.org/drawingml/2006/main" prst="rect">
            <a:avLst/>
          </a:prstGeom>
        </p:spPr>
      </p:pic>
      <p:sp>
        <p:nvSpPr>
          <p:cNvPr id="4" name="ECG 162">
            <a:extLst xmlns:a="http://schemas.openxmlformats.org/drawingml/2006/main">
              <a:ext uri="{FF2B5EF4-FFF2-40B4-BE49-F238E27FC236}">
                <a16:creationId xmlns:a16="http://schemas.microsoft.com/office/drawing/2014/main" id="{93B5D144-AA48-4325-8AAD-298EA6DD8964}"/>
              </a:ext>
            </a:extLst>
          </p:cNvPr>
          <p:cNvSpPr>
            <a:spLocks xmlns:a="http://schemas.openxmlformats.org/drawingml/2006/main" noGrp="1"/>
          </p:cNvSpPr>
          <p:nvPr/>
        </p:nvSpPr>
        <p:spPr>
          <a:xfrm xmlns:a="http://schemas.openxmlformats.org/drawingml/2006/main">
            <a:off x="8143875" y="15240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E8B"/>
                </a:solidFill>
                <a:latin typeface="Arial"/>
                <a:ea typeface="Arial"/>
                <a:cs typeface="Arial"/>
              </a:defRPr>
            </a:defPPr>
            <a:lvl1pPr>
              <a:defRPr sz="2325" b="1">
                <a:solidFill>
                  <a:srgbClr val="087E8B"/>
                </a:solidFill>
                <a:latin typeface="Arial"/>
                <a:ea typeface="Arial"/>
                <a:cs typeface="Arial"/>
              </a:defRPr>
            </a:lvl1pPr>
            <a:lvl2pPr>
              <a:defRPr sz="2325" b="1">
                <a:solidFill>
                  <a:srgbClr val="087E8B"/>
                </a:solidFill>
                <a:latin typeface="Arial"/>
                <a:ea typeface="Arial"/>
                <a:cs typeface="Arial"/>
              </a:defRPr>
            </a:lvl2pPr>
            <a:lvl3pPr>
              <a:defRPr sz="2325" b="1">
                <a:solidFill>
                  <a:srgbClr val="087E8B"/>
                </a:solidFill>
                <a:latin typeface="Arial"/>
                <a:ea typeface="Arial"/>
                <a:cs typeface="Arial"/>
              </a:defRPr>
            </a:lvl3pPr>
            <a:lvl4pPr>
              <a:defRPr sz="2325" b="1">
                <a:solidFill>
                  <a:srgbClr val="087E8B"/>
                </a:solidFill>
                <a:latin typeface="Arial"/>
                <a:ea typeface="Arial"/>
                <a:cs typeface="Arial"/>
              </a:defRPr>
            </a:lvl4pPr>
            <a:lvl5pPr>
              <a:defRPr sz="2325" b="1">
                <a:solidFill>
                  <a:srgbClr val="087E8B"/>
                </a:solidFill>
                <a:latin typeface="Arial"/>
                <a:ea typeface="Arial"/>
                <a:cs typeface="Arial"/>
              </a:defRPr>
            </a:lvl5pPr>
            <a:lvl6pPr>
              <a:defRPr sz="2325" b="1">
                <a:solidFill>
                  <a:srgbClr val="087E8B"/>
                </a:solidFill>
                <a:latin typeface="Arial"/>
                <a:ea typeface="Arial"/>
                <a:cs typeface="Arial"/>
              </a:defRPr>
            </a:lvl6pPr>
            <a:lvl7pPr>
              <a:defRPr sz="2325" b="1">
                <a:solidFill>
                  <a:srgbClr val="087E8B"/>
                </a:solidFill>
                <a:latin typeface="Arial"/>
                <a:ea typeface="Arial"/>
                <a:cs typeface="Arial"/>
              </a:defRPr>
            </a:lvl7pPr>
            <a:lvl8pPr>
              <a:defRPr sz="2325" b="1">
                <a:solidFill>
                  <a:srgbClr val="087E8B"/>
                </a:solidFill>
                <a:latin typeface="Arial"/>
                <a:ea typeface="Arial"/>
                <a:cs typeface="Arial"/>
              </a:defRPr>
            </a:lvl8pPr>
            <a:lvl9pPr>
              <a:defRPr sz="2325" b="1">
                <a:solidFill>
                  <a:srgbClr val="087E8B"/>
                </a:solidFill>
                <a:latin typeface="Arial"/>
                <a:ea typeface="Arial"/>
                <a:cs typeface="Arial"/>
              </a:defRPr>
            </a:lvl9pPr>
          </a:lstStyle>
          <a:p xmlns:a="http://schemas.openxmlformats.org/drawingml/2006/main">
            <a:pPr>
              <a:defRPr sz="2325" b="1">
                <a:solidFill>
                  <a:srgbClr val="087E8B"/>
                </a:solidFill>
                <a:latin typeface="Arial"/>
                <a:ea typeface="Arial"/>
                <a:cs typeface="Arial"/>
              </a:defRPr>
            </a:pPr>
            <a:r>
              <a:rPr sz="2325" b="1">
                <a:solidFill>
                  <a:srgbClr val="087E8B"/>
                </a:solidFill>
                <a:latin typeface="Arial"/>
                <a:ea typeface="Arial"/>
                <a:cs typeface="Arial"/>
              </a:rPr>
              <a:t>ECG 162</a:t>
            </a:r>
          </a:p>
        </p:txBody>
      </p:sp>
      <p:sp>
        <p:nvSpPr>
          <p:cNvPr id="5" name="MI score: 0.860&#10;Decision threshold: 0.45">
            <a:extLst xmlns:a="http://schemas.openxmlformats.org/drawingml/2006/main">
              <a:ext uri="{FF2B5EF4-FFF2-40B4-BE49-F238E27FC236}">
                <a16:creationId xmlns:a16="http://schemas.microsoft.com/office/drawing/2014/main" id="{8F1A3C62-EA69-465F-A965-37A3B1D6B30F}"/>
              </a:ext>
            </a:extLst>
          </p:cNvPr>
          <p:cNvSpPr>
            <a:spLocks xmlns:a="http://schemas.openxmlformats.org/drawingml/2006/main" noGrp="1"/>
          </p:cNvSpPr>
          <p:nvPr/>
        </p:nvSpPr>
        <p:spPr>
          <a:xfrm xmlns:a="http://schemas.openxmlformats.org/drawingml/2006/main">
            <a:off x="8143875" y="2133600"/>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52D3A"/>
                </a:solidFill>
                <a:latin typeface="Arial"/>
                <a:ea typeface="Arial"/>
                <a:cs typeface="Arial"/>
              </a:defRPr>
            </a:defPPr>
            <a:lvl1pPr>
              <a:defRPr sz="2025" b="0">
                <a:solidFill>
                  <a:srgbClr val="152D3A"/>
                </a:solidFill>
                <a:latin typeface="Arial"/>
                <a:ea typeface="Arial"/>
                <a:cs typeface="Arial"/>
              </a:defRPr>
            </a:lvl1pPr>
            <a:lvl2pPr>
              <a:defRPr sz="2025" b="0">
                <a:solidFill>
                  <a:srgbClr val="152D3A"/>
                </a:solidFill>
                <a:latin typeface="Arial"/>
                <a:ea typeface="Arial"/>
                <a:cs typeface="Arial"/>
              </a:defRPr>
            </a:lvl2pPr>
            <a:lvl3pPr>
              <a:defRPr sz="2025" b="0">
                <a:solidFill>
                  <a:srgbClr val="152D3A"/>
                </a:solidFill>
                <a:latin typeface="Arial"/>
                <a:ea typeface="Arial"/>
                <a:cs typeface="Arial"/>
              </a:defRPr>
            </a:lvl3pPr>
            <a:lvl4pPr>
              <a:defRPr sz="2025" b="0">
                <a:solidFill>
                  <a:srgbClr val="152D3A"/>
                </a:solidFill>
                <a:latin typeface="Arial"/>
                <a:ea typeface="Arial"/>
                <a:cs typeface="Arial"/>
              </a:defRPr>
            </a:lvl4pPr>
            <a:lvl5pPr>
              <a:defRPr sz="2025" b="0">
                <a:solidFill>
                  <a:srgbClr val="152D3A"/>
                </a:solidFill>
                <a:latin typeface="Arial"/>
                <a:ea typeface="Arial"/>
                <a:cs typeface="Arial"/>
              </a:defRPr>
            </a:lvl5pPr>
            <a:lvl6pPr>
              <a:defRPr sz="2025" b="0">
                <a:solidFill>
                  <a:srgbClr val="152D3A"/>
                </a:solidFill>
                <a:latin typeface="Arial"/>
                <a:ea typeface="Arial"/>
                <a:cs typeface="Arial"/>
              </a:defRPr>
            </a:lvl6pPr>
            <a:lvl7pPr>
              <a:defRPr sz="2025" b="0">
                <a:solidFill>
                  <a:srgbClr val="152D3A"/>
                </a:solidFill>
                <a:latin typeface="Arial"/>
                <a:ea typeface="Arial"/>
                <a:cs typeface="Arial"/>
              </a:defRPr>
            </a:lvl7pPr>
            <a:lvl8pPr>
              <a:defRPr sz="2025" b="0">
                <a:solidFill>
                  <a:srgbClr val="152D3A"/>
                </a:solidFill>
                <a:latin typeface="Arial"/>
                <a:ea typeface="Arial"/>
                <a:cs typeface="Arial"/>
              </a:defRPr>
            </a:lvl8pPr>
            <a:lvl9pPr>
              <a:defRPr sz="2025" b="0">
                <a:solidFill>
                  <a:srgbClr val="152D3A"/>
                </a:solidFill>
                <a:latin typeface="Arial"/>
                <a:ea typeface="Arial"/>
                <a:cs typeface="Arial"/>
              </a:defRPr>
            </a:lvl9pPr>
          </a:lstStyle>
          <a:p xmlns:a="http://schemas.openxmlformats.org/drawingml/2006/main">
            <a:pPr>
              <a:defRPr sz="2025" b="0">
                <a:solidFill>
                  <a:srgbClr val="152D3A"/>
                </a:solidFill>
                <a:latin typeface="Arial"/>
                <a:ea typeface="Arial"/>
                <a:cs typeface="Arial"/>
              </a:defRPr>
            </a:pPr>
            <a:r>
              <a:rPr sz="2025" b="0">
                <a:solidFill>
                  <a:srgbClr val="152D3A"/>
                </a:solidFill>
                <a:latin typeface="Arial"/>
                <a:ea typeface="Arial"/>
                <a:cs typeface="Arial"/>
              </a:rPr>
              <a:t>MI score: 0.860</a:t>
            </a:r>
          </a:p>
          <a:p xmlns:a="http://schemas.openxmlformats.org/drawingml/2006/main">
            <a:pPr>
              <a:defRPr sz="2025" b="0">
                <a:solidFill>
                  <a:srgbClr val="152D3A"/>
                </a:solidFill>
                <a:latin typeface="Arial"/>
                <a:ea typeface="Arial"/>
                <a:cs typeface="Arial"/>
              </a:defRPr>
            </a:pPr>
            <a:r>
              <a:rPr sz="2025" b="0">
                <a:solidFill>
                  <a:srgbClr val="152D3A"/>
                </a:solidFill>
                <a:latin typeface="Arial"/>
                <a:ea typeface="Arial"/>
                <a:cs typeface="Arial"/>
              </a:rPr>
              <a:t>Decision threshold: 0.45</a:t>
            </a:r>
          </a:p>
        </p:txBody>
      </p:sp>
      <p:sp>
        <p:nvSpPr>
          <p:cNvPr id="6" name="200 ms masking windows&#10;100 ms window stride&#10;B">
            <a:extLst xmlns:a="http://schemas.openxmlformats.org/drawingml/2006/main">
              <a:ext uri="{FF2B5EF4-FFF2-40B4-BE49-F238E27FC236}">
                <a16:creationId xmlns:a16="http://schemas.microsoft.com/office/drawing/2014/main" id="{70D14223-4238-4C4E-A343-87AFCAF48AEC}"/>
              </a:ext>
            </a:extLst>
          </p:cNvPr>
          <p:cNvSpPr>
            <a:spLocks xmlns:a="http://schemas.openxmlformats.org/drawingml/2006/main" noGrp="1"/>
          </p:cNvSpPr>
          <p:nvPr/>
        </p:nvSpPr>
        <p:spPr>
          <a:xfrm xmlns:a="http://schemas.openxmlformats.org/drawingml/2006/main">
            <a:off x="8143875" y="35052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52D3A"/>
                </a:solidFill>
                <a:latin typeface="Arial"/>
                <a:ea typeface="Arial"/>
                <a:cs typeface="Arial"/>
              </a:defRPr>
            </a:defPPr>
            <a:lvl1pPr>
              <a:defRPr sz="1875" b="0">
                <a:solidFill>
                  <a:srgbClr val="152D3A"/>
                </a:solidFill>
                <a:latin typeface="Arial"/>
                <a:ea typeface="Arial"/>
                <a:cs typeface="Arial"/>
              </a:defRPr>
            </a:lvl1pPr>
            <a:lvl2pPr>
              <a:defRPr sz="1875" b="0">
                <a:solidFill>
                  <a:srgbClr val="152D3A"/>
                </a:solidFill>
                <a:latin typeface="Arial"/>
                <a:ea typeface="Arial"/>
                <a:cs typeface="Arial"/>
              </a:defRPr>
            </a:lvl2pPr>
            <a:lvl3pPr>
              <a:defRPr sz="1875" b="0">
                <a:solidFill>
                  <a:srgbClr val="152D3A"/>
                </a:solidFill>
                <a:latin typeface="Arial"/>
                <a:ea typeface="Arial"/>
                <a:cs typeface="Arial"/>
              </a:defRPr>
            </a:lvl3pPr>
            <a:lvl4pPr>
              <a:defRPr sz="1875" b="0">
                <a:solidFill>
                  <a:srgbClr val="152D3A"/>
                </a:solidFill>
                <a:latin typeface="Arial"/>
                <a:ea typeface="Arial"/>
                <a:cs typeface="Arial"/>
              </a:defRPr>
            </a:lvl4pPr>
            <a:lvl5pPr>
              <a:defRPr sz="1875" b="0">
                <a:solidFill>
                  <a:srgbClr val="152D3A"/>
                </a:solidFill>
                <a:latin typeface="Arial"/>
                <a:ea typeface="Arial"/>
                <a:cs typeface="Arial"/>
              </a:defRPr>
            </a:lvl5pPr>
            <a:lvl6pPr>
              <a:defRPr sz="1875" b="0">
                <a:solidFill>
                  <a:srgbClr val="152D3A"/>
                </a:solidFill>
                <a:latin typeface="Arial"/>
                <a:ea typeface="Arial"/>
                <a:cs typeface="Arial"/>
              </a:defRPr>
            </a:lvl6pPr>
            <a:lvl7pPr>
              <a:defRPr sz="1875" b="0">
                <a:solidFill>
                  <a:srgbClr val="152D3A"/>
                </a:solidFill>
                <a:latin typeface="Arial"/>
                <a:ea typeface="Arial"/>
                <a:cs typeface="Arial"/>
              </a:defRPr>
            </a:lvl7pPr>
            <a:lvl8pPr>
              <a:defRPr sz="1875" b="0">
                <a:solidFill>
                  <a:srgbClr val="152D3A"/>
                </a:solidFill>
                <a:latin typeface="Arial"/>
                <a:ea typeface="Arial"/>
                <a:cs typeface="Arial"/>
              </a:defRPr>
            </a:lvl8pPr>
            <a:lvl9pPr>
              <a:defRPr sz="1875" b="0">
                <a:solidFill>
                  <a:srgbClr val="152D3A"/>
                </a:solidFill>
                <a:latin typeface="Arial"/>
                <a:ea typeface="Arial"/>
                <a:cs typeface="Arial"/>
              </a:defRPr>
            </a:lvl9pPr>
          </a:lstStyle>
          <a:p xmlns:a="http://schemas.openxmlformats.org/drawingml/2006/main">
            <a:pPr>
              <a:defRPr sz="1875" b="0">
                <a:solidFill>
                  <a:srgbClr val="152D3A"/>
                </a:solidFill>
                <a:latin typeface="Arial"/>
                <a:ea typeface="Arial"/>
                <a:cs typeface="Arial"/>
              </a:defRPr>
            </a:pPr>
            <a:r>
              <a:rPr sz="1875" b="0">
                <a:solidFill>
                  <a:srgbClr val="152D3A"/>
                </a:solidFill>
                <a:latin typeface="Arial"/>
                <a:ea typeface="Arial"/>
                <a:cs typeface="Arial"/>
              </a:rPr>
              <a:t>200 ms masking windows</a:t>
            </a:r>
          </a:p>
          <a:p xmlns:a="http://schemas.openxmlformats.org/drawingml/2006/main">
            <a:pPr>
              <a:defRPr sz="1875" b="0">
                <a:solidFill>
                  <a:srgbClr val="152D3A"/>
                </a:solidFill>
                <a:latin typeface="Arial"/>
                <a:ea typeface="Arial"/>
                <a:cs typeface="Arial"/>
              </a:defRPr>
            </a:pPr>
            <a:r>
              <a:rPr sz="1875" b="0">
                <a:solidFill>
                  <a:srgbClr val="152D3A"/>
                </a:solidFill>
                <a:latin typeface="Arial"/>
                <a:ea typeface="Arial"/>
                <a:cs typeface="Arial"/>
              </a:rPr>
              <a:t>100 ms window stride</a:t>
            </a:r>
          </a:p>
          <a:p xmlns:a="http://schemas.openxmlformats.org/drawingml/2006/main">
            <a:pPr>
              <a:defRPr sz="1875" b="0">
                <a:solidFill>
                  <a:srgbClr val="152D3A"/>
                </a:solidFill>
                <a:latin typeface="Arial"/>
                <a:ea typeface="Arial"/>
                <a:cs typeface="Arial"/>
              </a:defRPr>
            </a:pPr>
            <a:r>
              <a:rPr sz="1875" b="0">
                <a:solidFill>
                  <a:srgbClr val="152D3A"/>
                </a:solidFill>
                <a:latin typeface="Arial"/>
                <a:ea typeface="Arial"/>
                <a:cs typeface="Arial"/>
              </a:rPr>
              <a:t>Baseline correlation: 0.834</a:t>
            </a:r>
          </a:p>
        </p:txBody>
      </p:sp>
      <p:sp>
        <p:nvSpPr>
          <p:cNvPr id="7" name="Occlusion measures model sensitivity. It does">
            <a:extLst xmlns:a="http://schemas.openxmlformats.org/drawingml/2006/main">
              <a:ext uri="{FF2B5EF4-FFF2-40B4-BE49-F238E27FC236}">
                <a16:creationId xmlns:a16="http://schemas.microsoft.com/office/drawing/2014/main" id="{9E11188F-66B4-4FE5-80B6-F67349FF5489}"/>
              </a:ext>
            </a:extLst>
          </p:cNvPr>
          <p:cNvSpPr>
            <a:spLocks xmlns:a="http://schemas.openxmlformats.org/drawingml/2006/main" noGrp="1"/>
          </p:cNvSpPr>
          <p:nvPr/>
        </p:nvSpPr>
        <p:spPr>
          <a:xfrm xmlns:a="http://schemas.openxmlformats.org/drawingml/2006/main">
            <a:off x="609600" y="59912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775"/>
                </a:solidFill>
                <a:latin typeface="Arial"/>
                <a:ea typeface="Arial"/>
                <a:cs typeface="Arial"/>
              </a:defRPr>
            </a:defPPr>
            <a:lvl1pPr>
              <a:defRPr sz="1275" b="0">
                <a:solidFill>
                  <a:srgbClr val="536775"/>
                </a:solidFill>
                <a:latin typeface="Arial"/>
                <a:ea typeface="Arial"/>
                <a:cs typeface="Arial"/>
              </a:defRPr>
            </a:lvl1pPr>
            <a:lvl2pPr>
              <a:defRPr sz="1275" b="0">
                <a:solidFill>
                  <a:srgbClr val="536775"/>
                </a:solidFill>
                <a:latin typeface="Arial"/>
                <a:ea typeface="Arial"/>
                <a:cs typeface="Arial"/>
              </a:defRPr>
            </a:lvl2pPr>
            <a:lvl3pPr>
              <a:defRPr sz="1275" b="0">
                <a:solidFill>
                  <a:srgbClr val="536775"/>
                </a:solidFill>
                <a:latin typeface="Arial"/>
                <a:ea typeface="Arial"/>
                <a:cs typeface="Arial"/>
              </a:defRPr>
            </a:lvl3pPr>
            <a:lvl4pPr>
              <a:defRPr sz="1275" b="0">
                <a:solidFill>
                  <a:srgbClr val="536775"/>
                </a:solidFill>
                <a:latin typeface="Arial"/>
                <a:ea typeface="Arial"/>
                <a:cs typeface="Arial"/>
              </a:defRPr>
            </a:lvl4pPr>
            <a:lvl5pPr>
              <a:defRPr sz="1275" b="0">
                <a:solidFill>
                  <a:srgbClr val="536775"/>
                </a:solidFill>
                <a:latin typeface="Arial"/>
                <a:ea typeface="Arial"/>
                <a:cs typeface="Arial"/>
              </a:defRPr>
            </a:lvl5pPr>
            <a:lvl6pPr>
              <a:defRPr sz="1275" b="0">
                <a:solidFill>
                  <a:srgbClr val="536775"/>
                </a:solidFill>
                <a:latin typeface="Arial"/>
                <a:ea typeface="Arial"/>
                <a:cs typeface="Arial"/>
              </a:defRPr>
            </a:lvl6pPr>
            <a:lvl7pPr>
              <a:defRPr sz="1275" b="0">
                <a:solidFill>
                  <a:srgbClr val="536775"/>
                </a:solidFill>
                <a:latin typeface="Arial"/>
                <a:ea typeface="Arial"/>
                <a:cs typeface="Arial"/>
              </a:defRPr>
            </a:lvl7pPr>
            <a:lvl8pPr>
              <a:defRPr sz="1275" b="0">
                <a:solidFill>
                  <a:srgbClr val="536775"/>
                </a:solidFill>
                <a:latin typeface="Arial"/>
                <a:ea typeface="Arial"/>
                <a:cs typeface="Arial"/>
              </a:defRPr>
            </a:lvl8pPr>
            <a:lvl9pPr>
              <a:defRPr sz="1275" b="0">
                <a:solidFill>
                  <a:srgbClr val="536775"/>
                </a:solidFill>
                <a:latin typeface="Arial"/>
                <a:ea typeface="Arial"/>
                <a:cs typeface="Arial"/>
              </a:defRPr>
            </a:lvl9pPr>
          </a:lstStyle>
          <a:p xmlns:a="http://schemas.openxmlformats.org/drawingml/2006/main">
            <a:pPr>
              <a:defRPr sz="1275" b="0">
                <a:solidFill>
                  <a:srgbClr val="536775"/>
                </a:solidFill>
                <a:latin typeface="Arial"/>
                <a:ea typeface="Arial"/>
                <a:cs typeface="Arial"/>
              </a:defRPr>
            </a:pPr>
            <a:r>
              <a:rPr sz="1275" b="0">
                <a:solidFill>
                  <a:srgbClr val="536775"/>
                </a:solidFill>
                <a:latin typeface="Arial"/>
                <a:ea typeface="Arial"/>
                <a:cs typeface="Arial"/>
              </a:rPr>
              <a:t>Occlusion measures model sensitivity. It does not establish physiological causality or clinical validity.</a:t>
            </a:r>
          </a:p>
        </p:txBody>
      </p:sp>
    </p:spTree>
    <p:extLst>
      <p:ext uri="{BB962C8B-B14F-4D97-AF65-F5344CB8AC3E}">
        <p14:creationId xmlns:p14="http://schemas.microsoft.com/office/powerpoint/2010/main" val="641407497"/>
      </p:ext>
    </p:extLst>
  </p:cSld>
</p:sld>
</file>

<file path=ppt/slides/slide13.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12" name="Conclusions and project deliverables">
            <a:extLst xmlns:a="http://schemas.openxmlformats.org/drawingml/2006/main">
              <a:ext uri="{FF2B5EF4-FFF2-40B4-BE49-F238E27FC236}">
                <a16:creationId xmlns:a16="http://schemas.microsoft.com/office/drawing/2014/main" id="{BF81D7DF-4585-42C5-81AE-835D33CC51F6}"/>
              </a:ext>
            </a:extLst>
          </p:cNvPr>
          <p:cNvSpPr>
            <a:spLocks xmlns:a="http://schemas.openxmlformats.org/drawingml/2006/main" noGrp="1"/>
          </p:cNvSpPr>
          <p:nvPr/>
        </p:nvSpPr>
        <p:spPr>
          <a:xfrm xmlns:a="http://schemas.openxmlformats.org/drawingml/2006/main">
            <a:off x="609600" y="40005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D3A"/>
                </a:solidFill>
                <a:latin typeface="Arial"/>
                <a:ea typeface="Arial"/>
                <a:cs typeface="Arial"/>
              </a:defRPr>
            </a:defPPr>
            <a:lvl1pPr>
              <a:defRPr sz="3150" b="1">
                <a:solidFill>
                  <a:srgbClr val="152D3A"/>
                </a:solidFill>
                <a:latin typeface="Arial"/>
                <a:ea typeface="Arial"/>
                <a:cs typeface="Arial"/>
              </a:defRPr>
            </a:lvl1pPr>
            <a:lvl2pPr>
              <a:defRPr sz="3150" b="1">
                <a:solidFill>
                  <a:srgbClr val="152D3A"/>
                </a:solidFill>
                <a:latin typeface="Arial"/>
                <a:ea typeface="Arial"/>
                <a:cs typeface="Arial"/>
              </a:defRPr>
            </a:lvl2pPr>
            <a:lvl3pPr>
              <a:defRPr sz="3150" b="1">
                <a:solidFill>
                  <a:srgbClr val="152D3A"/>
                </a:solidFill>
                <a:latin typeface="Arial"/>
                <a:ea typeface="Arial"/>
                <a:cs typeface="Arial"/>
              </a:defRPr>
            </a:lvl3pPr>
            <a:lvl4pPr>
              <a:defRPr sz="3150" b="1">
                <a:solidFill>
                  <a:srgbClr val="152D3A"/>
                </a:solidFill>
                <a:latin typeface="Arial"/>
                <a:ea typeface="Arial"/>
                <a:cs typeface="Arial"/>
              </a:defRPr>
            </a:lvl4pPr>
            <a:lvl5pPr>
              <a:defRPr sz="3150" b="1">
                <a:solidFill>
                  <a:srgbClr val="152D3A"/>
                </a:solidFill>
                <a:latin typeface="Arial"/>
                <a:ea typeface="Arial"/>
                <a:cs typeface="Arial"/>
              </a:defRPr>
            </a:lvl5pPr>
            <a:lvl6pPr>
              <a:defRPr sz="3150" b="1">
                <a:solidFill>
                  <a:srgbClr val="152D3A"/>
                </a:solidFill>
                <a:latin typeface="Arial"/>
                <a:ea typeface="Arial"/>
                <a:cs typeface="Arial"/>
              </a:defRPr>
            </a:lvl6pPr>
            <a:lvl7pPr>
              <a:defRPr sz="3150" b="1">
                <a:solidFill>
                  <a:srgbClr val="152D3A"/>
                </a:solidFill>
                <a:latin typeface="Arial"/>
                <a:ea typeface="Arial"/>
                <a:cs typeface="Arial"/>
              </a:defRPr>
            </a:lvl7pPr>
            <a:lvl8pPr>
              <a:defRPr sz="3150" b="1">
                <a:solidFill>
                  <a:srgbClr val="152D3A"/>
                </a:solidFill>
                <a:latin typeface="Arial"/>
                <a:ea typeface="Arial"/>
                <a:cs typeface="Arial"/>
              </a:defRPr>
            </a:lvl8pPr>
            <a:lvl9pPr>
              <a:defRPr sz="3150" b="1">
                <a:solidFill>
                  <a:srgbClr val="152D3A"/>
                </a:solidFill>
                <a:latin typeface="Arial"/>
                <a:ea typeface="Arial"/>
                <a:cs typeface="Arial"/>
              </a:defRPr>
            </a:lvl9pPr>
          </a:lstStyle>
          <a:p xmlns:a="http://schemas.openxmlformats.org/drawingml/2006/main">
            <a:pPr>
              <a:defRPr sz="3150" b="1">
                <a:solidFill>
                  <a:srgbClr val="152D3A"/>
                </a:solidFill>
                <a:latin typeface="Arial"/>
                <a:ea typeface="Arial"/>
                <a:cs typeface="Arial"/>
              </a:defRPr>
            </a:pPr>
            <a:r>
              <a:rPr sz="3150" b="1">
                <a:solidFill>
                  <a:srgbClr val="152D3A"/>
                </a:solidFill>
                <a:latin typeface="Arial"/>
                <a:ea typeface="Arial"/>
                <a:cs typeface="Arial"/>
              </a:rPr>
              <a:t>Conclusions and project deliverables</a:t>
            </a:r>
          </a:p>
        </p:txBody>
      </p:sp>
      <p:sp>
        <p:nvSpPr>
          <p:cNvPr id="2" name="13">
            <a:extLst xmlns:a="http://schemas.openxmlformats.org/drawingml/2006/main">
              <a:ext uri="{FF2B5EF4-FFF2-40B4-BE49-F238E27FC236}">
                <a16:creationId xmlns:a16="http://schemas.microsoft.com/office/drawing/2014/main" id="{30B9D9CB-1430-43CE-BB13-75E387BCCFF6}"/>
              </a:ext>
            </a:extLst>
          </p:cNvPr>
          <p:cNvSpPr>
            <a:spLocks xmlns:a="http://schemas.openxmlformats.org/drawingml/2006/main" noGrp="1"/>
          </p:cNvSpPr>
          <p:nvPr/>
        </p:nvSpPr>
        <p:spPr>
          <a:xfrm xmlns:a="http://schemas.openxmlformats.org/drawingml/2006/main">
            <a:off x="11144250" y="63817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775"/>
                </a:solidFill>
                <a:latin typeface="Arial"/>
                <a:ea typeface="Arial"/>
                <a:cs typeface="Arial"/>
              </a:defRPr>
            </a:defPPr>
            <a:lvl1pPr>
              <a:defRPr sz="1200" b="0">
                <a:solidFill>
                  <a:srgbClr val="536775"/>
                </a:solidFill>
                <a:latin typeface="Arial"/>
                <a:ea typeface="Arial"/>
                <a:cs typeface="Arial"/>
              </a:defRPr>
            </a:lvl1pPr>
            <a:lvl2pPr>
              <a:defRPr sz="1200" b="0">
                <a:solidFill>
                  <a:srgbClr val="536775"/>
                </a:solidFill>
                <a:latin typeface="Arial"/>
                <a:ea typeface="Arial"/>
                <a:cs typeface="Arial"/>
              </a:defRPr>
            </a:lvl2pPr>
            <a:lvl3pPr>
              <a:defRPr sz="1200" b="0">
                <a:solidFill>
                  <a:srgbClr val="536775"/>
                </a:solidFill>
                <a:latin typeface="Arial"/>
                <a:ea typeface="Arial"/>
                <a:cs typeface="Arial"/>
              </a:defRPr>
            </a:lvl3pPr>
            <a:lvl4pPr>
              <a:defRPr sz="1200" b="0">
                <a:solidFill>
                  <a:srgbClr val="536775"/>
                </a:solidFill>
                <a:latin typeface="Arial"/>
                <a:ea typeface="Arial"/>
                <a:cs typeface="Arial"/>
              </a:defRPr>
            </a:lvl4pPr>
            <a:lvl5pPr>
              <a:defRPr sz="1200" b="0">
                <a:solidFill>
                  <a:srgbClr val="536775"/>
                </a:solidFill>
                <a:latin typeface="Arial"/>
                <a:ea typeface="Arial"/>
                <a:cs typeface="Arial"/>
              </a:defRPr>
            </a:lvl5pPr>
            <a:lvl6pPr>
              <a:defRPr sz="1200" b="0">
                <a:solidFill>
                  <a:srgbClr val="536775"/>
                </a:solidFill>
                <a:latin typeface="Arial"/>
                <a:ea typeface="Arial"/>
                <a:cs typeface="Arial"/>
              </a:defRPr>
            </a:lvl6pPr>
            <a:lvl7pPr>
              <a:defRPr sz="1200" b="0">
                <a:solidFill>
                  <a:srgbClr val="536775"/>
                </a:solidFill>
                <a:latin typeface="Arial"/>
                <a:ea typeface="Arial"/>
                <a:cs typeface="Arial"/>
              </a:defRPr>
            </a:lvl7pPr>
            <a:lvl8pPr>
              <a:defRPr sz="1200" b="0">
                <a:solidFill>
                  <a:srgbClr val="536775"/>
                </a:solidFill>
                <a:latin typeface="Arial"/>
                <a:ea typeface="Arial"/>
                <a:cs typeface="Arial"/>
              </a:defRPr>
            </a:lvl8pPr>
            <a:lvl9pPr>
              <a:defRPr sz="1200" b="0">
                <a:solidFill>
                  <a:srgbClr val="536775"/>
                </a:solidFill>
                <a:latin typeface="Arial"/>
                <a:ea typeface="Arial"/>
                <a:cs typeface="Arial"/>
              </a:defRPr>
            </a:lvl9pPr>
          </a:lstStyle>
          <a:p xmlns:a="http://schemas.openxmlformats.org/drawingml/2006/main">
            <a:pPr>
              <a:defRPr sz="1200" b="0">
                <a:solidFill>
                  <a:srgbClr val="536775"/>
                </a:solidFill>
                <a:latin typeface="Arial"/>
                <a:ea typeface="Arial"/>
                <a:cs typeface="Arial"/>
              </a:defRPr>
            </a:pPr>
            <a:r>
              <a:rPr sz="1200" b="0">
                <a:solidFill>
                  <a:srgbClr val="536775"/>
                </a:solidFill>
                <a:latin typeface="Arial"/>
                <a:ea typeface="Arial"/>
                <a:cs typeface="Arial"/>
              </a:rPr>
              <a:t>13</a:t>
            </a:r>
          </a:p>
        </p:txBody>
      </p:sp>
      <p:sp>
        <p:nvSpPr>
          <p:cNvPr id="3" name="Main finding">
            <a:extLst xmlns:a="http://schemas.openxmlformats.org/drawingml/2006/main">
              <a:ext uri="{FF2B5EF4-FFF2-40B4-BE49-F238E27FC236}">
                <a16:creationId xmlns:a16="http://schemas.microsoft.com/office/drawing/2014/main" id="{655DD7DF-E88C-42A4-B809-672188874C46}"/>
              </a:ext>
            </a:extLst>
          </p:cNvPr>
          <p:cNvSpPr>
            <a:spLocks xmlns:a="http://schemas.openxmlformats.org/drawingml/2006/main" noGrp="1"/>
          </p:cNvSpPr>
          <p:nvPr/>
        </p:nvSpPr>
        <p:spPr>
          <a:xfrm xmlns:a="http://schemas.openxmlformats.org/drawingml/2006/main">
            <a:off x="609600" y="143827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B"/>
                </a:solidFill>
                <a:latin typeface="Arial"/>
                <a:ea typeface="Arial"/>
                <a:cs typeface="Arial"/>
              </a:defRPr>
            </a:defPPr>
            <a:lvl1pPr>
              <a:defRPr sz="2175" b="1">
                <a:solidFill>
                  <a:srgbClr val="087E8B"/>
                </a:solidFill>
                <a:latin typeface="Arial"/>
                <a:ea typeface="Arial"/>
                <a:cs typeface="Arial"/>
              </a:defRPr>
            </a:lvl1pPr>
            <a:lvl2pPr>
              <a:defRPr sz="2175" b="1">
                <a:solidFill>
                  <a:srgbClr val="087E8B"/>
                </a:solidFill>
                <a:latin typeface="Arial"/>
                <a:ea typeface="Arial"/>
                <a:cs typeface="Arial"/>
              </a:defRPr>
            </a:lvl2pPr>
            <a:lvl3pPr>
              <a:defRPr sz="2175" b="1">
                <a:solidFill>
                  <a:srgbClr val="087E8B"/>
                </a:solidFill>
                <a:latin typeface="Arial"/>
                <a:ea typeface="Arial"/>
                <a:cs typeface="Arial"/>
              </a:defRPr>
            </a:lvl3pPr>
            <a:lvl4pPr>
              <a:defRPr sz="2175" b="1">
                <a:solidFill>
                  <a:srgbClr val="087E8B"/>
                </a:solidFill>
                <a:latin typeface="Arial"/>
                <a:ea typeface="Arial"/>
                <a:cs typeface="Arial"/>
              </a:defRPr>
            </a:lvl4pPr>
            <a:lvl5pPr>
              <a:defRPr sz="2175" b="1">
                <a:solidFill>
                  <a:srgbClr val="087E8B"/>
                </a:solidFill>
                <a:latin typeface="Arial"/>
                <a:ea typeface="Arial"/>
                <a:cs typeface="Arial"/>
              </a:defRPr>
            </a:lvl5pPr>
            <a:lvl6pPr>
              <a:defRPr sz="2175" b="1">
                <a:solidFill>
                  <a:srgbClr val="087E8B"/>
                </a:solidFill>
                <a:latin typeface="Arial"/>
                <a:ea typeface="Arial"/>
                <a:cs typeface="Arial"/>
              </a:defRPr>
            </a:lvl6pPr>
            <a:lvl7pPr>
              <a:defRPr sz="2175" b="1">
                <a:solidFill>
                  <a:srgbClr val="087E8B"/>
                </a:solidFill>
                <a:latin typeface="Arial"/>
                <a:ea typeface="Arial"/>
                <a:cs typeface="Arial"/>
              </a:defRPr>
            </a:lvl7pPr>
            <a:lvl8pPr>
              <a:defRPr sz="2175" b="1">
                <a:solidFill>
                  <a:srgbClr val="087E8B"/>
                </a:solidFill>
                <a:latin typeface="Arial"/>
                <a:ea typeface="Arial"/>
                <a:cs typeface="Arial"/>
              </a:defRPr>
            </a:lvl8pPr>
            <a:lvl9pPr>
              <a:defRPr sz="2175" b="1">
                <a:solidFill>
                  <a:srgbClr val="087E8B"/>
                </a:solidFill>
                <a:latin typeface="Arial"/>
                <a:ea typeface="Arial"/>
                <a:cs typeface="Arial"/>
              </a:defRPr>
            </a:lvl9pPr>
          </a:lstStyle>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Main finding</a:t>
            </a:r>
          </a:p>
        </p:txBody>
      </p:sp>
      <p:sp>
        <p:nvSpPr>
          <p:cNvPr id="4" name="Compact CNN: macro AUROC 0.9195&#10;and mean medi">
            <a:extLst xmlns:a="http://schemas.openxmlformats.org/drawingml/2006/main">
              <a:ext uri="{FF2B5EF4-FFF2-40B4-BE49-F238E27FC236}">
                <a16:creationId xmlns:a16="http://schemas.microsoft.com/office/drawing/2014/main" id="{EBA03983-0C8B-4763-A00E-38B930A043C4}"/>
              </a:ext>
            </a:extLst>
          </p:cNvPr>
          <p:cNvSpPr>
            <a:spLocks xmlns:a="http://schemas.openxmlformats.org/drawingml/2006/main" noGrp="1"/>
          </p:cNvSpPr>
          <p:nvPr/>
        </p:nvSpPr>
        <p:spPr>
          <a:xfrm xmlns:a="http://schemas.openxmlformats.org/drawingml/2006/main">
            <a:off x="609600" y="1933575"/>
            <a:ext cx="5238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D3A"/>
                </a:solidFill>
                <a:latin typeface="Arial"/>
                <a:ea typeface="Arial"/>
                <a:cs typeface="Arial"/>
              </a:defRPr>
            </a:defPPr>
            <a:lvl1pPr>
              <a:defRPr sz="1950" b="0">
                <a:solidFill>
                  <a:srgbClr val="152D3A"/>
                </a:solidFill>
                <a:latin typeface="Arial"/>
                <a:ea typeface="Arial"/>
                <a:cs typeface="Arial"/>
              </a:defRPr>
            </a:lvl1pPr>
            <a:lvl2pPr>
              <a:defRPr sz="1950" b="0">
                <a:solidFill>
                  <a:srgbClr val="152D3A"/>
                </a:solidFill>
                <a:latin typeface="Arial"/>
                <a:ea typeface="Arial"/>
                <a:cs typeface="Arial"/>
              </a:defRPr>
            </a:lvl2pPr>
            <a:lvl3pPr>
              <a:defRPr sz="1950" b="0">
                <a:solidFill>
                  <a:srgbClr val="152D3A"/>
                </a:solidFill>
                <a:latin typeface="Arial"/>
                <a:ea typeface="Arial"/>
                <a:cs typeface="Arial"/>
              </a:defRPr>
            </a:lvl3pPr>
            <a:lvl4pPr>
              <a:defRPr sz="1950" b="0">
                <a:solidFill>
                  <a:srgbClr val="152D3A"/>
                </a:solidFill>
                <a:latin typeface="Arial"/>
                <a:ea typeface="Arial"/>
                <a:cs typeface="Arial"/>
              </a:defRPr>
            </a:lvl4pPr>
            <a:lvl5pPr>
              <a:defRPr sz="1950" b="0">
                <a:solidFill>
                  <a:srgbClr val="152D3A"/>
                </a:solidFill>
                <a:latin typeface="Arial"/>
                <a:ea typeface="Arial"/>
                <a:cs typeface="Arial"/>
              </a:defRPr>
            </a:lvl5pPr>
            <a:lvl6pPr>
              <a:defRPr sz="1950" b="0">
                <a:solidFill>
                  <a:srgbClr val="152D3A"/>
                </a:solidFill>
                <a:latin typeface="Arial"/>
                <a:ea typeface="Arial"/>
                <a:cs typeface="Arial"/>
              </a:defRPr>
            </a:lvl6pPr>
            <a:lvl7pPr>
              <a:defRPr sz="1950" b="0">
                <a:solidFill>
                  <a:srgbClr val="152D3A"/>
                </a:solidFill>
                <a:latin typeface="Arial"/>
                <a:ea typeface="Arial"/>
                <a:cs typeface="Arial"/>
              </a:defRPr>
            </a:lvl7pPr>
            <a:lvl8pPr>
              <a:defRPr sz="1950" b="0">
                <a:solidFill>
                  <a:srgbClr val="152D3A"/>
                </a:solidFill>
                <a:latin typeface="Arial"/>
                <a:ea typeface="Arial"/>
                <a:cs typeface="Arial"/>
              </a:defRPr>
            </a:lvl8pPr>
            <a:lvl9pPr>
              <a:defRPr sz="1950" b="0">
                <a:solidFill>
                  <a:srgbClr val="152D3A"/>
                </a:solidFill>
                <a:latin typeface="Arial"/>
                <a:ea typeface="Arial"/>
                <a:cs typeface="Arial"/>
              </a:defRPr>
            </a:lvl9pPr>
          </a:lstStyle>
          <a:p xmlns:a="http://schemas.openxmlformats.org/drawingml/2006/main">
            <a:pPr>
              <a:defRPr sz="1950" b="0">
                <a:solidFill>
                  <a:srgbClr val="152D3A"/>
                </a:solidFill>
                <a:latin typeface="Arial"/>
                <a:ea typeface="Arial"/>
                <a:cs typeface="Arial"/>
              </a:defRPr>
            </a:pPr>
            <a:r>
              <a:rPr sz="1950" b="0">
                <a:solidFill>
                  <a:srgbClr val="152D3A"/>
                </a:solidFill>
                <a:latin typeface="Arial"/>
                <a:ea typeface="Arial"/>
                <a:cs typeface="Arial"/>
              </a:rPr>
              <a:t>Compact CNN: macro AUROC 0.9195</a:t>
            </a:r>
          </a:p>
          <a:p xmlns:a="http://schemas.openxmlformats.org/drawingml/2006/main">
            <a:pPr>
              <a:defRPr sz="1950" b="0">
                <a:solidFill>
                  <a:srgbClr val="152D3A"/>
                </a:solidFill>
                <a:latin typeface="Arial"/>
                <a:ea typeface="Arial"/>
                <a:cs typeface="Arial"/>
              </a:defRPr>
            </a:pPr>
            <a:r>
              <a:rPr sz="1950" b="0">
                <a:solidFill>
                  <a:srgbClr val="152D3A"/>
                </a:solidFill>
                <a:latin typeface="Arial"/>
                <a:ea typeface="Arial"/>
                <a:cs typeface="Arial"/>
              </a:rPr>
              <a:t>and mean median forward latency 0.639 ms.</a:t>
            </a:r>
          </a:p>
        </p:txBody>
      </p:sp>
      <p:sp>
        <p:nvSpPr>
          <p:cNvPr id="5" name="Evidence delivered">
            <a:extLst xmlns:a="http://schemas.openxmlformats.org/drawingml/2006/main">
              <a:ext uri="{FF2B5EF4-FFF2-40B4-BE49-F238E27FC236}">
                <a16:creationId xmlns:a16="http://schemas.microsoft.com/office/drawing/2014/main" id="{8F86602D-A2D9-4E2A-B6FA-2FA2A6BEBE73}"/>
              </a:ext>
            </a:extLst>
          </p:cNvPr>
          <p:cNvSpPr>
            <a:spLocks xmlns:a="http://schemas.openxmlformats.org/drawingml/2006/main" noGrp="1"/>
          </p:cNvSpPr>
          <p:nvPr/>
        </p:nvSpPr>
        <p:spPr>
          <a:xfrm xmlns:a="http://schemas.openxmlformats.org/drawingml/2006/main">
            <a:off x="6477000" y="143827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B"/>
                </a:solidFill>
                <a:latin typeface="Arial"/>
                <a:ea typeface="Arial"/>
                <a:cs typeface="Arial"/>
              </a:defRPr>
            </a:defPPr>
            <a:lvl1pPr>
              <a:defRPr sz="2175" b="1">
                <a:solidFill>
                  <a:srgbClr val="087E8B"/>
                </a:solidFill>
                <a:latin typeface="Arial"/>
                <a:ea typeface="Arial"/>
                <a:cs typeface="Arial"/>
              </a:defRPr>
            </a:lvl1pPr>
            <a:lvl2pPr>
              <a:defRPr sz="2175" b="1">
                <a:solidFill>
                  <a:srgbClr val="087E8B"/>
                </a:solidFill>
                <a:latin typeface="Arial"/>
                <a:ea typeface="Arial"/>
                <a:cs typeface="Arial"/>
              </a:defRPr>
            </a:lvl2pPr>
            <a:lvl3pPr>
              <a:defRPr sz="2175" b="1">
                <a:solidFill>
                  <a:srgbClr val="087E8B"/>
                </a:solidFill>
                <a:latin typeface="Arial"/>
                <a:ea typeface="Arial"/>
                <a:cs typeface="Arial"/>
              </a:defRPr>
            </a:lvl3pPr>
            <a:lvl4pPr>
              <a:defRPr sz="2175" b="1">
                <a:solidFill>
                  <a:srgbClr val="087E8B"/>
                </a:solidFill>
                <a:latin typeface="Arial"/>
                <a:ea typeface="Arial"/>
                <a:cs typeface="Arial"/>
              </a:defRPr>
            </a:lvl4pPr>
            <a:lvl5pPr>
              <a:defRPr sz="2175" b="1">
                <a:solidFill>
                  <a:srgbClr val="087E8B"/>
                </a:solidFill>
                <a:latin typeface="Arial"/>
                <a:ea typeface="Arial"/>
                <a:cs typeface="Arial"/>
              </a:defRPr>
            </a:lvl5pPr>
            <a:lvl6pPr>
              <a:defRPr sz="2175" b="1">
                <a:solidFill>
                  <a:srgbClr val="087E8B"/>
                </a:solidFill>
                <a:latin typeface="Arial"/>
                <a:ea typeface="Arial"/>
                <a:cs typeface="Arial"/>
              </a:defRPr>
            </a:lvl6pPr>
            <a:lvl7pPr>
              <a:defRPr sz="2175" b="1">
                <a:solidFill>
                  <a:srgbClr val="087E8B"/>
                </a:solidFill>
                <a:latin typeface="Arial"/>
                <a:ea typeface="Arial"/>
                <a:cs typeface="Arial"/>
              </a:defRPr>
            </a:lvl7pPr>
            <a:lvl8pPr>
              <a:defRPr sz="2175" b="1">
                <a:solidFill>
                  <a:srgbClr val="087E8B"/>
                </a:solidFill>
                <a:latin typeface="Arial"/>
                <a:ea typeface="Arial"/>
                <a:cs typeface="Arial"/>
              </a:defRPr>
            </a:lvl8pPr>
            <a:lvl9pPr>
              <a:defRPr sz="2175" b="1">
                <a:solidFill>
                  <a:srgbClr val="087E8B"/>
                </a:solidFill>
                <a:latin typeface="Arial"/>
                <a:ea typeface="Arial"/>
                <a:cs typeface="Arial"/>
              </a:defRPr>
            </a:lvl9pPr>
          </a:lstStyle>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Evidence delivered</a:t>
            </a:r>
          </a:p>
        </p:txBody>
      </p:sp>
      <p:sp>
        <p:nvSpPr>
          <p:cNvPr id="6" name="Checkpoints, predictions, and figures.&#10;Verifi">
            <a:extLst xmlns:a="http://schemas.openxmlformats.org/drawingml/2006/main">
              <a:ext uri="{FF2B5EF4-FFF2-40B4-BE49-F238E27FC236}">
                <a16:creationId xmlns:a16="http://schemas.microsoft.com/office/drawing/2014/main" id="{F09B92B8-06FC-43AF-984D-2E5BE8115A9A}"/>
              </a:ext>
            </a:extLst>
          </p:cNvPr>
          <p:cNvSpPr>
            <a:spLocks xmlns:a="http://schemas.openxmlformats.org/drawingml/2006/main" noGrp="1"/>
          </p:cNvSpPr>
          <p:nvPr/>
        </p:nvSpPr>
        <p:spPr>
          <a:xfrm xmlns:a="http://schemas.openxmlformats.org/drawingml/2006/main">
            <a:off x="6477000" y="1933575"/>
            <a:ext cx="5095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D3A"/>
                </a:solidFill>
                <a:latin typeface="Arial"/>
                <a:ea typeface="Arial"/>
                <a:cs typeface="Arial"/>
              </a:defRPr>
            </a:defPPr>
            <a:lvl1pPr>
              <a:defRPr sz="1950" b="0">
                <a:solidFill>
                  <a:srgbClr val="152D3A"/>
                </a:solidFill>
                <a:latin typeface="Arial"/>
                <a:ea typeface="Arial"/>
                <a:cs typeface="Arial"/>
              </a:defRPr>
            </a:lvl1pPr>
            <a:lvl2pPr>
              <a:defRPr sz="1950" b="0">
                <a:solidFill>
                  <a:srgbClr val="152D3A"/>
                </a:solidFill>
                <a:latin typeface="Arial"/>
                <a:ea typeface="Arial"/>
                <a:cs typeface="Arial"/>
              </a:defRPr>
            </a:lvl2pPr>
            <a:lvl3pPr>
              <a:defRPr sz="1950" b="0">
                <a:solidFill>
                  <a:srgbClr val="152D3A"/>
                </a:solidFill>
                <a:latin typeface="Arial"/>
                <a:ea typeface="Arial"/>
                <a:cs typeface="Arial"/>
              </a:defRPr>
            </a:lvl3pPr>
            <a:lvl4pPr>
              <a:defRPr sz="1950" b="0">
                <a:solidFill>
                  <a:srgbClr val="152D3A"/>
                </a:solidFill>
                <a:latin typeface="Arial"/>
                <a:ea typeface="Arial"/>
                <a:cs typeface="Arial"/>
              </a:defRPr>
            </a:lvl4pPr>
            <a:lvl5pPr>
              <a:defRPr sz="1950" b="0">
                <a:solidFill>
                  <a:srgbClr val="152D3A"/>
                </a:solidFill>
                <a:latin typeface="Arial"/>
                <a:ea typeface="Arial"/>
                <a:cs typeface="Arial"/>
              </a:defRPr>
            </a:lvl5pPr>
            <a:lvl6pPr>
              <a:defRPr sz="1950" b="0">
                <a:solidFill>
                  <a:srgbClr val="152D3A"/>
                </a:solidFill>
                <a:latin typeface="Arial"/>
                <a:ea typeface="Arial"/>
                <a:cs typeface="Arial"/>
              </a:defRPr>
            </a:lvl6pPr>
            <a:lvl7pPr>
              <a:defRPr sz="1950" b="0">
                <a:solidFill>
                  <a:srgbClr val="152D3A"/>
                </a:solidFill>
                <a:latin typeface="Arial"/>
                <a:ea typeface="Arial"/>
                <a:cs typeface="Arial"/>
              </a:defRPr>
            </a:lvl7pPr>
            <a:lvl8pPr>
              <a:defRPr sz="1950" b="0">
                <a:solidFill>
                  <a:srgbClr val="152D3A"/>
                </a:solidFill>
                <a:latin typeface="Arial"/>
                <a:ea typeface="Arial"/>
                <a:cs typeface="Arial"/>
              </a:defRPr>
            </a:lvl8pPr>
            <a:lvl9pPr>
              <a:defRPr sz="1950" b="0">
                <a:solidFill>
                  <a:srgbClr val="152D3A"/>
                </a:solidFill>
                <a:latin typeface="Arial"/>
                <a:ea typeface="Arial"/>
                <a:cs typeface="Arial"/>
              </a:defRPr>
            </a:lvl9pPr>
          </a:lstStyle>
          <a:p xmlns:a="http://schemas.openxmlformats.org/drawingml/2006/main">
            <a:pPr>
              <a:defRPr sz="1950" b="0">
                <a:solidFill>
                  <a:srgbClr val="152D3A"/>
                </a:solidFill>
                <a:latin typeface="Arial"/>
                <a:ea typeface="Arial"/>
                <a:cs typeface="Arial"/>
              </a:defRPr>
            </a:pPr>
            <a:r>
              <a:rPr sz="1950" b="0">
                <a:solidFill>
                  <a:srgbClr val="152D3A"/>
                </a:solidFill>
                <a:latin typeface="Arial"/>
                <a:ea typeface="Arial"/>
                <a:cs typeface="Arial"/>
              </a:rPr>
              <a:t>Checkpoints, predictions, and figures.</a:t>
            </a:r>
          </a:p>
          <a:p xmlns:a="http://schemas.openxmlformats.org/drawingml/2006/main">
            <a:pPr>
              <a:defRPr sz="1950" b="0">
                <a:solidFill>
                  <a:srgbClr val="152D3A"/>
                </a:solidFill>
                <a:latin typeface="Arial"/>
                <a:ea typeface="Arial"/>
                <a:cs typeface="Arial"/>
              </a:defRPr>
            </a:pPr>
            <a:r>
              <a:rPr sz="1950" b="0">
                <a:solidFill>
                  <a:srgbClr val="152D3A"/>
                </a:solidFill>
                <a:latin typeface="Arial"/>
                <a:ea typeface="Arial"/>
                <a:cs typeface="Arial"/>
              </a:rPr>
              <a:t>Verification notebook and IEEE report.</a:t>
            </a:r>
          </a:p>
        </p:txBody>
      </p:sp>
      <p:sp>
        <p:nvSpPr>
          <p:cNvPr id="7" name="Limits of the study">
            <a:extLst xmlns:a="http://schemas.openxmlformats.org/drawingml/2006/main">
              <a:ext uri="{FF2B5EF4-FFF2-40B4-BE49-F238E27FC236}">
                <a16:creationId xmlns:a16="http://schemas.microsoft.com/office/drawing/2014/main" id="{4042AF4A-9EBC-4271-9877-42CFA88E09E5}"/>
              </a:ext>
            </a:extLst>
          </p:cNvPr>
          <p:cNvSpPr>
            <a:spLocks xmlns:a="http://schemas.openxmlformats.org/drawingml/2006/main" noGrp="1"/>
          </p:cNvSpPr>
          <p:nvPr/>
        </p:nvSpPr>
        <p:spPr>
          <a:xfrm xmlns:a="http://schemas.openxmlformats.org/drawingml/2006/main">
            <a:off x="609600" y="34766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B"/>
                </a:solidFill>
                <a:latin typeface="Arial"/>
                <a:ea typeface="Arial"/>
                <a:cs typeface="Arial"/>
              </a:defRPr>
            </a:defPPr>
            <a:lvl1pPr>
              <a:defRPr sz="2175" b="1">
                <a:solidFill>
                  <a:srgbClr val="087E8B"/>
                </a:solidFill>
                <a:latin typeface="Arial"/>
                <a:ea typeface="Arial"/>
                <a:cs typeface="Arial"/>
              </a:defRPr>
            </a:lvl1pPr>
            <a:lvl2pPr>
              <a:defRPr sz="2175" b="1">
                <a:solidFill>
                  <a:srgbClr val="087E8B"/>
                </a:solidFill>
                <a:latin typeface="Arial"/>
                <a:ea typeface="Arial"/>
                <a:cs typeface="Arial"/>
              </a:defRPr>
            </a:lvl2pPr>
            <a:lvl3pPr>
              <a:defRPr sz="2175" b="1">
                <a:solidFill>
                  <a:srgbClr val="087E8B"/>
                </a:solidFill>
                <a:latin typeface="Arial"/>
                <a:ea typeface="Arial"/>
                <a:cs typeface="Arial"/>
              </a:defRPr>
            </a:lvl3pPr>
            <a:lvl4pPr>
              <a:defRPr sz="2175" b="1">
                <a:solidFill>
                  <a:srgbClr val="087E8B"/>
                </a:solidFill>
                <a:latin typeface="Arial"/>
                <a:ea typeface="Arial"/>
                <a:cs typeface="Arial"/>
              </a:defRPr>
            </a:lvl4pPr>
            <a:lvl5pPr>
              <a:defRPr sz="2175" b="1">
                <a:solidFill>
                  <a:srgbClr val="087E8B"/>
                </a:solidFill>
                <a:latin typeface="Arial"/>
                <a:ea typeface="Arial"/>
                <a:cs typeface="Arial"/>
              </a:defRPr>
            </a:lvl5pPr>
            <a:lvl6pPr>
              <a:defRPr sz="2175" b="1">
                <a:solidFill>
                  <a:srgbClr val="087E8B"/>
                </a:solidFill>
                <a:latin typeface="Arial"/>
                <a:ea typeface="Arial"/>
                <a:cs typeface="Arial"/>
              </a:defRPr>
            </a:lvl6pPr>
            <a:lvl7pPr>
              <a:defRPr sz="2175" b="1">
                <a:solidFill>
                  <a:srgbClr val="087E8B"/>
                </a:solidFill>
                <a:latin typeface="Arial"/>
                <a:ea typeface="Arial"/>
                <a:cs typeface="Arial"/>
              </a:defRPr>
            </a:lvl7pPr>
            <a:lvl8pPr>
              <a:defRPr sz="2175" b="1">
                <a:solidFill>
                  <a:srgbClr val="087E8B"/>
                </a:solidFill>
                <a:latin typeface="Arial"/>
                <a:ea typeface="Arial"/>
                <a:cs typeface="Arial"/>
              </a:defRPr>
            </a:lvl8pPr>
            <a:lvl9pPr>
              <a:defRPr sz="2175" b="1">
                <a:solidFill>
                  <a:srgbClr val="087E8B"/>
                </a:solidFill>
                <a:latin typeface="Arial"/>
                <a:ea typeface="Arial"/>
                <a:cs typeface="Arial"/>
              </a:defRPr>
            </a:lvl9pPr>
          </a:lstStyle>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Limits of the study</a:t>
            </a:r>
          </a:p>
        </p:txBody>
      </p:sp>
      <p:sp>
        <p:nvSpPr>
          <p:cNvPr id="8" name="One dataset and an internal test fold.&#10;No ext">
            <a:extLst xmlns:a="http://schemas.openxmlformats.org/drawingml/2006/main">
              <a:ext uri="{FF2B5EF4-FFF2-40B4-BE49-F238E27FC236}">
                <a16:creationId xmlns:a16="http://schemas.microsoft.com/office/drawing/2014/main" id="{B1FB974F-BB7E-446F-AEDB-BA6B3894129C}"/>
              </a:ext>
            </a:extLst>
          </p:cNvPr>
          <p:cNvSpPr>
            <a:spLocks xmlns:a="http://schemas.openxmlformats.org/drawingml/2006/main" noGrp="1"/>
          </p:cNvSpPr>
          <p:nvPr/>
        </p:nvSpPr>
        <p:spPr>
          <a:xfrm xmlns:a="http://schemas.openxmlformats.org/drawingml/2006/main">
            <a:off x="609600" y="3971925"/>
            <a:ext cx="5238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D3A"/>
                </a:solidFill>
                <a:latin typeface="Arial"/>
                <a:ea typeface="Arial"/>
                <a:cs typeface="Arial"/>
              </a:defRPr>
            </a:defPPr>
            <a:lvl1pPr>
              <a:defRPr sz="1950" b="0">
                <a:solidFill>
                  <a:srgbClr val="152D3A"/>
                </a:solidFill>
                <a:latin typeface="Arial"/>
                <a:ea typeface="Arial"/>
                <a:cs typeface="Arial"/>
              </a:defRPr>
            </a:lvl1pPr>
            <a:lvl2pPr>
              <a:defRPr sz="1950" b="0">
                <a:solidFill>
                  <a:srgbClr val="152D3A"/>
                </a:solidFill>
                <a:latin typeface="Arial"/>
                <a:ea typeface="Arial"/>
                <a:cs typeface="Arial"/>
              </a:defRPr>
            </a:lvl2pPr>
            <a:lvl3pPr>
              <a:defRPr sz="1950" b="0">
                <a:solidFill>
                  <a:srgbClr val="152D3A"/>
                </a:solidFill>
                <a:latin typeface="Arial"/>
                <a:ea typeface="Arial"/>
                <a:cs typeface="Arial"/>
              </a:defRPr>
            </a:lvl3pPr>
            <a:lvl4pPr>
              <a:defRPr sz="1950" b="0">
                <a:solidFill>
                  <a:srgbClr val="152D3A"/>
                </a:solidFill>
                <a:latin typeface="Arial"/>
                <a:ea typeface="Arial"/>
                <a:cs typeface="Arial"/>
              </a:defRPr>
            </a:lvl4pPr>
            <a:lvl5pPr>
              <a:defRPr sz="1950" b="0">
                <a:solidFill>
                  <a:srgbClr val="152D3A"/>
                </a:solidFill>
                <a:latin typeface="Arial"/>
                <a:ea typeface="Arial"/>
                <a:cs typeface="Arial"/>
              </a:defRPr>
            </a:lvl5pPr>
            <a:lvl6pPr>
              <a:defRPr sz="1950" b="0">
                <a:solidFill>
                  <a:srgbClr val="152D3A"/>
                </a:solidFill>
                <a:latin typeface="Arial"/>
                <a:ea typeface="Arial"/>
                <a:cs typeface="Arial"/>
              </a:defRPr>
            </a:lvl6pPr>
            <a:lvl7pPr>
              <a:defRPr sz="1950" b="0">
                <a:solidFill>
                  <a:srgbClr val="152D3A"/>
                </a:solidFill>
                <a:latin typeface="Arial"/>
                <a:ea typeface="Arial"/>
                <a:cs typeface="Arial"/>
              </a:defRPr>
            </a:lvl7pPr>
            <a:lvl8pPr>
              <a:defRPr sz="1950" b="0">
                <a:solidFill>
                  <a:srgbClr val="152D3A"/>
                </a:solidFill>
                <a:latin typeface="Arial"/>
                <a:ea typeface="Arial"/>
                <a:cs typeface="Arial"/>
              </a:defRPr>
            </a:lvl8pPr>
            <a:lvl9pPr>
              <a:defRPr sz="1950" b="0">
                <a:solidFill>
                  <a:srgbClr val="152D3A"/>
                </a:solidFill>
                <a:latin typeface="Arial"/>
                <a:ea typeface="Arial"/>
                <a:cs typeface="Arial"/>
              </a:defRPr>
            </a:lvl9pPr>
          </a:lstStyle>
          <a:p xmlns:a="http://schemas.openxmlformats.org/drawingml/2006/main">
            <a:pPr>
              <a:defRPr sz="1950" b="0">
                <a:solidFill>
                  <a:srgbClr val="152D3A"/>
                </a:solidFill>
                <a:latin typeface="Arial"/>
                <a:ea typeface="Arial"/>
                <a:cs typeface="Arial"/>
              </a:defRPr>
            </a:pPr>
            <a:r>
              <a:rPr sz="1950" b="0">
                <a:solidFill>
                  <a:srgbClr val="152D3A"/>
                </a:solidFill>
                <a:latin typeface="Arial"/>
                <a:ea typeface="Arial"/>
                <a:cs typeface="Arial"/>
              </a:rPr>
              <a:t>One dataset and an internal test fold.</a:t>
            </a:r>
          </a:p>
          <a:p xmlns:a="http://schemas.openxmlformats.org/drawingml/2006/main">
            <a:pPr>
              <a:defRPr sz="1950" b="0">
                <a:solidFill>
                  <a:srgbClr val="152D3A"/>
                </a:solidFill>
                <a:latin typeface="Arial"/>
                <a:ea typeface="Arial"/>
                <a:cs typeface="Arial"/>
              </a:defRPr>
            </a:pPr>
            <a:r>
              <a:rPr sz="1950" b="0">
                <a:solidFill>
                  <a:srgbClr val="152D3A"/>
                </a:solidFill>
                <a:latin typeface="Arial"/>
                <a:ea typeface="Arial"/>
                <a:cs typeface="Arial"/>
              </a:rPr>
              <a:t>No external or prospective clinical evaluation.</a:t>
            </a:r>
          </a:p>
        </p:txBody>
      </p:sp>
      <p:sp>
        <p:nvSpPr>
          <p:cNvPr id="9" name="Next steps">
            <a:extLst xmlns:a="http://schemas.openxmlformats.org/drawingml/2006/main">
              <a:ext uri="{FF2B5EF4-FFF2-40B4-BE49-F238E27FC236}">
                <a16:creationId xmlns:a16="http://schemas.microsoft.com/office/drawing/2014/main" id="{81715971-6C97-4695-9291-F0D521FE71D5}"/>
              </a:ext>
            </a:extLst>
          </p:cNvPr>
          <p:cNvSpPr>
            <a:spLocks xmlns:a="http://schemas.openxmlformats.org/drawingml/2006/main" noGrp="1"/>
          </p:cNvSpPr>
          <p:nvPr/>
        </p:nvSpPr>
        <p:spPr>
          <a:xfrm xmlns:a="http://schemas.openxmlformats.org/drawingml/2006/main">
            <a:off x="6477000" y="347662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B"/>
                </a:solidFill>
                <a:latin typeface="Arial"/>
                <a:ea typeface="Arial"/>
                <a:cs typeface="Arial"/>
              </a:defRPr>
            </a:defPPr>
            <a:lvl1pPr>
              <a:defRPr sz="2175" b="1">
                <a:solidFill>
                  <a:srgbClr val="087E8B"/>
                </a:solidFill>
                <a:latin typeface="Arial"/>
                <a:ea typeface="Arial"/>
                <a:cs typeface="Arial"/>
              </a:defRPr>
            </a:lvl1pPr>
            <a:lvl2pPr>
              <a:defRPr sz="2175" b="1">
                <a:solidFill>
                  <a:srgbClr val="087E8B"/>
                </a:solidFill>
                <a:latin typeface="Arial"/>
                <a:ea typeface="Arial"/>
                <a:cs typeface="Arial"/>
              </a:defRPr>
            </a:lvl2pPr>
            <a:lvl3pPr>
              <a:defRPr sz="2175" b="1">
                <a:solidFill>
                  <a:srgbClr val="087E8B"/>
                </a:solidFill>
                <a:latin typeface="Arial"/>
                <a:ea typeface="Arial"/>
                <a:cs typeface="Arial"/>
              </a:defRPr>
            </a:lvl3pPr>
            <a:lvl4pPr>
              <a:defRPr sz="2175" b="1">
                <a:solidFill>
                  <a:srgbClr val="087E8B"/>
                </a:solidFill>
                <a:latin typeface="Arial"/>
                <a:ea typeface="Arial"/>
                <a:cs typeface="Arial"/>
              </a:defRPr>
            </a:lvl4pPr>
            <a:lvl5pPr>
              <a:defRPr sz="2175" b="1">
                <a:solidFill>
                  <a:srgbClr val="087E8B"/>
                </a:solidFill>
                <a:latin typeface="Arial"/>
                <a:ea typeface="Arial"/>
                <a:cs typeface="Arial"/>
              </a:defRPr>
            </a:lvl5pPr>
            <a:lvl6pPr>
              <a:defRPr sz="2175" b="1">
                <a:solidFill>
                  <a:srgbClr val="087E8B"/>
                </a:solidFill>
                <a:latin typeface="Arial"/>
                <a:ea typeface="Arial"/>
                <a:cs typeface="Arial"/>
              </a:defRPr>
            </a:lvl6pPr>
            <a:lvl7pPr>
              <a:defRPr sz="2175" b="1">
                <a:solidFill>
                  <a:srgbClr val="087E8B"/>
                </a:solidFill>
                <a:latin typeface="Arial"/>
                <a:ea typeface="Arial"/>
                <a:cs typeface="Arial"/>
              </a:defRPr>
            </a:lvl7pPr>
            <a:lvl8pPr>
              <a:defRPr sz="2175" b="1">
                <a:solidFill>
                  <a:srgbClr val="087E8B"/>
                </a:solidFill>
                <a:latin typeface="Arial"/>
                <a:ea typeface="Arial"/>
                <a:cs typeface="Arial"/>
              </a:defRPr>
            </a:lvl8pPr>
            <a:lvl9pPr>
              <a:defRPr sz="2175" b="1">
                <a:solidFill>
                  <a:srgbClr val="087E8B"/>
                </a:solidFill>
                <a:latin typeface="Arial"/>
                <a:ea typeface="Arial"/>
                <a:cs typeface="Arial"/>
              </a:defRPr>
            </a:lvl9pPr>
          </a:lstStyle>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Next steps</a:t>
            </a:r>
          </a:p>
        </p:txBody>
      </p:sp>
      <p:sp>
        <p:nvSpPr>
          <p:cNvPr id="10" name="External testing and calibration.&#10;Subgroup ch">
            <a:extLst xmlns:a="http://schemas.openxmlformats.org/drawingml/2006/main">
              <a:ext uri="{FF2B5EF4-FFF2-40B4-BE49-F238E27FC236}">
                <a16:creationId xmlns:a16="http://schemas.microsoft.com/office/drawing/2014/main" id="{260C23FA-C657-4F35-B05C-0D26565BCF93}"/>
              </a:ext>
            </a:extLst>
          </p:cNvPr>
          <p:cNvSpPr>
            <a:spLocks xmlns:a="http://schemas.openxmlformats.org/drawingml/2006/main" noGrp="1"/>
          </p:cNvSpPr>
          <p:nvPr/>
        </p:nvSpPr>
        <p:spPr>
          <a:xfrm xmlns:a="http://schemas.openxmlformats.org/drawingml/2006/main">
            <a:off x="6477000" y="3971925"/>
            <a:ext cx="5095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D3A"/>
                </a:solidFill>
                <a:latin typeface="Arial"/>
                <a:ea typeface="Arial"/>
                <a:cs typeface="Arial"/>
              </a:defRPr>
            </a:defPPr>
            <a:lvl1pPr>
              <a:defRPr sz="1950" b="0">
                <a:solidFill>
                  <a:srgbClr val="152D3A"/>
                </a:solidFill>
                <a:latin typeface="Arial"/>
                <a:ea typeface="Arial"/>
                <a:cs typeface="Arial"/>
              </a:defRPr>
            </a:lvl1pPr>
            <a:lvl2pPr>
              <a:defRPr sz="1950" b="0">
                <a:solidFill>
                  <a:srgbClr val="152D3A"/>
                </a:solidFill>
                <a:latin typeface="Arial"/>
                <a:ea typeface="Arial"/>
                <a:cs typeface="Arial"/>
              </a:defRPr>
            </a:lvl2pPr>
            <a:lvl3pPr>
              <a:defRPr sz="1950" b="0">
                <a:solidFill>
                  <a:srgbClr val="152D3A"/>
                </a:solidFill>
                <a:latin typeface="Arial"/>
                <a:ea typeface="Arial"/>
                <a:cs typeface="Arial"/>
              </a:defRPr>
            </a:lvl3pPr>
            <a:lvl4pPr>
              <a:defRPr sz="1950" b="0">
                <a:solidFill>
                  <a:srgbClr val="152D3A"/>
                </a:solidFill>
                <a:latin typeface="Arial"/>
                <a:ea typeface="Arial"/>
                <a:cs typeface="Arial"/>
              </a:defRPr>
            </a:lvl4pPr>
            <a:lvl5pPr>
              <a:defRPr sz="1950" b="0">
                <a:solidFill>
                  <a:srgbClr val="152D3A"/>
                </a:solidFill>
                <a:latin typeface="Arial"/>
                <a:ea typeface="Arial"/>
                <a:cs typeface="Arial"/>
              </a:defRPr>
            </a:lvl5pPr>
            <a:lvl6pPr>
              <a:defRPr sz="1950" b="0">
                <a:solidFill>
                  <a:srgbClr val="152D3A"/>
                </a:solidFill>
                <a:latin typeface="Arial"/>
                <a:ea typeface="Arial"/>
                <a:cs typeface="Arial"/>
              </a:defRPr>
            </a:lvl6pPr>
            <a:lvl7pPr>
              <a:defRPr sz="1950" b="0">
                <a:solidFill>
                  <a:srgbClr val="152D3A"/>
                </a:solidFill>
                <a:latin typeface="Arial"/>
                <a:ea typeface="Arial"/>
                <a:cs typeface="Arial"/>
              </a:defRPr>
            </a:lvl7pPr>
            <a:lvl8pPr>
              <a:defRPr sz="1950" b="0">
                <a:solidFill>
                  <a:srgbClr val="152D3A"/>
                </a:solidFill>
                <a:latin typeface="Arial"/>
                <a:ea typeface="Arial"/>
                <a:cs typeface="Arial"/>
              </a:defRPr>
            </a:lvl8pPr>
            <a:lvl9pPr>
              <a:defRPr sz="1950" b="0">
                <a:solidFill>
                  <a:srgbClr val="152D3A"/>
                </a:solidFill>
                <a:latin typeface="Arial"/>
                <a:ea typeface="Arial"/>
                <a:cs typeface="Arial"/>
              </a:defRPr>
            </a:lvl9pPr>
          </a:lstStyle>
          <a:p xmlns:a="http://schemas.openxmlformats.org/drawingml/2006/main">
            <a:pPr>
              <a:defRPr sz="1950" b="0">
                <a:solidFill>
                  <a:srgbClr val="152D3A"/>
                </a:solidFill>
                <a:latin typeface="Arial"/>
                <a:ea typeface="Arial"/>
                <a:cs typeface="Arial"/>
              </a:defRPr>
            </a:pPr>
            <a:r>
              <a:rPr sz="1950" b="0">
                <a:solidFill>
                  <a:srgbClr val="152D3A"/>
                </a:solidFill>
                <a:latin typeface="Arial"/>
                <a:ea typeface="Arial"/>
                <a:cs typeface="Arial"/>
              </a:rPr>
              <a:t>External testing and calibration.</a:t>
            </a:r>
          </a:p>
          <a:p xmlns:a="http://schemas.openxmlformats.org/drawingml/2006/main">
            <a:pPr>
              <a:defRPr sz="1950" b="0">
                <a:solidFill>
                  <a:srgbClr val="152D3A"/>
                </a:solidFill>
                <a:latin typeface="Arial"/>
                <a:ea typeface="Arial"/>
                <a:cs typeface="Arial"/>
              </a:defRPr>
            </a:pPr>
            <a:r>
              <a:rPr sz="1950" b="0">
                <a:solidFill>
                  <a:srgbClr val="152D3A"/>
                </a:solidFill>
                <a:latin typeface="Arial"/>
                <a:ea typeface="Arial"/>
                <a:cs typeface="Arial"/>
              </a:rPr>
              <a:t>Subgroup checks and clinical review.</a:t>
            </a:r>
          </a:p>
        </p:txBody>
      </p:sp>
      <p:sp>
        <p:nvSpPr>
          <p:cNvPr id="11" name="The experiment supports a reproducible academ">
            <a:extLst xmlns:a="http://schemas.openxmlformats.org/drawingml/2006/main">
              <a:ext uri="{FF2B5EF4-FFF2-40B4-BE49-F238E27FC236}">
                <a16:creationId xmlns:a16="http://schemas.microsoft.com/office/drawing/2014/main" id="{C15D015C-021F-43E8-97AD-FA358338A125}"/>
              </a:ext>
            </a:extLst>
          </p:cNvPr>
          <p:cNvSpPr>
            <a:spLocks xmlns:a="http://schemas.openxmlformats.org/drawingml/2006/main" noGrp="1"/>
          </p:cNvSpPr>
          <p:nvPr/>
        </p:nvSpPr>
        <p:spPr>
          <a:xfrm xmlns:a="http://schemas.openxmlformats.org/drawingml/2006/main">
            <a:off x="609600" y="59912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775"/>
                </a:solidFill>
                <a:latin typeface="Arial"/>
                <a:ea typeface="Arial"/>
                <a:cs typeface="Arial"/>
              </a:defRPr>
            </a:defPPr>
            <a:lvl1pPr>
              <a:defRPr sz="1275" b="0">
                <a:solidFill>
                  <a:srgbClr val="536775"/>
                </a:solidFill>
                <a:latin typeface="Arial"/>
                <a:ea typeface="Arial"/>
                <a:cs typeface="Arial"/>
              </a:defRPr>
            </a:lvl1pPr>
            <a:lvl2pPr>
              <a:defRPr sz="1275" b="0">
                <a:solidFill>
                  <a:srgbClr val="536775"/>
                </a:solidFill>
                <a:latin typeface="Arial"/>
                <a:ea typeface="Arial"/>
                <a:cs typeface="Arial"/>
              </a:defRPr>
            </a:lvl2pPr>
            <a:lvl3pPr>
              <a:defRPr sz="1275" b="0">
                <a:solidFill>
                  <a:srgbClr val="536775"/>
                </a:solidFill>
                <a:latin typeface="Arial"/>
                <a:ea typeface="Arial"/>
                <a:cs typeface="Arial"/>
              </a:defRPr>
            </a:lvl3pPr>
            <a:lvl4pPr>
              <a:defRPr sz="1275" b="0">
                <a:solidFill>
                  <a:srgbClr val="536775"/>
                </a:solidFill>
                <a:latin typeface="Arial"/>
                <a:ea typeface="Arial"/>
                <a:cs typeface="Arial"/>
              </a:defRPr>
            </a:lvl4pPr>
            <a:lvl5pPr>
              <a:defRPr sz="1275" b="0">
                <a:solidFill>
                  <a:srgbClr val="536775"/>
                </a:solidFill>
                <a:latin typeface="Arial"/>
                <a:ea typeface="Arial"/>
                <a:cs typeface="Arial"/>
              </a:defRPr>
            </a:lvl5pPr>
            <a:lvl6pPr>
              <a:defRPr sz="1275" b="0">
                <a:solidFill>
                  <a:srgbClr val="536775"/>
                </a:solidFill>
                <a:latin typeface="Arial"/>
                <a:ea typeface="Arial"/>
                <a:cs typeface="Arial"/>
              </a:defRPr>
            </a:lvl6pPr>
            <a:lvl7pPr>
              <a:defRPr sz="1275" b="0">
                <a:solidFill>
                  <a:srgbClr val="536775"/>
                </a:solidFill>
                <a:latin typeface="Arial"/>
                <a:ea typeface="Arial"/>
                <a:cs typeface="Arial"/>
              </a:defRPr>
            </a:lvl7pPr>
            <a:lvl8pPr>
              <a:defRPr sz="1275" b="0">
                <a:solidFill>
                  <a:srgbClr val="536775"/>
                </a:solidFill>
                <a:latin typeface="Arial"/>
                <a:ea typeface="Arial"/>
                <a:cs typeface="Arial"/>
              </a:defRPr>
            </a:lvl8pPr>
            <a:lvl9pPr>
              <a:defRPr sz="1275" b="0">
                <a:solidFill>
                  <a:srgbClr val="536775"/>
                </a:solidFill>
                <a:latin typeface="Arial"/>
                <a:ea typeface="Arial"/>
                <a:cs typeface="Arial"/>
              </a:defRPr>
            </a:lvl9pPr>
          </a:lstStyle>
          <a:p xmlns:a="http://schemas.openxmlformats.org/drawingml/2006/main">
            <a:pPr>
              <a:defRPr sz="1275" b="0">
                <a:solidFill>
                  <a:srgbClr val="536775"/>
                </a:solidFill>
                <a:latin typeface="Arial"/>
                <a:ea typeface="Arial"/>
                <a:cs typeface="Arial"/>
              </a:defRPr>
            </a:pPr>
            <a:r>
              <a:rPr sz="1275" b="0">
                <a:solidFill>
                  <a:srgbClr val="536775"/>
                </a:solidFill>
                <a:latin typeface="Arial"/>
                <a:ea typeface="Arial"/>
                <a:cs typeface="Arial"/>
              </a:rPr>
              <a:t>The experiment supports a reproducible academic baseline. GitHub publication remains pending.</a:t>
            </a:r>
          </a:p>
        </p:txBody>
      </p:sp>
    </p:spTree>
    <p:extLst>
      <p:ext uri="{BB962C8B-B14F-4D97-AF65-F5344CB8AC3E}">
        <p14:creationId xmlns:p14="http://schemas.microsoft.com/office/powerpoint/2010/main" val="614626764"/>
      </p:ext>
    </p:extLst>
  </p:cSld>
</p:sld>
</file>

<file path=ppt/slides/slide14.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12" name="Selected references">
            <a:extLst xmlns:a="http://schemas.openxmlformats.org/drawingml/2006/main">
              <a:ext uri="{FF2B5EF4-FFF2-40B4-BE49-F238E27FC236}">
                <a16:creationId xmlns:a16="http://schemas.microsoft.com/office/drawing/2014/main" id="{E1D765E4-4578-45CC-9ED4-F82E748BCA7E}"/>
              </a:ext>
            </a:extLst>
          </p:cNvPr>
          <p:cNvSpPr>
            <a:spLocks xmlns:a="http://schemas.openxmlformats.org/drawingml/2006/main" noGrp="1"/>
          </p:cNvSpPr>
          <p:nvPr/>
        </p:nvSpPr>
        <p:spPr>
          <a:xfrm xmlns:a="http://schemas.openxmlformats.org/drawingml/2006/main">
            <a:off x="609600" y="40005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D3A"/>
                </a:solidFill>
                <a:latin typeface="Arial"/>
                <a:ea typeface="Arial"/>
                <a:cs typeface="Arial"/>
              </a:defRPr>
            </a:defPPr>
            <a:lvl1pPr>
              <a:defRPr sz="3150" b="1">
                <a:solidFill>
                  <a:srgbClr val="152D3A"/>
                </a:solidFill>
                <a:latin typeface="Arial"/>
                <a:ea typeface="Arial"/>
                <a:cs typeface="Arial"/>
              </a:defRPr>
            </a:lvl1pPr>
            <a:lvl2pPr>
              <a:defRPr sz="3150" b="1">
                <a:solidFill>
                  <a:srgbClr val="152D3A"/>
                </a:solidFill>
                <a:latin typeface="Arial"/>
                <a:ea typeface="Arial"/>
                <a:cs typeface="Arial"/>
              </a:defRPr>
            </a:lvl2pPr>
            <a:lvl3pPr>
              <a:defRPr sz="3150" b="1">
                <a:solidFill>
                  <a:srgbClr val="152D3A"/>
                </a:solidFill>
                <a:latin typeface="Arial"/>
                <a:ea typeface="Arial"/>
                <a:cs typeface="Arial"/>
              </a:defRPr>
            </a:lvl3pPr>
            <a:lvl4pPr>
              <a:defRPr sz="3150" b="1">
                <a:solidFill>
                  <a:srgbClr val="152D3A"/>
                </a:solidFill>
                <a:latin typeface="Arial"/>
                <a:ea typeface="Arial"/>
                <a:cs typeface="Arial"/>
              </a:defRPr>
            </a:lvl4pPr>
            <a:lvl5pPr>
              <a:defRPr sz="3150" b="1">
                <a:solidFill>
                  <a:srgbClr val="152D3A"/>
                </a:solidFill>
                <a:latin typeface="Arial"/>
                <a:ea typeface="Arial"/>
                <a:cs typeface="Arial"/>
              </a:defRPr>
            </a:lvl5pPr>
            <a:lvl6pPr>
              <a:defRPr sz="3150" b="1">
                <a:solidFill>
                  <a:srgbClr val="152D3A"/>
                </a:solidFill>
                <a:latin typeface="Arial"/>
                <a:ea typeface="Arial"/>
                <a:cs typeface="Arial"/>
              </a:defRPr>
            </a:lvl6pPr>
            <a:lvl7pPr>
              <a:defRPr sz="3150" b="1">
                <a:solidFill>
                  <a:srgbClr val="152D3A"/>
                </a:solidFill>
                <a:latin typeface="Arial"/>
                <a:ea typeface="Arial"/>
                <a:cs typeface="Arial"/>
              </a:defRPr>
            </a:lvl7pPr>
            <a:lvl8pPr>
              <a:defRPr sz="3150" b="1">
                <a:solidFill>
                  <a:srgbClr val="152D3A"/>
                </a:solidFill>
                <a:latin typeface="Arial"/>
                <a:ea typeface="Arial"/>
                <a:cs typeface="Arial"/>
              </a:defRPr>
            </a:lvl8pPr>
            <a:lvl9pPr>
              <a:defRPr sz="3150" b="1">
                <a:solidFill>
                  <a:srgbClr val="152D3A"/>
                </a:solidFill>
                <a:latin typeface="Arial"/>
                <a:ea typeface="Arial"/>
                <a:cs typeface="Arial"/>
              </a:defRPr>
            </a:lvl9pPr>
          </a:lstStyle>
          <a:p xmlns:a="http://schemas.openxmlformats.org/drawingml/2006/main">
            <a:pPr>
              <a:defRPr sz="3150" b="1">
                <a:solidFill>
                  <a:srgbClr val="152D3A"/>
                </a:solidFill>
                <a:latin typeface="Arial"/>
                <a:ea typeface="Arial"/>
                <a:cs typeface="Arial"/>
              </a:defRPr>
            </a:pPr>
            <a:r>
              <a:rPr sz="3150" b="1">
                <a:solidFill>
                  <a:srgbClr val="152D3A"/>
                </a:solidFill>
                <a:latin typeface="Arial"/>
                <a:ea typeface="Arial"/>
                <a:cs typeface="Arial"/>
              </a:rPr>
              <a:t>Selected references</a:t>
            </a:r>
          </a:p>
        </p:txBody>
      </p:sp>
      <p:sp>
        <p:nvSpPr>
          <p:cNvPr id="2" name="14">
            <a:extLst xmlns:a="http://schemas.openxmlformats.org/drawingml/2006/main">
              <a:ext uri="{FF2B5EF4-FFF2-40B4-BE49-F238E27FC236}">
                <a16:creationId xmlns:a16="http://schemas.microsoft.com/office/drawing/2014/main" id="{CB482F65-47FD-4A4B-B68D-BEF8D30E09E2}"/>
              </a:ext>
            </a:extLst>
          </p:cNvPr>
          <p:cNvSpPr>
            <a:spLocks xmlns:a="http://schemas.openxmlformats.org/drawingml/2006/main" noGrp="1"/>
          </p:cNvSpPr>
          <p:nvPr/>
        </p:nvSpPr>
        <p:spPr>
          <a:xfrm xmlns:a="http://schemas.openxmlformats.org/drawingml/2006/main">
            <a:off x="11144250" y="63817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775"/>
                </a:solidFill>
                <a:latin typeface="Arial"/>
                <a:ea typeface="Arial"/>
                <a:cs typeface="Arial"/>
              </a:defRPr>
            </a:defPPr>
            <a:lvl1pPr>
              <a:defRPr sz="1200" b="0">
                <a:solidFill>
                  <a:srgbClr val="536775"/>
                </a:solidFill>
                <a:latin typeface="Arial"/>
                <a:ea typeface="Arial"/>
                <a:cs typeface="Arial"/>
              </a:defRPr>
            </a:lvl1pPr>
            <a:lvl2pPr>
              <a:defRPr sz="1200" b="0">
                <a:solidFill>
                  <a:srgbClr val="536775"/>
                </a:solidFill>
                <a:latin typeface="Arial"/>
                <a:ea typeface="Arial"/>
                <a:cs typeface="Arial"/>
              </a:defRPr>
            </a:lvl2pPr>
            <a:lvl3pPr>
              <a:defRPr sz="1200" b="0">
                <a:solidFill>
                  <a:srgbClr val="536775"/>
                </a:solidFill>
                <a:latin typeface="Arial"/>
                <a:ea typeface="Arial"/>
                <a:cs typeface="Arial"/>
              </a:defRPr>
            </a:lvl3pPr>
            <a:lvl4pPr>
              <a:defRPr sz="1200" b="0">
                <a:solidFill>
                  <a:srgbClr val="536775"/>
                </a:solidFill>
                <a:latin typeface="Arial"/>
                <a:ea typeface="Arial"/>
                <a:cs typeface="Arial"/>
              </a:defRPr>
            </a:lvl4pPr>
            <a:lvl5pPr>
              <a:defRPr sz="1200" b="0">
                <a:solidFill>
                  <a:srgbClr val="536775"/>
                </a:solidFill>
                <a:latin typeface="Arial"/>
                <a:ea typeface="Arial"/>
                <a:cs typeface="Arial"/>
              </a:defRPr>
            </a:lvl5pPr>
            <a:lvl6pPr>
              <a:defRPr sz="1200" b="0">
                <a:solidFill>
                  <a:srgbClr val="536775"/>
                </a:solidFill>
                <a:latin typeface="Arial"/>
                <a:ea typeface="Arial"/>
                <a:cs typeface="Arial"/>
              </a:defRPr>
            </a:lvl6pPr>
            <a:lvl7pPr>
              <a:defRPr sz="1200" b="0">
                <a:solidFill>
                  <a:srgbClr val="536775"/>
                </a:solidFill>
                <a:latin typeface="Arial"/>
                <a:ea typeface="Arial"/>
                <a:cs typeface="Arial"/>
              </a:defRPr>
            </a:lvl7pPr>
            <a:lvl8pPr>
              <a:defRPr sz="1200" b="0">
                <a:solidFill>
                  <a:srgbClr val="536775"/>
                </a:solidFill>
                <a:latin typeface="Arial"/>
                <a:ea typeface="Arial"/>
                <a:cs typeface="Arial"/>
              </a:defRPr>
            </a:lvl8pPr>
            <a:lvl9pPr>
              <a:defRPr sz="1200" b="0">
                <a:solidFill>
                  <a:srgbClr val="536775"/>
                </a:solidFill>
                <a:latin typeface="Arial"/>
                <a:ea typeface="Arial"/>
                <a:cs typeface="Arial"/>
              </a:defRPr>
            </a:lvl9pPr>
          </a:lstStyle>
          <a:p xmlns:a="http://schemas.openxmlformats.org/drawingml/2006/main">
            <a:pPr>
              <a:defRPr sz="1200" b="0">
                <a:solidFill>
                  <a:srgbClr val="536775"/>
                </a:solidFill>
                <a:latin typeface="Arial"/>
                <a:ea typeface="Arial"/>
                <a:cs typeface="Arial"/>
              </a:defRPr>
            </a:pPr>
            <a:r>
              <a:rPr sz="1200" b="0">
                <a:solidFill>
                  <a:srgbClr val="536775"/>
                </a:solidFill>
                <a:latin typeface="Arial"/>
                <a:ea typeface="Arial"/>
                <a:cs typeface="Arial"/>
              </a:rPr>
              <a:t>14</a:t>
            </a:r>
          </a:p>
        </p:txBody>
      </p:sp>
      <p:sp>
        <p:nvSpPr>
          <p:cNvPr id="3" name="[1] Wagner et al. PTB-XL dataset. Scientific ">
            <a:extLst xmlns:a="http://schemas.openxmlformats.org/drawingml/2006/main">
              <a:ext uri="{FF2B5EF4-FFF2-40B4-BE49-F238E27FC236}">
                <a16:creationId xmlns:a16="http://schemas.microsoft.com/office/drawing/2014/main" id="{E0507EB8-3018-48C1-AF4A-262D6E1C6D37}"/>
              </a:ext>
            </a:extLst>
          </p:cNvPr>
          <p:cNvSpPr>
            <a:spLocks xmlns:a="http://schemas.openxmlformats.org/drawingml/2006/main" noGrp="1"/>
          </p:cNvSpPr>
          <p:nvPr/>
        </p:nvSpPr>
        <p:spPr>
          <a:xfrm xmlns:a="http://schemas.openxmlformats.org/drawingml/2006/main">
            <a:off x="609600" y="1390650"/>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52D3A"/>
                </a:solidFill>
                <a:latin typeface="Arial"/>
                <a:ea typeface="Arial"/>
                <a:cs typeface="Arial"/>
              </a:defRPr>
            </a:defPPr>
            <a:lvl1pPr>
              <a:defRPr sz="1800" b="0">
                <a:solidFill>
                  <a:srgbClr val="152D3A"/>
                </a:solidFill>
                <a:latin typeface="Arial"/>
                <a:ea typeface="Arial"/>
                <a:cs typeface="Arial"/>
              </a:defRPr>
            </a:lvl1pPr>
            <a:lvl2pPr>
              <a:defRPr sz="1800" b="0">
                <a:solidFill>
                  <a:srgbClr val="152D3A"/>
                </a:solidFill>
                <a:latin typeface="Arial"/>
                <a:ea typeface="Arial"/>
                <a:cs typeface="Arial"/>
              </a:defRPr>
            </a:lvl2pPr>
            <a:lvl3pPr>
              <a:defRPr sz="1800" b="0">
                <a:solidFill>
                  <a:srgbClr val="152D3A"/>
                </a:solidFill>
                <a:latin typeface="Arial"/>
                <a:ea typeface="Arial"/>
                <a:cs typeface="Arial"/>
              </a:defRPr>
            </a:lvl3pPr>
            <a:lvl4pPr>
              <a:defRPr sz="1800" b="0">
                <a:solidFill>
                  <a:srgbClr val="152D3A"/>
                </a:solidFill>
                <a:latin typeface="Arial"/>
                <a:ea typeface="Arial"/>
                <a:cs typeface="Arial"/>
              </a:defRPr>
            </a:lvl4pPr>
            <a:lvl5pPr>
              <a:defRPr sz="1800" b="0">
                <a:solidFill>
                  <a:srgbClr val="152D3A"/>
                </a:solidFill>
                <a:latin typeface="Arial"/>
                <a:ea typeface="Arial"/>
                <a:cs typeface="Arial"/>
              </a:defRPr>
            </a:lvl5pPr>
            <a:lvl6pPr>
              <a:defRPr sz="1800" b="0">
                <a:solidFill>
                  <a:srgbClr val="152D3A"/>
                </a:solidFill>
                <a:latin typeface="Arial"/>
                <a:ea typeface="Arial"/>
                <a:cs typeface="Arial"/>
              </a:defRPr>
            </a:lvl6pPr>
            <a:lvl7pPr>
              <a:defRPr sz="1800" b="0">
                <a:solidFill>
                  <a:srgbClr val="152D3A"/>
                </a:solidFill>
                <a:latin typeface="Arial"/>
                <a:ea typeface="Arial"/>
                <a:cs typeface="Arial"/>
              </a:defRPr>
            </a:lvl7pPr>
            <a:lvl8pPr>
              <a:defRPr sz="1800" b="0">
                <a:solidFill>
                  <a:srgbClr val="152D3A"/>
                </a:solidFill>
                <a:latin typeface="Arial"/>
                <a:ea typeface="Arial"/>
                <a:cs typeface="Arial"/>
              </a:defRPr>
            </a:lvl8pPr>
            <a:lvl9pPr>
              <a:defRPr sz="1800" b="0">
                <a:solidFill>
                  <a:srgbClr val="152D3A"/>
                </a:solidFill>
                <a:latin typeface="Arial"/>
                <a:ea typeface="Arial"/>
                <a:cs typeface="Arial"/>
              </a:defRPr>
            </a:lvl9pPr>
          </a:lstStyle>
          <a:p xmlns:a="http://schemas.openxmlformats.org/drawingml/2006/main">
            <a:pPr>
              <a:defRPr sz="1800" b="0">
                <a:solidFill>
                  <a:srgbClr val="152D3A"/>
                </a:solidFill>
                <a:latin typeface="Arial"/>
                <a:ea typeface="Arial"/>
                <a:cs typeface="Arial"/>
              </a:defRPr>
            </a:pPr>
            <a:r>
              <a:rPr sz="1800" b="0">
                <a:solidFill>
                  <a:srgbClr val="152D3A"/>
                </a:solidFill>
                <a:latin typeface="Arial"/>
                <a:ea typeface="Arial"/>
                <a:cs typeface="Arial"/>
              </a:rPr>
              <a:t>[1] Wagner et al. PTB-XL dataset. Scientific Data, 2020.</a:t>
            </a:r>
          </a:p>
        </p:txBody>
      </p:sp>
      <p:sp>
        <p:nvSpPr>
          <p:cNvPr id="4" name="[2] Strodthoff et al. Deep learning for ECG a">
            <a:extLst xmlns:a="http://schemas.openxmlformats.org/drawingml/2006/main">
              <a:ext uri="{FF2B5EF4-FFF2-40B4-BE49-F238E27FC236}">
                <a16:creationId xmlns:a16="http://schemas.microsoft.com/office/drawing/2014/main" id="{EBAC66F5-B298-431B-94E9-ED6BAF32CB04}"/>
              </a:ext>
            </a:extLst>
          </p:cNvPr>
          <p:cNvSpPr>
            <a:spLocks xmlns:a="http://schemas.openxmlformats.org/drawingml/2006/main" noGrp="1"/>
          </p:cNvSpPr>
          <p:nvPr/>
        </p:nvSpPr>
        <p:spPr>
          <a:xfrm xmlns:a="http://schemas.openxmlformats.org/drawingml/2006/main">
            <a:off x="609600" y="1914525"/>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52D3A"/>
                </a:solidFill>
                <a:latin typeface="Arial"/>
                <a:ea typeface="Arial"/>
                <a:cs typeface="Arial"/>
              </a:defRPr>
            </a:defPPr>
            <a:lvl1pPr>
              <a:defRPr sz="1800" b="0">
                <a:solidFill>
                  <a:srgbClr val="152D3A"/>
                </a:solidFill>
                <a:latin typeface="Arial"/>
                <a:ea typeface="Arial"/>
                <a:cs typeface="Arial"/>
              </a:defRPr>
            </a:lvl1pPr>
            <a:lvl2pPr>
              <a:defRPr sz="1800" b="0">
                <a:solidFill>
                  <a:srgbClr val="152D3A"/>
                </a:solidFill>
                <a:latin typeface="Arial"/>
                <a:ea typeface="Arial"/>
                <a:cs typeface="Arial"/>
              </a:defRPr>
            </a:lvl2pPr>
            <a:lvl3pPr>
              <a:defRPr sz="1800" b="0">
                <a:solidFill>
                  <a:srgbClr val="152D3A"/>
                </a:solidFill>
                <a:latin typeface="Arial"/>
                <a:ea typeface="Arial"/>
                <a:cs typeface="Arial"/>
              </a:defRPr>
            </a:lvl3pPr>
            <a:lvl4pPr>
              <a:defRPr sz="1800" b="0">
                <a:solidFill>
                  <a:srgbClr val="152D3A"/>
                </a:solidFill>
                <a:latin typeface="Arial"/>
                <a:ea typeface="Arial"/>
                <a:cs typeface="Arial"/>
              </a:defRPr>
            </a:lvl4pPr>
            <a:lvl5pPr>
              <a:defRPr sz="1800" b="0">
                <a:solidFill>
                  <a:srgbClr val="152D3A"/>
                </a:solidFill>
                <a:latin typeface="Arial"/>
                <a:ea typeface="Arial"/>
                <a:cs typeface="Arial"/>
              </a:defRPr>
            </a:lvl5pPr>
            <a:lvl6pPr>
              <a:defRPr sz="1800" b="0">
                <a:solidFill>
                  <a:srgbClr val="152D3A"/>
                </a:solidFill>
                <a:latin typeface="Arial"/>
                <a:ea typeface="Arial"/>
                <a:cs typeface="Arial"/>
              </a:defRPr>
            </a:lvl6pPr>
            <a:lvl7pPr>
              <a:defRPr sz="1800" b="0">
                <a:solidFill>
                  <a:srgbClr val="152D3A"/>
                </a:solidFill>
                <a:latin typeface="Arial"/>
                <a:ea typeface="Arial"/>
                <a:cs typeface="Arial"/>
              </a:defRPr>
            </a:lvl7pPr>
            <a:lvl8pPr>
              <a:defRPr sz="1800" b="0">
                <a:solidFill>
                  <a:srgbClr val="152D3A"/>
                </a:solidFill>
                <a:latin typeface="Arial"/>
                <a:ea typeface="Arial"/>
                <a:cs typeface="Arial"/>
              </a:defRPr>
            </a:lvl8pPr>
            <a:lvl9pPr>
              <a:defRPr sz="1800" b="0">
                <a:solidFill>
                  <a:srgbClr val="152D3A"/>
                </a:solidFill>
                <a:latin typeface="Arial"/>
                <a:ea typeface="Arial"/>
                <a:cs typeface="Arial"/>
              </a:defRPr>
            </a:lvl9pPr>
          </a:lstStyle>
          <a:p xmlns:a="http://schemas.openxmlformats.org/drawingml/2006/main">
            <a:pPr>
              <a:defRPr sz="1800" b="0">
                <a:solidFill>
                  <a:srgbClr val="152D3A"/>
                </a:solidFill>
                <a:latin typeface="Arial"/>
                <a:ea typeface="Arial"/>
                <a:cs typeface="Arial"/>
              </a:defRPr>
            </a:pPr>
            <a:r>
              <a:rPr sz="1800" b="0">
                <a:solidFill>
                  <a:srgbClr val="152D3A"/>
                </a:solidFill>
                <a:latin typeface="Arial"/>
                <a:ea typeface="Arial"/>
                <a:cs typeface="Arial"/>
              </a:rPr>
              <a:t>[2] Strodthoff et al. Deep learning for ECG analysis. IEEE JBHI, 2021.</a:t>
            </a:r>
          </a:p>
        </p:txBody>
      </p:sp>
      <p:sp>
        <p:nvSpPr>
          <p:cNvPr id="5" name="[3] Mehari and Strodthoff. Self-supervised 12">
            <a:extLst xmlns:a="http://schemas.openxmlformats.org/drawingml/2006/main">
              <a:ext uri="{FF2B5EF4-FFF2-40B4-BE49-F238E27FC236}">
                <a16:creationId xmlns:a16="http://schemas.microsoft.com/office/drawing/2014/main" id="{52AD2A16-5855-4EEB-97DE-9C2198FB83CC}"/>
              </a:ext>
            </a:extLst>
          </p:cNvPr>
          <p:cNvSpPr>
            <a:spLocks xmlns:a="http://schemas.openxmlformats.org/drawingml/2006/main" noGrp="1"/>
          </p:cNvSpPr>
          <p:nvPr/>
        </p:nvSpPr>
        <p:spPr>
          <a:xfrm xmlns:a="http://schemas.openxmlformats.org/drawingml/2006/main">
            <a:off x="609600" y="2438400"/>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52D3A"/>
                </a:solidFill>
                <a:latin typeface="Arial"/>
                <a:ea typeface="Arial"/>
                <a:cs typeface="Arial"/>
              </a:defRPr>
            </a:defPPr>
            <a:lvl1pPr>
              <a:defRPr sz="1800" b="0">
                <a:solidFill>
                  <a:srgbClr val="152D3A"/>
                </a:solidFill>
                <a:latin typeface="Arial"/>
                <a:ea typeface="Arial"/>
                <a:cs typeface="Arial"/>
              </a:defRPr>
            </a:lvl1pPr>
            <a:lvl2pPr>
              <a:defRPr sz="1800" b="0">
                <a:solidFill>
                  <a:srgbClr val="152D3A"/>
                </a:solidFill>
                <a:latin typeface="Arial"/>
                <a:ea typeface="Arial"/>
                <a:cs typeface="Arial"/>
              </a:defRPr>
            </a:lvl2pPr>
            <a:lvl3pPr>
              <a:defRPr sz="1800" b="0">
                <a:solidFill>
                  <a:srgbClr val="152D3A"/>
                </a:solidFill>
                <a:latin typeface="Arial"/>
                <a:ea typeface="Arial"/>
                <a:cs typeface="Arial"/>
              </a:defRPr>
            </a:lvl3pPr>
            <a:lvl4pPr>
              <a:defRPr sz="1800" b="0">
                <a:solidFill>
                  <a:srgbClr val="152D3A"/>
                </a:solidFill>
                <a:latin typeface="Arial"/>
                <a:ea typeface="Arial"/>
                <a:cs typeface="Arial"/>
              </a:defRPr>
            </a:lvl4pPr>
            <a:lvl5pPr>
              <a:defRPr sz="1800" b="0">
                <a:solidFill>
                  <a:srgbClr val="152D3A"/>
                </a:solidFill>
                <a:latin typeface="Arial"/>
                <a:ea typeface="Arial"/>
                <a:cs typeface="Arial"/>
              </a:defRPr>
            </a:lvl5pPr>
            <a:lvl6pPr>
              <a:defRPr sz="1800" b="0">
                <a:solidFill>
                  <a:srgbClr val="152D3A"/>
                </a:solidFill>
                <a:latin typeface="Arial"/>
                <a:ea typeface="Arial"/>
                <a:cs typeface="Arial"/>
              </a:defRPr>
            </a:lvl6pPr>
            <a:lvl7pPr>
              <a:defRPr sz="1800" b="0">
                <a:solidFill>
                  <a:srgbClr val="152D3A"/>
                </a:solidFill>
                <a:latin typeface="Arial"/>
                <a:ea typeface="Arial"/>
                <a:cs typeface="Arial"/>
              </a:defRPr>
            </a:lvl7pPr>
            <a:lvl8pPr>
              <a:defRPr sz="1800" b="0">
                <a:solidFill>
                  <a:srgbClr val="152D3A"/>
                </a:solidFill>
                <a:latin typeface="Arial"/>
                <a:ea typeface="Arial"/>
                <a:cs typeface="Arial"/>
              </a:defRPr>
            </a:lvl8pPr>
            <a:lvl9pPr>
              <a:defRPr sz="1800" b="0">
                <a:solidFill>
                  <a:srgbClr val="152D3A"/>
                </a:solidFill>
                <a:latin typeface="Arial"/>
                <a:ea typeface="Arial"/>
                <a:cs typeface="Arial"/>
              </a:defRPr>
            </a:lvl9pPr>
          </a:lstStyle>
          <a:p xmlns:a="http://schemas.openxmlformats.org/drawingml/2006/main">
            <a:pPr>
              <a:defRPr sz="1800" b="0">
                <a:solidFill>
                  <a:srgbClr val="152D3A"/>
                </a:solidFill>
                <a:latin typeface="Arial"/>
                <a:ea typeface="Arial"/>
                <a:cs typeface="Arial"/>
              </a:defRPr>
            </a:pPr>
            <a:r>
              <a:rPr sz="1800" b="0">
                <a:solidFill>
                  <a:srgbClr val="152D3A"/>
                </a:solidFill>
                <a:latin typeface="Arial"/>
                <a:ea typeface="Arial"/>
                <a:cs typeface="Arial"/>
              </a:rPr>
              <a:t>[3] Mehari and Strodthoff. Self-supervised 12-lead ECG learning. CBM, 2022.</a:t>
            </a:r>
          </a:p>
        </p:txBody>
      </p:sp>
      <p:sp>
        <p:nvSpPr>
          <p:cNvPr id="6" name="[6] van de Leur et al. Explainable ECG interp">
            <a:extLst xmlns:a="http://schemas.openxmlformats.org/drawingml/2006/main">
              <a:ext uri="{FF2B5EF4-FFF2-40B4-BE49-F238E27FC236}">
                <a16:creationId xmlns:a16="http://schemas.microsoft.com/office/drawing/2014/main" id="{7DB70C8B-F324-4084-9330-C80073296868}"/>
              </a:ext>
            </a:extLst>
          </p:cNvPr>
          <p:cNvSpPr>
            <a:spLocks xmlns:a="http://schemas.openxmlformats.org/drawingml/2006/main" noGrp="1"/>
          </p:cNvSpPr>
          <p:nvPr/>
        </p:nvSpPr>
        <p:spPr>
          <a:xfrm xmlns:a="http://schemas.openxmlformats.org/drawingml/2006/main">
            <a:off x="609600" y="2962275"/>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52D3A"/>
                </a:solidFill>
                <a:latin typeface="Arial"/>
                <a:ea typeface="Arial"/>
                <a:cs typeface="Arial"/>
              </a:defRPr>
            </a:defPPr>
            <a:lvl1pPr>
              <a:defRPr sz="1800" b="0">
                <a:solidFill>
                  <a:srgbClr val="152D3A"/>
                </a:solidFill>
                <a:latin typeface="Arial"/>
                <a:ea typeface="Arial"/>
                <a:cs typeface="Arial"/>
              </a:defRPr>
            </a:lvl1pPr>
            <a:lvl2pPr>
              <a:defRPr sz="1800" b="0">
                <a:solidFill>
                  <a:srgbClr val="152D3A"/>
                </a:solidFill>
                <a:latin typeface="Arial"/>
                <a:ea typeface="Arial"/>
                <a:cs typeface="Arial"/>
              </a:defRPr>
            </a:lvl2pPr>
            <a:lvl3pPr>
              <a:defRPr sz="1800" b="0">
                <a:solidFill>
                  <a:srgbClr val="152D3A"/>
                </a:solidFill>
                <a:latin typeface="Arial"/>
                <a:ea typeface="Arial"/>
                <a:cs typeface="Arial"/>
              </a:defRPr>
            </a:lvl3pPr>
            <a:lvl4pPr>
              <a:defRPr sz="1800" b="0">
                <a:solidFill>
                  <a:srgbClr val="152D3A"/>
                </a:solidFill>
                <a:latin typeface="Arial"/>
                <a:ea typeface="Arial"/>
                <a:cs typeface="Arial"/>
              </a:defRPr>
            </a:lvl4pPr>
            <a:lvl5pPr>
              <a:defRPr sz="1800" b="0">
                <a:solidFill>
                  <a:srgbClr val="152D3A"/>
                </a:solidFill>
                <a:latin typeface="Arial"/>
                <a:ea typeface="Arial"/>
                <a:cs typeface="Arial"/>
              </a:defRPr>
            </a:lvl5pPr>
            <a:lvl6pPr>
              <a:defRPr sz="1800" b="0">
                <a:solidFill>
                  <a:srgbClr val="152D3A"/>
                </a:solidFill>
                <a:latin typeface="Arial"/>
                <a:ea typeface="Arial"/>
                <a:cs typeface="Arial"/>
              </a:defRPr>
            </a:lvl6pPr>
            <a:lvl7pPr>
              <a:defRPr sz="1800" b="0">
                <a:solidFill>
                  <a:srgbClr val="152D3A"/>
                </a:solidFill>
                <a:latin typeface="Arial"/>
                <a:ea typeface="Arial"/>
                <a:cs typeface="Arial"/>
              </a:defRPr>
            </a:lvl7pPr>
            <a:lvl8pPr>
              <a:defRPr sz="1800" b="0">
                <a:solidFill>
                  <a:srgbClr val="152D3A"/>
                </a:solidFill>
                <a:latin typeface="Arial"/>
                <a:ea typeface="Arial"/>
                <a:cs typeface="Arial"/>
              </a:defRPr>
            </a:lvl8pPr>
            <a:lvl9pPr>
              <a:defRPr sz="1800" b="0">
                <a:solidFill>
                  <a:srgbClr val="152D3A"/>
                </a:solidFill>
                <a:latin typeface="Arial"/>
                <a:ea typeface="Arial"/>
                <a:cs typeface="Arial"/>
              </a:defRPr>
            </a:lvl9pPr>
          </a:lstStyle>
          <a:p xmlns:a="http://schemas.openxmlformats.org/drawingml/2006/main">
            <a:pPr>
              <a:defRPr sz="1800" b="0">
                <a:solidFill>
                  <a:srgbClr val="152D3A"/>
                </a:solidFill>
                <a:latin typeface="Arial"/>
                <a:ea typeface="Arial"/>
                <a:cs typeface="Arial"/>
              </a:defRPr>
            </a:pPr>
            <a:r>
              <a:rPr sz="1800" b="0">
                <a:solidFill>
                  <a:srgbClr val="152D3A"/>
                </a:solidFill>
                <a:latin typeface="Arial"/>
                <a:ea typeface="Arial"/>
                <a:cs typeface="Arial"/>
              </a:rPr>
              <a:t>[6] van de Leur et al. Explainable ECG interpretation. EHJ Digital Health, 2022.</a:t>
            </a:r>
          </a:p>
        </p:txBody>
      </p:sp>
      <p:sp>
        <p:nvSpPr>
          <p:cNvPr id="7" name="[8] Strodthoff et al. PTB-XL+ feature dataset">
            <a:extLst xmlns:a="http://schemas.openxmlformats.org/drawingml/2006/main">
              <a:ext uri="{FF2B5EF4-FFF2-40B4-BE49-F238E27FC236}">
                <a16:creationId xmlns:a16="http://schemas.microsoft.com/office/drawing/2014/main" id="{C6406CEC-9354-451E-94FB-FCAAFEA0BF03}"/>
              </a:ext>
            </a:extLst>
          </p:cNvPr>
          <p:cNvSpPr>
            <a:spLocks xmlns:a="http://schemas.openxmlformats.org/drawingml/2006/main" noGrp="1"/>
          </p:cNvSpPr>
          <p:nvPr/>
        </p:nvSpPr>
        <p:spPr>
          <a:xfrm xmlns:a="http://schemas.openxmlformats.org/drawingml/2006/main">
            <a:off x="609600" y="3486150"/>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52D3A"/>
                </a:solidFill>
                <a:latin typeface="Arial"/>
                <a:ea typeface="Arial"/>
                <a:cs typeface="Arial"/>
              </a:defRPr>
            </a:defPPr>
            <a:lvl1pPr>
              <a:defRPr sz="1800" b="0">
                <a:solidFill>
                  <a:srgbClr val="152D3A"/>
                </a:solidFill>
                <a:latin typeface="Arial"/>
                <a:ea typeface="Arial"/>
                <a:cs typeface="Arial"/>
              </a:defRPr>
            </a:lvl1pPr>
            <a:lvl2pPr>
              <a:defRPr sz="1800" b="0">
                <a:solidFill>
                  <a:srgbClr val="152D3A"/>
                </a:solidFill>
                <a:latin typeface="Arial"/>
                <a:ea typeface="Arial"/>
                <a:cs typeface="Arial"/>
              </a:defRPr>
            </a:lvl2pPr>
            <a:lvl3pPr>
              <a:defRPr sz="1800" b="0">
                <a:solidFill>
                  <a:srgbClr val="152D3A"/>
                </a:solidFill>
                <a:latin typeface="Arial"/>
                <a:ea typeface="Arial"/>
                <a:cs typeface="Arial"/>
              </a:defRPr>
            </a:lvl3pPr>
            <a:lvl4pPr>
              <a:defRPr sz="1800" b="0">
                <a:solidFill>
                  <a:srgbClr val="152D3A"/>
                </a:solidFill>
                <a:latin typeface="Arial"/>
                <a:ea typeface="Arial"/>
                <a:cs typeface="Arial"/>
              </a:defRPr>
            </a:lvl4pPr>
            <a:lvl5pPr>
              <a:defRPr sz="1800" b="0">
                <a:solidFill>
                  <a:srgbClr val="152D3A"/>
                </a:solidFill>
                <a:latin typeface="Arial"/>
                <a:ea typeface="Arial"/>
                <a:cs typeface="Arial"/>
              </a:defRPr>
            </a:lvl5pPr>
            <a:lvl6pPr>
              <a:defRPr sz="1800" b="0">
                <a:solidFill>
                  <a:srgbClr val="152D3A"/>
                </a:solidFill>
                <a:latin typeface="Arial"/>
                <a:ea typeface="Arial"/>
                <a:cs typeface="Arial"/>
              </a:defRPr>
            </a:lvl6pPr>
            <a:lvl7pPr>
              <a:defRPr sz="1800" b="0">
                <a:solidFill>
                  <a:srgbClr val="152D3A"/>
                </a:solidFill>
                <a:latin typeface="Arial"/>
                <a:ea typeface="Arial"/>
                <a:cs typeface="Arial"/>
              </a:defRPr>
            </a:lvl7pPr>
            <a:lvl8pPr>
              <a:defRPr sz="1800" b="0">
                <a:solidFill>
                  <a:srgbClr val="152D3A"/>
                </a:solidFill>
                <a:latin typeface="Arial"/>
                <a:ea typeface="Arial"/>
                <a:cs typeface="Arial"/>
              </a:defRPr>
            </a:lvl8pPr>
            <a:lvl9pPr>
              <a:defRPr sz="1800" b="0">
                <a:solidFill>
                  <a:srgbClr val="152D3A"/>
                </a:solidFill>
                <a:latin typeface="Arial"/>
                <a:ea typeface="Arial"/>
                <a:cs typeface="Arial"/>
              </a:defRPr>
            </a:lvl9pPr>
          </a:lstStyle>
          <a:p xmlns:a="http://schemas.openxmlformats.org/drawingml/2006/main">
            <a:pPr>
              <a:defRPr sz="1800" b="0">
                <a:solidFill>
                  <a:srgbClr val="152D3A"/>
                </a:solidFill>
                <a:latin typeface="Arial"/>
                <a:ea typeface="Arial"/>
                <a:cs typeface="Arial"/>
              </a:defRPr>
            </a:pPr>
            <a:r>
              <a:rPr sz="1800" b="0">
                <a:solidFill>
                  <a:srgbClr val="152D3A"/>
                </a:solidFill>
                <a:latin typeface="Arial"/>
                <a:ea typeface="Arial"/>
                <a:cs typeface="Arial"/>
              </a:rPr>
              <a:t>[8] Strodthoff et al. PTB-XL+ feature dataset. Scientific Data, 2023.</a:t>
            </a:r>
          </a:p>
        </p:txBody>
      </p:sp>
      <p:sp>
        <p:nvSpPr>
          <p:cNvPr id="8" name="[15] Liu et al. Zero-shot ECG classification ">
            <a:extLst xmlns:a="http://schemas.openxmlformats.org/drawingml/2006/main">
              <a:ext uri="{FF2B5EF4-FFF2-40B4-BE49-F238E27FC236}">
                <a16:creationId xmlns:a16="http://schemas.microsoft.com/office/drawing/2014/main" id="{D292153A-BC33-4E9B-8892-5F0B3FFCD419}"/>
              </a:ext>
            </a:extLst>
          </p:cNvPr>
          <p:cNvSpPr>
            <a:spLocks xmlns:a="http://schemas.openxmlformats.org/drawingml/2006/main" noGrp="1"/>
          </p:cNvSpPr>
          <p:nvPr/>
        </p:nvSpPr>
        <p:spPr>
          <a:xfrm xmlns:a="http://schemas.openxmlformats.org/drawingml/2006/main">
            <a:off x="609600" y="4010025"/>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52D3A"/>
                </a:solidFill>
                <a:latin typeface="Arial"/>
                <a:ea typeface="Arial"/>
                <a:cs typeface="Arial"/>
              </a:defRPr>
            </a:defPPr>
            <a:lvl1pPr>
              <a:defRPr sz="1800" b="0">
                <a:solidFill>
                  <a:srgbClr val="152D3A"/>
                </a:solidFill>
                <a:latin typeface="Arial"/>
                <a:ea typeface="Arial"/>
                <a:cs typeface="Arial"/>
              </a:defRPr>
            </a:lvl1pPr>
            <a:lvl2pPr>
              <a:defRPr sz="1800" b="0">
                <a:solidFill>
                  <a:srgbClr val="152D3A"/>
                </a:solidFill>
                <a:latin typeface="Arial"/>
                <a:ea typeface="Arial"/>
                <a:cs typeface="Arial"/>
              </a:defRPr>
            </a:lvl2pPr>
            <a:lvl3pPr>
              <a:defRPr sz="1800" b="0">
                <a:solidFill>
                  <a:srgbClr val="152D3A"/>
                </a:solidFill>
                <a:latin typeface="Arial"/>
                <a:ea typeface="Arial"/>
                <a:cs typeface="Arial"/>
              </a:defRPr>
            </a:lvl3pPr>
            <a:lvl4pPr>
              <a:defRPr sz="1800" b="0">
                <a:solidFill>
                  <a:srgbClr val="152D3A"/>
                </a:solidFill>
                <a:latin typeface="Arial"/>
                <a:ea typeface="Arial"/>
                <a:cs typeface="Arial"/>
              </a:defRPr>
            </a:lvl4pPr>
            <a:lvl5pPr>
              <a:defRPr sz="1800" b="0">
                <a:solidFill>
                  <a:srgbClr val="152D3A"/>
                </a:solidFill>
                <a:latin typeface="Arial"/>
                <a:ea typeface="Arial"/>
                <a:cs typeface="Arial"/>
              </a:defRPr>
            </a:lvl5pPr>
            <a:lvl6pPr>
              <a:defRPr sz="1800" b="0">
                <a:solidFill>
                  <a:srgbClr val="152D3A"/>
                </a:solidFill>
                <a:latin typeface="Arial"/>
                <a:ea typeface="Arial"/>
                <a:cs typeface="Arial"/>
              </a:defRPr>
            </a:lvl6pPr>
            <a:lvl7pPr>
              <a:defRPr sz="1800" b="0">
                <a:solidFill>
                  <a:srgbClr val="152D3A"/>
                </a:solidFill>
                <a:latin typeface="Arial"/>
                <a:ea typeface="Arial"/>
                <a:cs typeface="Arial"/>
              </a:defRPr>
            </a:lvl7pPr>
            <a:lvl8pPr>
              <a:defRPr sz="1800" b="0">
                <a:solidFill>
                  <a:srgbClr val="152D3A"/>
                </a:solidFill>
                <a:latin typeface="Arial"/>
                <a:ea typeface="Arial"/>
                <a:cs typeface="Arial"/>
              </a:defRPr>
            </a:lvl8pPr>
            <a:lvl9pPr>
              <a:defRPr sz="1800" b="0">
                <a:solidFill>
                  <a:srgbClr val="152D3A"/>
                </a:solidFill>
                <a:latin typeface="Arial"/>
                <a:ea typeface="Arial"/>
                <a:cs typeface="Arial"/>
              </a:defRPr>
            </a:lvl9pPr>
          </a:lstStyle>
          <a:p xmlns:a="http://schemas.openxmlformats.org/drawingml/2006/main">
            <a:pPr>
              <a:defRPr sz="1800" b="0">
                <a:solidFill>
                  <a:srgbClr val="152D3A"/>
                </a:solidFill>
                <a:latin typeface="Arial"/>
                <a:ea typeface="Arial"/>
                <a:cs typeface="Arial"/>
              </a:defRPr>
            </a:pPr>
            <a:r>
              <a:rPr sz="1800" b="0">
                <a:solidFill>
                  <a:srgbClr val="152D3A"/>
                </a:solidFill>
                <a:latin typeface="Arial"/>
                <a:ea typeface="Arial"/>
                <a:cs typeface="Arial"/>
              </a:rPr>
              <a:t>[15] Liu et al. Zero-shot ECG classification with multimodal learning. ICML, 2024.</a:t>
            </a:r>
          </a:p>
        </p:txBody>
      </p:sp>
      <p:sp>
        <p:nvSpPr>
          <p:cNvPr id="9" name="[17] Liu et al. Knowledge-enhanced multimodal">
            <a:extLst xmlns:a="http://schemas.openxmlformats.org/drawingml/2006/main">
              <a:ext uri="{FF2B5EF4-FFF2-40B4-BE49-F238E27FC236}">
                <a16:creationId xmlns:a16="http://schemas.microsoft.com/office/drawing/2014/main" id="{4A6CD1F8-B23F-43E6-89DD-9B2D64B70593}"/>
              </a:ext>
            </a:extLst>
          </p:cNvPr>
          <p:cNvSpPr>
            <a:spLocks xmlns:a="http://schemas.openxmlformats.org/drawingml/2006/main" noGrp="1"/>
          </p:cNvSpPr>
          <p:nvPr/>
        </p:nvSpPr>
        <p:spPr>
          <a:xfrm xmlns:a="http://schemas.openxmlformats.org/drawingml/2006/main">
            <a:off x="609600" y="4533900"/>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52D3A"/>
                </a:solidFill>
                <a:latin typeface="Arial"/>
                <a:ea typeface="Arial"/>
                <a:cs typeface="Arial"/>
              </a:defRPr>
            </a:defPPr>
            <a:lvl1pPr>
              <a:defRPr sz="1800" b="0">
                <a:solidFill>
                  <a:srgbClr val="152D3A"/>
                </a:solidFill>
                <a:latin typeface="Arial"/>
                <a:ea typeface="Arial"/>
                <a:cs typeface="Arial"/>
              </a:defRPr>
            </a:lvl1pPr>
            <a:lvl2pPr>
              <a:defRPr sz="1800" b="0">
                <a:solidFill>
                  <a:srgbClr val="152D3A"/>
                </a:solidFill>
                <a:latin typeface="Arial"/>
                <a:ea typeface="Arial"/>
                <a:cs typeface="Arial"/>
              </a:defRPr>
            </a:lvl2pPr>
            <a:lvl3pPr>
              <a:defRPr sz="1800" b="0">
                <a:solidFill>
                  <a:srgbClr val="152D3A"/>
                </a:solidFill>
                <a:latin typeface="Arial"/>
                <a:ea typeface="Arial"/>
                <a:cs typeface="Arial"/>
              </a:defRPr>
            </a:lvl3pPr>
            <a:lvl4pPr>
              <a:defRPr sz="1800" b="0">
                <a:solidFill>
                  <a:srgbClr val="152D3A"/>
                </a:solidFill>
                <a:latin typeface="Arial"/>
                <a:ea typeface="Arial"/>
                <a:cs typeface="Arial"/>
              </a:defRPr>
            </a:lvl4pPr>
            <a:lvl5pPr>
              <a:defRPr sz="1800" b="0">
                <a:solidFill>
                  <a:srgbClr val="152D3A"/>
                </a:solidFill>
                <a:latin typeface="Arial"/>
                <a:ea typeface="Arial"/>
                <a:cs typeface="Arial"/>
              </a:defRPr>
            </a:lvl5pPr>
            <a:lvl6pPr>
              <a:defRPr sz="1800" b="0">
                <a:solidFill>
                  <a:srgbClr val="152D3A"/>
                </a:solidFill>
                <a:latin typeface="Arial"/>
                <a:ea typeface="Arial"/>
                <a:cs typeface="Arial"/>
              </a:defRPr>
            </a:lvl6pPr>
            <a:lvl7pPr>
              <a:defRPr sz="1800" b="0">
                <a:solidFill>
                  <a:srgbClr val="152D3A"/>
                </a:solidFill>
                <a:latin typeface="Arial"/>
                <a:ea typeface="Arial"/>
                <a:cs typeface="Arial"/>
              </a:defRPr>
            </a:lvl7pPr>
            <a:lvl8pPr>
              <a:defRPr sz="1800" b="0">
                <a:solidFill>
                  <a:srgbClr val="152D3A"/>
                </a:solidFill>
                <a:latin typeface="Arial"/>
                <a:ea typeface="Arial"/>
                <a:cs typeface="Arial"/>
              </a:defRPr>
            </a:lvl8pPr>
            <a:lvl9pPr>
              <a:defRPr sz="1800" b="0">
                <a:solidFill>
                  <a:srgbClr val="152D3A"/>
                </a:solidFill>
                <a:latin typeface="Arial"/>
                <a:ea typeface="Arial"/>
                <a:cs typeface="Arial"/>
              </a:defRPr>
            </a:lvl9pPr>
          </a:lstStyle>
          <a:p xmlns:a="http://schemas.openxmlformats.org/drawingml/2006/main">
            <a:pPr>
              <a:defRPr sz="1800" b="0">
                <a:solidFill>
                  <a:srgbClr val="152D3A"/>
                </a:solidFill>
                <a:latin typeface="Arial"/>
                <a:ea typeface="Arial"/>
                <a:cs typeface="Arial"/>
              </a:defRPr>
            </a:pPr>
            <a:r>
              <a:rPr sz="1800" b="0">
                <a:solidFill>
                  <a:srgbClr val="152D3A"/>
                </a:solidFill>
                <a:latin typeface="Arial"/>
                <a:ea typeface="Arial"/>
                <a:cs typeface="Arial"/>
              </a:rPr>
              <a:t>[17] Liu et al. Knowledge-enhanced multimodal ECG learning. EMNLP, 2025.</a:t>
            </a:r>
          </a:p>
        </p:txBody>
      </p:sp>
      <p:sp>
        <p:nvSpPr>
          <p:cNvPr id="10" name="[18] Wagner et al. PTB-XL version 1.0.3. Phys">
            <a:extLst xmlns:a="http://schemas.openxmlformats.org/drawingml/2006/main">
              <a:ext uri="{FF2B5EF4-FFF2-40B4-BE49-F238E27FC236}">
                <a16:creationId xmlns:a16="http://schemas.microsoft.com/office/drawing/2014/main" id="{3E880FD9-F430-4DD0-BFD9-411907D444BB}"/>
              </a:ext>
            </a:extLst>
          </p:cNvPr>
          <p:cNvSpPr>
            <a:spLocks xmlns:a="http://schemas.openxmlformats.org/drawingml/2006/main" noGrp="1"/>
          </p:cNvSpPr>
          <p:nvPr/>
        </p:nvSpPr>
        <p:spPr>
          <a:xfrm xmlns:a="http://schemas.openxmlformats.org/drawingml/2006/main">
            <a:off x="609600" y="5057775"/>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52D3A"/>
                </a:solidFill>
                <a:latin typeface="Arial"/>
                <a:ea typeface="Arial"/>
                <a:cs typeface="Arial"/>
              </a:defRPr>
            </a:defPPr>
            <a:lvl1pPr>
              <a:defRPr sz="1800" b="0">
                <a:solidFill>
                  <a:srgbClr val="152D3A"/>
                </a:solidFill>
                <a:latin typeface="Arial"/>
                <a:ea typeface="Arial"/>
                <a:cs typeface="Arial"/>
              </a:defRPr>
            </a:lvl1pPr>
            <a:lvl2pPr>
              <a:defRPr sz="1800" b="0">
                <a:solidFill>
                  <a:srgbClr val="152D3A"/>
                </a:solidFill>
                <a:latin typeface="Arial"/>
                <a:ea typeface="Arial"/>
                <a:cs typeface="Arial"/>
              </a:defRPr>
            </a:lvl2pPr>
            <a:lvl3pPr>
              <a:defRPr sz="1800" b="0">
                <a:solidFill>
                  <a:srgbClr val="152D3A"/>
                </a:solidFill>
                <a:latin typeface="Arial"/>
                <a:ea typeface="Arial"/>
                <a:cs typeface="Arial"/>
              </a:defRPr>
            </a:lvl3pPr>
            <a:lvl4pPr>
              <a:defRPr sz="1800" b="0">
                <a:solidFill>
                  <a:srgbClr val="152D3A"/>
                </a:solidFill>
                <a:latin typeface="Arial"/>
                <a:ea typeface="Arial"/>
                <a:cs typeface="Arial"/>
              </a:defRPr>
            </a:lvl4pPr>
            <a:lvl5pPr>
              <a:defRPr sz="1800" b="0">
                <a:solidFill>
                  <a:srgbClr val="152D3A"/>
                </a:solidFill>
                <a:latin typeface="Arial"/>
                <a:ea typeface="Arial"/>
                <a:cs typeface="Arial"/>
              </a:defRPr>
            </a:lvl5pPr>
            <a:lvl6pPr>
              <a:defRPr sz="1800" b="0">
                <a:solidFill>
                  <a:srgbClr val="152D3A"/>
                </a:solidFill>
                <a:latin typeface="Arial"/>
                <a:ea typeface="Arial"/>
                <a:cs typeface="Arial"/>
              </a:defRPr>
            </a:lvl6pPr>
            <a:lvl7pPr>
              <a:defRPr sz="1800" b="0">
                <a:solidFill>
                  <a:srgbClr val="152D3A"/>
                </a:solidFill>
                <a:latin typeface="Arial"/>
                <a:ea typeface="Arial"/>
                <a:cs typeface="Arial"/>
              </a:defRPr>
            </a:lvl7pPr>
            <a:lvl8pPr>
              <a:defRPr sz="1800" b="0">
                <a:solidFill>
                  <a:srgbClr val="152D3A"/>
                </a:solidFill>
                <a:latin typeface="Arial"/>
                <a:ea typeface="Arial"/>
                <a:cs typeface="Arial"/>
              </a:defRPr>
            </a:lvl8pPr>
            <a:lvl9pPr>
              <a:defRPr sz="1800" b="0">
                <a:solidFill>
                  <a:srgbClr val="152D3A"/>
                </a:solidFill>
                <a:latin typeface="Arial"/>
                <a:ea typeface="Arial"/>
                <a:cs typeface="Arial"/>
              </a:defRPr>
            </a:lvl9pPr>
          </a:lstStyle>
          <a:p xmlns:a="http://schemas.openxmlformats.org/drawingml/2006/main">
            <a:pPr>
              <a:defRPr sz="1800" b="0">
                <a:solidFill>
                  <a:srgbClr val="152D3A"/>
                </a:solidFill>
                <a:latin typeface="Arial"/>
                <a:ea typeface="Arial"/>
                <a:cs typeface="Arial"/>
              </a:defRPr>
            </a:pPr>
            <a:r>
              <a:rPr sz="1800" b="0">
                <a:solidFill>
                  <a:srgbClr val="152D3A"/>
                </a:solidFill>
                <a:latin typeface="Arial"/>
                <a:ea typeface="Arial"/>
                <a:cs typeface="Arial"/>
              </a:rPr>
              <a:t>[18] Wagner et al. PTB-XL version 1.0.3. PhysioNet, 2022.</a:t>
            </a:r>
          </a:p>
        </p:txBody>
      </p:sp>
      <p:sp>
        <p:nvSpPr>
          <p:cNvPr id="11" name="Full citations and 15 recent research papers ">
            <a:extLst xmlns:a="http://schemas.openxmlformats.org/drawingml/2006/main">
              <a:ext uri="{FF2B5EF4-FFF2-40B4-BE49-F238E27FC236}">
                <a16:creationId xmlns:a16="http://schemas.microsoft.com/office/drawing/2014/main" id="{3F6BB4A3-D949-4353-8893-C8C4000B59CE}"/>
              </a:ext>
            </a:extLst>
          </p:cNvPr>
          <p:cNvSpPr>
            <a:spLocks xmlns:a="http://schemas.openxmlformats.org/drawingml/2006/main" noGrp="1"/>
          </p:cNvSpPr>
          <p:nvPr/>
        </p:nvSpPr>
        <p:spPr>
          <a:xfrm xmlns:a="http://schemas.openxmlformats.org/drawingml/2006/main">
            <a:off x="609600" y="59912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775"/>
                </a:solidFill>
                <a:latin typeface="Arial"/>
                <a:ea typeface="Arial"/>
                <a:cs typeface="Arial"/>
              </a:defRPr>
            </a:defPPr>
            <a:lvl1pPr>
              <a:defRPr sz="1275" b="0">
                <a:solidFill>
                  <a:srgbClr val="536775"/>
                </a:solidFill>
                <a:latin typeface="Arial"/>
                <a:ea typeface="Arial"/>
                <a:cs typeface="Arial"/>
              </a:defRPr>
            </a:lvl1pPr>
            <a:lvl2pPr>
              <a:defRPr sz="1275" b="0">
                <a:solidFill>
                  <a:srgbClr val="536775"/>
                </a:solidFill>
                <a:latin typeface="Arial"/>
                <a:ea typeface="Arial"/>
                <a:cs typeface="Arial"/>
              </a:defRPr>
            </a:lvl2pPr>
            <a:lvl3pPr>
              <a:defRPr sz="1275" b="0">
                <a:solidFill>
                  <a:srgbClr val="536775"/>
                </a:solidFill>
                <a:latin typeface="Arial"/>
                <a:ea typeface="Arial"/>
                <a:cs typeface="Arial"/>
              </a:defRPr>
            </a:lvl3pPr>
            <a:lvl4pPr>
              <a:defRPr sz="1275" b="0">
                <a:solidFill>
                  <a:srgbClr val="536775"/>
                </a:solidFill>
                <a:latin typeface="Arial"/>
                <a:ea typeface="Arial"/>
                <a:cs typeface="Arial"/>
              </a:defRPr>
            </a:lvl4pPr>
            <a:lvl5pPr>
              <a:defRPr sz="1275" b="0">
                <a:solidFill>
                  <a:srgbClr val="536775"/>
                </a:solidFill>
                <a:latin typeface="Arial"/>
                <a:ea typeface="Arial"/>
                <a:cs typeface="Arial"/>
              </a:defRPr>
            </a:lvl5pPr>
            <a:lvl6pPr>
              <a:defRPr sz="1275" b="0">
                <a:solidFill>
                  <a:srgbClr val="536775"/>
                </a:solidFill>
                <a:latin typeface="Arial"/>
                <a:ea typeface="Arial"/>
                <a:cs typeface="Arial"/>
              </a:defRPr>
            </a:lvl6pPr>
            <a:lvl7pPr>
              <a:defRPr sz="1275" b="0">
                <a:solidFill>
                  <a:srgbClr val="536775"/>
                </a:solidFill>
                <a:latin typeface="Arial"/>
                <a:ea typeface="Arial"/>
                <a:cs typeface="Arial"/>
              </a:defRPr>
            </a:lvl7pPr>
            <a:lvl8pPr>
              <a:defRPr sz="1275" b="0">
                <a:solidFill>
                  <a:srgbClr val="536775"/>
                </a:solidFill>
                <a:latin typeface="Arial"/>
                <a:ea typeface="Arial"/>
                <a:cs typeface="Arial"/>
              </a:defRPr>
            </a:lvl8pPr>
            <a:lvl9pPr>
              <a:defRPr sz="1275" b="0">
                <a:solidFill>
                  <a:srgbClr val="536775"/>
                </a:solidFill>
                <a:latin typeface="Arial"/>
                <a:ea typeface="Arial"/>
                <a:cs typeface="Arial"/>
              </a:defRPr>
            </a:lvl9pPr>
          </a:lstStyle>
          <a:p xmlns:a="http://schemas.openxmlformats.org/drawingml/2006/main">
            <a:pPr>
              <a:defRPr sz="1275" b="0">
                <a:solidFill>
                  <a:srgbClr val="536775"/>
                </a:solidFill>
                <a:latin typeface="Arial"/>
                <a:ea typeface="Arial"/>
                <a:cs typeface="Arial"/>
              </a:defRPr>
            </a:pPr>
            <a:r>
              <a:rPr sz="1275" b="0">
                <a:solidFill>
                  <a:srgbClr val="536775"/>
                </a:solidFill>
                <a:latin typeface="Arial"/>
                <a:ea typeface="Arial"/>
                <a:cs typeface="Arial"/>
              </a:rPr>
              <a:t>Full citations and 15 recent research papers appear in the report. Source links accompany the relevant slide notes.</a:t>
            </a:r>
          </a:p>
        </p:txBody>
      </p:sp>
    </p:spTree>
    <p:extLst>
      <p:ext uri="{BB962C8B-B14F-4D97-AF65-F5344CB8AC3E}">
        <p14:creationId xmlns:p14="http://schemas.microsoft.com/office/powerpoint/2010/main" val="2175488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2026-10-27T13:34:27.3990000Z</dcterms:created>
  <dcterms:modified xsi:type="dcterms:W3CDTF">2026-10-27T13:34:27.3990000Z</dcterms:modified>
</coreProperties>
</file>